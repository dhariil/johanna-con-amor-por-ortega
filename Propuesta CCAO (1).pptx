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ncorli" charset="1" panose="00000000000000000000"/>
      <p:regular r:id="rId31"/>
    </p:embeddedFont>
    <p:embeddedFont>
      <p:font typeface="Arimo Bold" charset="1" panose="020B0704020202020204"/>
      <p:regular r:id="rId32"/>
    </p:embeddedFont>
    <p:embeddedFont>
      <p:font typeface="Arimo" charset="1" panose="020B0604020202020204"/>
      <p:regular r:id="rId33"/>
    </p:embeddedFont>
    <p:embeddedFont>
      <p:font typeface="Arimo Italics" charset="1" panose="020B0604020202090204"/>
      <p:regular r:id="rId34"/>
    </p:embeddedFont>
    <p:embeddedFont>
      <p:font typeface="Aptos" charset="1" panose="020B0004020202020204"/>
      <p:regular r:id="rId35"/>
    </p:embeddedFont>
    <p:embeddedFont>
      <p:font typeface="Aptos Bold" charset="1" panose="020B00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28.png" Type="http://schemas.openxmlformats.org/officeDocument/2006/relationships/image"/><Relationship Id="rId19" Target="../media/image29.svg" Type="http://schemas.openxmlformats.org/officeDocument/2006/relationships/image"/><Relationship Id="rId2" Target="../media/image12.png" Type="http://schemas.openxmlformats.org/officeDocument/2006/relationships/imag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22" Target="../media/image32.png" Type="http://schemas.openxmlformats.org/officeDocument/2006/relationships/image"/><Relationship Id="rId23" Target="../media/image33.png" Type="http://schemas.openxmlformats.org/officeDocument/2006/relationships/image"/><Relationship Id="rId24" Target="../media/image2.png" Type="http://schemas.openxmlformats.org/officeDocument/2006/relationships/image"/><Relationship Id="rId25" Target="../media/image3.svg" Type="http://schemas.openxmlformats.org/officeDocument/2006/relationships/image"/><Relationship Id="rId26" Target="../media/image34.png" Type="http://schemas.openxmlformats.org/officeDocument/2006/relationships/image"/><Relationship Id="rId27" Target="../media/image35.svg" Type="http://schemas.openxmlformats.org/officeDocument/2006/relationships/image"/><Relationship Id="rId28" Target="../media/image36.png" Type="http://schemas.openxmlformats.org/officeDocument/2006/relationships/image"/><Relationship Id="rId29" Target="../media/image4.png" Type="http://schemas.openxmlformats.org/officeDocument/2006/relationships/image"/><Relationship Id="rId3" Target="../media/image13.svg" Type="http://schemas.openxmlformats.org/officeDocument/2006/relationships/image"/><Relationship Id="rId30" Target="../media/image37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2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5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4.png" Type="http://schemas.openxmlformats.org/officeDocument/2006/relationships/image"/><Relationship Id="rId5" Target="../media/image46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2" Target="../media/image45.png" Type="http://schemas.openxmlformats.org/officeDocument/2006/relationships/image"/><Relationship Id="rId3" Target="../media/image50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76.png" Type="http://schemas.openxmlformats.org/officeDocument/2006/relationships/image"/><Relationship Id="rId5" Target="../media/image77.sv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32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5397" y="-176924"/>
            <a:ext cx="8832603" cy="10282731"/>
          </a:xfrm>
          <a:custGeom>
            <a:avLst/>
            <a:gdLst/>
            <a:ahLst/>
            <a:cxnLst/>
            <a:rect r="r" b="b" t="t" l="l"/>
            <a:pathLst>
              <a:path h="10282731" w="8832603">
                <a:moveTo>
                  <a:pt x="0" y="0"/>
                </a:moveTo>
                <a:lnTo>
                  <a:pt x="8832603" y="0"/>
                </a:lnTo>
                <a:lnTo>
                  <a:pt x="8832603" y="10282732"/>
                </a:lnTo>
                <a:lnTo>
                  <a:pt x="0" y="10282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724973" y="-833394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9607867">
            <a:off x="10489111" y="4869815"/>
            <a:ext cx="8563924" cy="7582966"/>
          </a:xfrm>
          <a:custGeom>
            <a:avLst/>
            <a:gdLst/>
            <a:ahLst/>
            <a:cxnLst/>
            <a:rect r="r" b="b" t="t" l="l"/>
            <a:pathLst>
              <a:path h="7582966" w="8563924">
                <a:moveTo>
                  <a:pt x="8563924" y="7582966"/>
                </a:moveTo>
                <a:lnTo>
                  <a:pt x="0" y="7582966"/>
                </a:lnTo>
                <a:lnTo>
                  <a:pt x="0" y="0"/>
                </a:lnTo>
                <a:lnTo>
                  <a:pt x="8563924" y="0"/>
                </a:lnTo>
                <a:lnTo>
                  <a:pt x="8563924" y="75829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618304">
            <a:off x="162136" y="1335573"/>
            <a:ext cx="11032410" cy="8347857"/>
          </a:xfrm>
          <a:custGeom>
            <a:avLst/>
            <a:gdLst/>
            <a:ahLst/>
            <a:cxnLst/>
            <a:rect r="r" b="b" t="t" l="l"/>
            <a:pathLst>
              <a:path h="8347857" w="11032410">
                <a:moveTo>
                  <a:pt x="0" y="0"/>
                </a:moveTo>
                <a:lnTo>
                  <a:pt x="11032410" y="0"/>
                </a:lnTo>
                <a:lnTo>
                  <a:pt x="11032410" y="8347857"/>
                </a:lnTo>
                <a:lnTo>
                  <a:pt x="0" y="83478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2022" y="4328064"/>
            <a:ext cx="9572637" cy="238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2"/>
              </a:lnSpc>
              <a:spcBef>
                <a:spcPct val="0"/>
              </a:spcBef>
            </a:pPr>
            <a:r>
              <a:rPr lang="en-US" sz="13916" spc="-807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CAMPAÑA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08085"/>
            <a:ext cx="8115300" cy="123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63"/>
              </a:lnSpc>
              <a:spcBef>
                <a:spcPct val="0"/>
              </a:spcBef>
            </a:pPr>
            <a:r>
              <a:rPr lang="en-US" sz="7188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ESTRATEGIA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633" y="6412990"/>
            <a:ext cx="926090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CONSTRUYENDO CON AMOR POR ORTEGA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9948" y="-275450"/>
            <a:ext cx="22657084" cy="10308828"/>
            <a:chOff x="0" y="0"/>
            <a:chExt cx="5967298" cy="2715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7298" cy="2715082"/>
            </a:xfrm>
            <a:custGeom>
              <a:avLst/>
              <a:gdLst/>
              <a:ahLst/>
              <a:cxnLst/>
              <a:rect r="r" b="b" t="t" l="l"/>
              <a:pathLst>
                <a:path h="2715082" w="5967298">
                  <a:moveTo>
                    <a:pt x="0" y="0"/>
                  </a:moveTo>
                  <a:lnTo>
                    <a:pt x="5967298" y="0"/>
                  </a:lnTo>
                  <a:lnTo>
                    <a:pt x="5967298" y="2715082"/>
                  </a:lnTo>
                  <a:lnTo>
                    <a:pt x="0" y="2715082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67298" cy="2762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22374">
            <a:off x="4172609" y="7524560"/>
            <a:ext cx="1641590" cy="1122251"/>
          </a:xfrm>
          <a:custGeom>
            <a:avLst/>
            <a:gdLst/>
            <a:ahLst/>
            <a:cxnLst/>
            <a:rect r="r" b="b" t="t" l="l"/>
            <a:pathLst>
              <a:path h="1122251" w="1641590">
                <a:moveTo>
                  <a:pt x="0" y="0"/>
                </a:moveTo>
                <a:lnTo>
                  <a:pt x="1641590" y="0"/>
                </a:lnTo>
                <a:lnTo>
                  <a:pt x="1641590" y="1122251"/>
                </a:lnTo>
                <a:lnTo>
                  <a:pt x="0" y="112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360317">
            <a:off x="4172609" y="1810786"/>
            <a:ext cx="1641590" cy="1122251"/>
          </a:xfrm>
          <a:custGeom>
            <a:avLst/>
            <a:gdLst/>
            <a:ahLst/>
            <a:cxnLst/>
            <a:rect r="r" b="b" t="t" l="l"/>
            <a:pathLst>
              <a:path h="1122251" w="1641590">
                <a:moveTo>
                  <a:pt x="1641590" y="0"/>
                </a:moveTo>
                <a:lnTo>
                  <a:pt x="0" y="0"/>
                </a:lnTo>
                <a:lnTo>
                  <a:pt x="0" y="1122251"/>
                </a:lnTo>
                <a:lnTo>
                  <a:pt x="1641590" y="1122251"/>
                </a:lnTo>
                <a:lnTo>
                  <a:pt x="164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895556">
            <a:off x="4159177" y="5637292"/>
            <a:ext cx="1844524" cy="592850"/>
          </a:xfrm>
          <a:custGeom>
            <a:avLst/>
            <a:gdLst/>
            <a:ahLst/>
            <a:cxnLst/>
            <a:rect r="r" b="b" t="t" l="l"/>
            <a:pathLst>
              <a:path h="592850" w="1844524">
                <a:moveTo>
                  <a:pt x="0" y="0"/>
                </a:moveTo>
                <a:lnTo>
                  <a:pt x="1844525" y="0"/>
                </a:lnTo>
                <a:lnTo>
                  <a:pt x="1844525" y="592850"/>
                </a:lnTo>
                <a:lnTo>
                  <a:pt x="0" y="59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414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854256">
            <a:off x="4124293" y="3759359"/>
            <a:ext cx="1844524" cy="592850"/>
          </a:xfrm>
          <a:custGeom>
            <a:avLst/>
            <a:gdLst/>
            <a:ahLst/>
            <a:cxnLst/>
            <a:rect r="r" b="b" t="t" l="l"/>
            <a:pathLst>
              <a:path h="592850" w="1844524">
                <a:moveTo>
                  <a:pt x="0" y="0"/>
                </a:moveTo>
                <a:lnTo>
                  <a:pt x="1844524" y="0"/>
                </a:lnTo>
                <a:lnTo>
                  <a:pt x="1844524" y="592850"/>
                </a:lnTo>
                <a:lnTo>
                  <a:pt x="0" y="59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4141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400000">
            <a:off x="1904437" y="74997"/>
            <a:ext cx="1976473" cy="3436061"/>
            <a:chOff x="0" y="0"/>
            <a:chExt cx="1810969" cy="3148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904437" y="2308645"/>
            <a:ext cx="1976473" cy="3436061"/>
            <a:chOff x="0" y="0"/>
            <a:chExt cx="1810969" cy="31483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DE9EF4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-10477625">
            <a:off x="12469950" y="1689819"/>
            <a:ext cx="1641590" cy="1122251"/>
          </a:xfrm>
          <a:custGeom>
            <a:avLst/>
            <a:gdLst/>
            <a:ahLst/>
            <a:cxnLst/>
            <a:rect r="r" b="b" t="t" l="l"/>
            <a:pathLst>
              <a:path h="1122251" w="1641590">
                <a:moveTo>
                  <a:pt x="0" y="0"/>
                </a:moveTo>
                <a:lnTo>
                  <a:pt x="1641590" y="0"/>
                </a:lnTo>
                <a:lnTo>
                  <a:pt x="1641590" y="1122251"/>
                </a:lnTo>
                <a:lnTo>
                  <a:pt x="0" y="112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439682">
            <a:off x="12469950" y="7403593"/>
            <a:ext cx="1641590" cy="1122251"/>
          </a:xfrm>
          <a:custGeom>
            <a:avLst/>
            <a:gdLst/>
            <a:ahLst/>
            <a:cxnLst/>
            <a:rect r="r" b="b" t="t" l="l"/>
            <a:pathLst>
              <a:path h="1122251" w="1641590">
                <a:moveTo>
                  <a:pt x="1641590" y="0"/>
                </a:moveTo>
                <a:lnTo>
                  <a:pt x="0" y="0"/>
                </a:lnTo>
                <a:lnTo>
                  <a:pt x="0" y="1122251"/>
                </a:lnTo>
                <a:lnTo>
                  <a:pt x="1641590" y="1122251"/>
                </a:lnTo>
                <a:lnTo>
                  <a:pt x="164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04443">
            <a:off x="12280448" y="4106488"/>
            <a:ext cx="1844524" cy="592850"/>
          </a:xfrm>
          <a:custGeom>
            <a:avLst/>
            <a:gdLst/>
            <a:ahLst/>
            <a:cxnLst/>
            <a:rect r="r" b="b" t="t" l="l"/>
            <a:pathLst>
              <a:path h="592850" w="1844524">
                <a:moveTo>
                  <a:pt x="0" y="0"/>
                </a:moveTo>
                <a:lnTo>
                  <a:pt x="1844524" y="0"/>
                </a:lnTo>
                <a:lnTo>
                  <a:pt x="1844524" y="592850"/>
                </a:lnTo>
                <a:lnTo>
                  <a:pt x="0" y="59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4141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5743">
            <a:off x="12315332" y="5984421"/>
            <a:ext cx="1844524" cy="592850"/>
          </a:xfrm>
          <a:custGeom>
            <a:avLst/>
            <a:gdLst/>
            <a:ahLst/>
            <a:cxnLst/>
            <a:rect r="r" b="b" t="t" l="l"/>
            <a:pathLst>
              <a:path h="592850" w="1844524">
                <a:moveTo>
                  <a:pt x="0" y="0"/>
                </a:moveTo>
                <a:lnTo>
                  <a:pt x="1844525" y="0"/>
                </a:lnTo>
                <a:lnTo>
                  <a:pt x="1844525" y="592850"/>
                </a:lnTo>
                <a:lnTo>
                  <a:pt x="0" y="59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4141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5400000">
            <a:off x="14426832" y="74997"/>
            <a:ext cx="1976473" cy="3436061"/>
            <a:chOff x="0" y="0"/>
            <a:chExt cx="1810969" cy="31483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-5400000">
            <a:off x="14426832" y="2308645"/>
            <a:ext cx="1976473" cy="3436061"/>
            <a:chOff x="0" y="0"/>
            <a:chExt cx="1810969" cy="31483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DE9EF4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84204" y="1295265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602126" y="3803645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4106599" y="1295265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4106599" y="3528914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1"/>
                </a:lnTo>
                <a:lnTo>
                  <a:pt x="0" y="118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5400000">
            <a:off x="1904437" y="4542294"/>
            <a:ext cx="1976473" cy="3436061"/>
            <a:chOff x="0" y="0"/>
            <a:chExt cx="1810969" cy="31483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14426832" y="4542294"/>
            <a:ext cx="1976473" cy="3436061"/>
            <a:chOff x="0" y="0"/>
            <a:chExt cx="1810969" cy="31483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584204" y="5762562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4106599" y="5762562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5400000">
            <a:off x="1904437" y="6775942"/>
            <a:ext cx="1976473" cy="3436061"/>
            <a:chOff x="0" y="0"/>
            <a:chExt cx="1810969" cy="31483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DE9EF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-5400000">
            <a:off x="14426832" y="6775942"/>
            <a:ext cx="1976473" cy="3436061"/>
            <a:chOff x="0" y="0"/>
            <a:chExt cx="1810969" cy="31483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812" y="0"/>
              <a:ext cx="1807192" cy="3149871"/>
            </a:xfrm>
            <a:custGeom>
              <a:avLst/>
              <a:gdLst/>
              <a:ahLst/>
              <a:cxnLst/>
              <a:rect r="r" b="b" t="t" l="l"/>
              <a:pathLst>
                <a:path h="3149871" w="1807192">
                  <a:moveTo>
                    <a:pt x="2385" y="295230"/>
                  </a:moveTo>
                  <a:cubicBezTo>
                    <a:pt x="10779" y="395608"/>
                    <a:pt x="12877" y="495987"/>
                    <a:pt x="13926" y="597546"/>
                  </a:cubicBezTo>
                  <a:cubicBezTo>
                    <a:pt x="19173" y="963631"/>
                    <a:pt x="17074" y="1329717"/>
                    <a:pt x="13926" y="1695802"/>
                  </a:cubicBezTo>
                  <a:cubicBezTo>
                    <a:pt x="10779" y="2063068"/>
                    <a:pt x="6582" y="2430335"/>
                    <a:pt x="6582" y="2798782"/>
                  </a:cubicBezTo>
                  <a:cubicBezTo>
                    <a:pt x="6582" y="2802325"/>
                    <a:pt x="6582" y="2805867"/>
                    <a:pt x="5533" y="2809410"/>
                  </a:cubicBezTo>
                  <a:cubicBezTo>
                    <a:pt x="8680" y="2810591"/>
                    <a:pt x="11828" y="2812953"/>
                    <a:pt x="14976" y="2815315"/>
                  </a:cubicBezTo>
                  <a:cubicBezTo>
                    <a:pt x="19173" y="2818857"/>
                    <a:pt x="22320" y="2824762"/>
                    <a:pt x="26517" y="2830667"/>
                  </a:cubicBezTo>
                  <a:cubicBezTo>
                    <a:pt x="35960" y="2843657"/>
                    <a:pt x="45403" y="2856647"/>
                    <a:pt x="53797" y="2869637"/>
                  </a:cubicBezTo>
                  <a:cubicBezTo>
                    <a:pt x="63240" y="2884989"/>
                    <a:pt x="72683" y="2899160"/>
                    <a:pt x="82126" y="2914512"/>
                  </a:cubicBezTo>
                  <a:cubicBezTo>
                    <a:pt x="86323" y="2921598"/>
                    <a:pt x="90520" y="2928683"/>
                    <a:pt x="94717" y="2934588"/>
                  </a:cubicBezTo>
                  <a:cubicBezTo>
                    <a:pt x="97865" y="2939311"/>
                    <a:pt x="103111" y="2941673"/>
                    <a:pt x="106259" y="2945216"/>
                  </a:cubicBezTo>
                  <a:cubicBezTo>
                    <a:pt x="116751" y="2954663"/>
                    <a:pt x="128292" y="2964111"/>
                    <a:pt x="138785" y="2973558"/>
                  </a:cubicBezTo>
                  <a:cubicBezTo>
                    <a:pt x="149277" y="2983006"/>
                    <a:pt x="159769" y="2991272"/>
                    <a:pt x="172360" y="2997177"/>
                  </a:cubicBezTo>
                  <a:cubicBezTo>
                    <a:pt x="200689" y="3011348"/>
                    <a:pt x="227969" y="3026699"/>
                    <a:pt x="256298" y="3040871"/>
                  </a:cubicBezTo>
                  <a:cubicBezTo>
                    <a:pt x="272037" y="3049137"/>
                    <a:pt x="287775" y="3056222"/>
                    <a:pt x="304563" y="3064489"/>
                  </a:cubicBezTo>
                  <a:cubicBezTo>
                    <a:pt x="305612" y="3065670"/>
                    <a:pt x="308760" y="3064489"/>
                    <a:pt x="309809" y="3064489"/>
                  </a:cubicBezTo>
                  <a:lnTo>
                    <a:pt x="316104" y="3064489"/>
                  </a:lnTo>
                  <a:lnTo>
                    <a:pt x="317153" y="3065670"/>
                  </a:lnTo>
                  <a:cubicBezTo>
                    <a:pt x="319252" y="3059765"/>
                    <a:pt x="321350" y="3055042"/>
                    <a:pt x="324498" y="3049137"/>
                  </a:cubicBezTo>
                  <a:cubicBezTo>
                    <a:pt x="327646" y="3044413"/>
                    <a:pt x="329744" y="3036147"/>
                    <a:pt x="337089" y="3036147"/>
                  </a:cubicBezTo>
                  <a:cubicBezTo>
                    <a:pt x="337089" y="3036147"/>
                    <a:pt x="338138" y="3036147"/>
                    <a:pt x="338138" y="3034966"/>
                  </a:cubicBezTo>
                  <a:cubicBezTo>
                    <a:pt x="341286" y="3029061"/>
                    <a:pt x="346532" y="3027880"/>
                    <a:pt x="352827" y="3026699"/>
                  </a:cubicBezTo>
                  <a:cubicBezTo>
                    <a:pt x="359123" y="3025519"/>
                    <a:pt x="364369" y="3021976"/>
                    <a:pt x="369615" y="3019614"/>
                  </a:cubicBezTo>
                  <a:cubicBezTo>
                    <a:pt x="370664" y="3019614"/>
                    <a:pt x="370664" y="3018433"/>
                    <a:pt x="371713" y="3018433"/>
                  </a:cubicBezTo>
                  <a:cubicBezTo>
                    <a:pt x="379058" y="3020795"/>
                    <a:pt x="384304" y="3014890"/>
                    <a:pt x="390599" y="3012529"/>
                  </a:cubicBezTo>
                  <a:lnTo>
                    <a:pt x="391649" y="3012529"/>
                  </a:lnTo>
                  <a:cubicBezTo>
                    <a:pt x="397944" y="3012529"/>
                    <a:pt x="403190" y="3008986"/>
                    <a:pt x="409486" y="3007805"/>
                  </a:cubicBezTo>
                  <a:cubicBezTo>
                    <a:pt x="414732" y="3006624"/>
                    <a:pt x="419978" y="3006624"/>
                    <a:pt x="425224" y="3003081"/>
                  </a:cubicBezTo>
                  <a:cubicBezTo>
                    <a:pt x="430470" y="2999538"/>
                    <a:pt x="436766" y="2997177"/>
                    <a:pt x="442012" y="2994815"/>
                  </a:cubicBezTo>
                  <a:cubicBezTo>
                    <a:pt x="447258" y="2992453"/>
                    <a:pt x="452504" y="2991272"/>
                    <a:pt x="457750" y="2988910"/>
                  </a:cubicBezTo>
                  <a:lnTo>
                    <a:pt x="462996" y="2988910"/>
                  </a:lnTo>
                  <a:cubicBezTo>
                    <a:pt x="468242" y="2988910"/>
                    <a:pt x="472439" y="2988910"/>
                    <a:pt x="476636" y="2985367"/>
                  </a:cubicBezTo>
                  <a:lnTo>
                    <a:pt x="478735" y="2985367"/>
                  </a:lnTo>
                  <a:cubicBezTo>
                    <a:pt x="483981" y="2985367"/>
                    <a:pt x="490276" y="2986548"/>
                    <a:pt x="495522" y="2986548"/>
                  </a:cubicBezTo>
                  <a:lnTo>
                    <a:pt x="499719" y="2986548"/>
                  </a:lnTo>
                  <a:cubicBezTo>
                    <a:pt x="504965" y="2985367"/>
                    <a:pt x="507064" y="2990091"/>
                    <a:pt x="510212" y="2992453"/>
                  </a:cubicBezTo>
                  <a:cubicBezTo>
                    <a:pt x="515458" y="2999538"/>
                    <a:pt x="521753" y="3000719"/>
                    <a:pt x="530147" y="2999538"/>
                  </a:cubicBezTo>
                  <a:cubicBezTo>
                    <a:pt x="537492" y="2998357"/>
                    <a:pt x="543787" y="2997177"/>
                    <a:pt x="551131" y="2997177"/>
                  </a:cubicBezTo>
                  <a:cubicBezTo>
                    <a:pt x="554279" y="2997177"/>
                    <a:pt x="558476" y="2998357"/>
                    <a:pt x="561624" y="2999538"/>
                  </a:cubicBezTo>
                  <a:cubicBezTo>
                    <a:pt x="564771" y="3000719"/>
                    <a:pt x="566870" y="3001900"/>
                    <a:pt x="570018" y="3003081"/>
                  </a:cubicBezTo>
                  <a:lnTo>
                    <a:pt x="573165" y="3006624"/>
                  </a:lnTo>
                  <a:cubicBezTo>
                    <a:pt x="573165" y="3006624"/>
                    <a:pt x="574215" y="3010167"/>
                    <a:pt x="575264" y="3011348"/>
                  </a:cubicBezTo>
                  <a:cubicBezTo>
                    <a:pt x="577362" y="3012529"/>
                    <a:pt x="579461" y="3012529"/>
                    <a:pt x="580510" y="3013709"/>
                  </a:cubicBezTo>
                  <a:lnTo>
                    <a:pt x="581559" y="3014890"/>
                  </a:lnTo>
                  <a:cubicBezTo>
                    <a:pt x="586805" y="3011348"/>
                    <a:pt x="588904" y="3017252"/>
                    <a:pt x="592051" y="3018433"/>
                  </a:cubicBezTo>
                  <a:cubicBezTo>
                    <a:pt x="596248" y="3020795"/>
                    <a:pt x="599396" y="3023157"/>
                    <a:pt x="603593" y="3026699"/>
                  </a:cubicBezTo>
                  <a:cubicBezTo>
                    <a:pt x="603593" y="3025519"/>
                    <a:pt x="603593" y="3024338"/>
                    <a:pt x="604642" y="3023157"/>
                  </a:cubicBezTo>
                  <a:cubicBezTo>
                    <a:pt x="610938" y="3024338"/>
                    <a:pt x="618282" y="3024338"/>
                    <a:pt x="624577" y="3029061"/>
                  </a:cubicBezTo>
                  <a:cubicBezTo>
                    <a:pt x="625627" y="3026699"/>
                    <a:pt x="627725" y="3024338"/>
                    <a:pt x="629824" y="3021976"/>
                  </a:cubicBezTo>
                  <a:cubicBezTo>
                    <a:pt x="629824" y="3021976"/>
                    <a:pt x="629824" y="3020795"/>
                    <a:pt x="630873" y="3020795"/>
                  </a:cubicBezTo>
                  <a:cubicBezTo>
                    <a:pt x="636119" y="3019614"/>
                    <a:pt x="639267" y="3016071"/>
                    <a:pt x="640316" y="3010167"/>
                  </a:cubicBezTo>
                  <a:cubicBezTo>
                    <a:pt x="641365" y="3007805"/>
                    <a:pt x="641365" y="3005443"/>
                    <a:pt x="641365" y="3004262"/>
                  </a:cubicBezTo>
                  <a:cubicBezTo>
                    <a:pt x="645562" y="3001900"/>
                    <a:pt x="648710" y="2999538"/>
                    <a:pt x="652907" y="2997177"/>
                  </a:cubicBezTo>
                  <a:lnTo>
                    <a:pt x="652907" y="2994815"/>
                  </a:lnTo>
                  <a:cubicBezTo>
                    <a:pt x="649759" y="2988910"/>
                    <a:pt x="649759" y="2987729"/>
                    <a:pt x="655005" y="2985367"/>
                  </a:cubicBezTo>
                  <a:cubicBezTo>
                    <a:pt x="656054" y="2984186"/>
                    <a:pt x="656054" y="2983006"/>
                    <a:pt x="657104" y="2983006"/>
                  </a:cubicBezTo>
                  <a:cubicBezTo>
                    <a:pt x="659202" y="2981825"/>
                    <a:pt x="661300" y="2980644"/>
                    <a:pt x="662350" y="2979463"/>
                  </a:cubicBezTo>
                  <a:cubicBezTo>
                    <a:pt x="662350" y="2979463"/>
                    <a:pt x="662350" y="2980644"/>
                    <a:pt x="663399" y="2980644"/>
                  </a:cubicBezTo>
                  <a:lnTo>
                    <a:pt x="663399" y="2978282"/>
                  </a:lnTo>
                  <a:cubicBezTo>
                    <a:pt x="669694" y="2975920"/>
                    <a:pt x="675990" y="2973558"/>
                    <a:pt x="682285" y="2970015"/>
                  </a:cubicBezTo>
                  <a:cubicBezTo>
                    <a:pt x="685433" y="2967654"/>
                    <a:pt x="688580" y="2966473"/>
                    <a:pt x="692777" y="2968834"/>
                  </a:cubicBezTo>
                  <a:cubicBezTo>
                    <a:pt x="694876" y="2970015"/>
                    <a:pt x="696974" y="2968834"/>
                    <a:pt x="699073" y="2967654"/>
                  </a:cubicBezTo>
                  <a:cubicBezTo>
                    <a:pt x="704319" y="2965292"/>
                    <a:pt x="709565" y="2964111"/>
                    <a:pt x="714811" y="2961749"/>
                  </a:cubicBezTo>
                  <a:cubicBezTo>
                    <a:pt x="719008" y="2960568"/>
                    <a:pt x="722156" y="2958206"/>
                    <a:pt x="726353" y="2955844"/>
                  </a:cubicBezTo>
                  <a:cubicBezTo>
                    <a:pt x="726353" y="2955844"/>
                    <a:pt x="727402" y="2953483"/>
                    <a:pt x="726353" y="2952302"/>
                  </a:cubicBezTo>
                  <a:cubicBezTo>
                    <a:pt x="726353" y="2951121"/>
                    <a:pt x="725303" y="2948759"/>
                    <a:pt x="725303" y="2947578"/>
                  </a:cubicBezTo>
                  <a:cubicBezTo>
                    <a:pt x="728451" y="2945216"/>
                    <a:pt x="730550" y="2942854"/>
                    <a:pt x="732648" y="2942854"/>
                  </a:cubicBezTo>
                  <a:cubicBezTo>
                    <a:pt x="735796" y="2941673"/>
                    <a:pt x="739993" y="2941673"/>
                    <a:pt x="744190" y="2940492"/>
                  </a:cubicBezTo>
                  <a:cubicBezTo>
                    <a:pt x="747337" y="2929864"/>
                    <a:pt x="753633" y="2927502"/>
                    <a:pt x="760977" y="2931045"/>
                  </a:cubicBezTo>
                  <a:lnTo>
                    <a:pt x="763076" y="2928683"/>
                  </a:lnTo>
                  <a:cubicBezTo>
                    <a:pt x="764125" y="2929864"/>
                    <a:pt x="764125" y="2929864"/>
                    <a:pt x="764125" y="2931045"/>
                  </a:cubicBezTo>
                  <a:cubicBezTo>
                    <a:pt x="767273" y="2928683"/>
                    <a:pt x="770420" y="2926321"/>
                    <a:pt x="773568" y="2925140"/>
                  </a:cubicBezTo>
                  <a:cubicBezTo>
                    <a:pt x="776716" y="2922779"/>
                    <a:pt x="779863" y="2920417"/>
                    <a:pt x="784060" y="2922779"/>
                  </a:cubicBezTo>
                  <a:cubicBezTo>
                    <a:pt x="784060" y="2916874"/>
                    <a:pt x="787208" y="2916874"/>
                    <a:pt x="790356" y="2918055"/>
                  </a:cubicBezTo>
                  <a:cubicBezTo>
                    <a:pt x="792454" y="2918055"/>
                    <a:pt x="795602" y="2916874"/>
                    <a:pt x="797700" y="2915693"/>
                  </a:cubicBezTo>
                  <a:cubicBezTo>
                    <a:pt x="798749" y="2915693"/>
                    <a:pt x="800848" y="2914512"/>
                    <a:pt x="801897" y="2915693"/>
                  </a:cubicBezTo>
                  <a:cubicBezTo>
                    <a:pt x="806094" y="2919236"/>
                    <a:pt x="812389" y="2920417"/>
                    <a:pt x="816586" y="2926321"/>
                  </a:cubicBezTo>
                  <a:cubicBezTo>
                    <a:pt x="819734" y="2931045"/>
                    <a:pt x="824980" y="2933407"/>
                    <a:pt x="827079" y="2940492"/>
                  </a:cubicBezTo>
                  <a:cubicBezTo>
                    <a:pt x="828128" y="2942854"/>
                    <a:pt x="832325" y="2945216"/>
                    <a:pt x="834423" y="2946397"/>
                  </a:cubicBezTo>
                  <a:cubicBezTo>
                    <a:pt x="834423" y="2946397"/>
                    <a:pt x="835472" y="2946397"/>
                    <a:pt x="836522" y="2947578"/>
                  </a:cubicBezTo>
                  <a:cubicBezTo>
                    <a:pt x="837571" y="2951121"/>
                    <a:pt x="840719" y="2949940"/>
                    <a:pt x="842817" y="2948759"/>
                  </a:cubicBezTo>
                  <a:cubicBezTo>
                    <a:pt x="844915" y="2948759"/>
                    <a:pt x="847014" y="2947578"/>
                    <a:pt x="848063" y="2951121"/>
                  </a:cubicBezTo>
                  <a:cubicBezTo>
                    <a:pt x="848063" y="2952302"/>
                    <a:pt x="851211" y="2953483"/>
                    <a:pt x="852260" y="2954663"/>
                  </a:cubicBezTo>
                  <a:cubicBezTo>
                    <a:pt x="855408" y="2957025"/>
                    <a:pt x="858555" y="2959387"/>
                    <a:pt x="860654" y="2961749"/>
                  </a:cubicBezTo>
                  <a:cubicBezTo>
                    <a:pt x="861703" y="2962930"/>
                    <a:pt x="862752" y="2964111"/>
                    <a:pt x="862752" y="2965292"/>
                  </a:cubicBezTo>
                  <a:cubicBezTo>
                    <a:pt x="862752" y="2968834"/>
                    <a:pt x="865900" y="2971196"/>
                    <a:pt x="869048" y="2971196"/>
                  </a:cubicBezTo>
                  <a:cubicBezTo>
                    <a:pt x="873245" y="2972377"/>
                    <a:pt x="876392" y="2972377"/>
                    <a:pt x="880589" y="2973558"/>
                  </a:cubicBezTo>
                  <a:cubicBezTo>
                    <a:pt x="881638" y="2973558"/>
                    <a:pt x="881638" y="2975920"/>
                    <a:pt x="882688" y="2975920"/>
                  </a:cubicBezTo>
                  <a:cubicBezTo>
                    <a:pt x="883737" y="2978282"/>
                    <a:pt x="884786" y="2981825"/>
                    <a:pt x="888983" y="2979463"/>
                  </a:cubicBezTo>
                  <a:cubicBezTo>
                    <a:pt x="891081" y="2978282"/>
                    <a:pt x="897377" y="2980644"/>
                    <a:pt x="898426" y="2983006"/>
                  </a:cubicBezTo>
                  <a:cubicBezTo>
                    <a:pt x="900525" y="2991272"/>
                    <a:pt x="907869" y="2991272"/>
                    <a:pt x="913115" y="2993634"/>
                  </a:cubicBezTo>
                  <a:cubicBezTo>
                    <a:pt x="914165" y="2993634"/>
                    <a:pt x="915214" y="2993634"/>
                    <a:pt x="915214" y="2994815"/>
                  </a:cubicBezTo>
                  <a:cubicBezTo>
                    <a:pt x="918361" y="2999538"/>
                    <a:pt x="922558" y="3000719"/>
                    <a:pt x="926755" y="3003081"/>
                  </a:cubicBezTo>
                  <a:cubicBezTo>
                    <a:pt x="930952" y="3005443"/>
                    <a:pt x="935149" y="3010167"/>
                    <a:pt x="939346" y="3014890"/>
                  </a:cubicBezTo>
                  <a:lnTo>
                    <a:pt x="944592" y="3020795"/>
                  </a:lnTo>
                  <a:cubicBezTo>
                    <a:pt x="945641" y="3021976"/>
                    <a:pt x="946691" y="3021976"/>
                    <a:pt x="947740" y="3021976"/>
                  </a:cubicBezTo>
                  <a:cubicBezTo>
                    <a:pt x="950888" y="3021976"/>
                    <a:pt x="954035" y="3020795"/>
                    <a:pt x="956134" y="3024338"/>
                  </a:cubicBezTo>
                  <a:cubicBezTo>
                    <a:pt x="956134" y="3024338"/>
                    <a:pt x="957183" y="3025519"/>
                    <a:pt x="958232" y="3025519"/>
                  </a:cubicBezTo>
                  <a:cubicBezTo>
                    <a:pt x="966626" y="3024338"/>
                    <a:pt x="971872" y="3030242"/>
                    <a:pt x="977118" y="3036147"/>
                  </a:cubicBezTo>
                  <a:cubicBezTo>
                    <a:pt x="979217" y="3038509"/>
                    <a:pt x="983414" y="3039690"/>
                    <a:pt x="985512" y="3039690"/>
                  </a:cubicBezTo>
                  <a:cubicBezTo>
                    <a:pt x="991807" y="3042052"/>
                    <a:pt x="999152" y="3043233"/>
                    <a:pt x="1004398" y="3047956"/>
                  </a:cubicBezTo>
                  <a:cubicBezTo>
                    <a:pt x="1007546" y="3050318"/>
                    <a:pt x="1011743" y="3053861"/>
                    <a:pt x="1014890" y="3053861"/>
                  </a:cubicBezTo>
                  <a:cubicBezTo>
                    <a:pt x="1020137" y="3053861"/>
                    <a:pt x="1022235" y="3058584"/>
                    <a:pt x="1024334" y="3062127"/>
                  </a:cubicBezTo>
                  <a:cubicBezTo>
                    <a:pt x="1030629" y="3063308"/>
                    <a:pt x="1036924" y="3063308"/>
                    <a:pt x="1040072" y="3070394"/>
                  </a:cubicBezTo>
                  <a:cubicBezTo>
                    <a:pt x="1040072" y="3071575"/>
                    <a:pt x="1041121" y="3071575"/>
                    <a:pt x="1042170" y="3071575"/>
                  </a:cubicBezTo>
                  <a:cubicBezTo>
                    <a:pt x="1046367" y="3072756"/>
                    <a:pt x="1050564" y="3073936"/>
                    <a:pt x="1054761" y="3076298"/>
                  </a:cubicBezTo>
                  <a:cubicBezTo>
                    <a:pt x="1056860" y="3077479"/>
                    <a:pt x="1058958" y="3079841"/>
                    <a:pt x="1062106" y="3082203"/>
                  </a:cubicBezTo>
                  <a:cubicBezTo>
                    <a:pt x="1063155" y="3082203"/>
                    <a:pt x="1063155" y="3083384"/>
                    <a:pt x="1064204" y="3083384"/>
                  </a:cubicBezTo>
                  <a:cubicBezTo>
                    <a:pt x="1071549" y="3083384"/>
                    <a:pt x="1073647" y="3089288"/>
                    <a:pt x="1077844" y="3094012"/>
                  </a:cubicBezTo>
                  <a:cubicBezTo>
                    <a:pt x="1084140" y="3099917"/>
                    <a:pt x="1091484" y="3105821"/>
                    <a:pt x="1096730" y="3112907"/>
                  </a:cubicBezTo>
                  <a:cubicBezTo>
                    <a:pt x="1099878" y="3117630"/>
                    <a:pt x="1105124" y="3119993"/>
                    <a:pt x="1108272" y="3122354"/>
                  </a:cubicBezTo>
                  <a:lnTo>
                    <a:pt x="1114567" y="3125897"/>
                  </a:lnTo>
                  <a:cubicBezTo>
                    <a:pt x="1116666" y="3128259"/>
                    <a:pt x="1118764" y="3130621"/>
                    <a:pt x="1121912" y="3132982"/>
                  </a:cubicBezTo>
                  <a:cubicBezTo>
                    <a:pt x="1125060" y="3134163"/>
                    <a:pt x="1126109" y="3138887"/>
                    <a:pt x="1130306" y="3137706"/>
                  </a:cubicBezTo>
                  <a:cubicBezTo>
                    <a:pt x="1132404" y="3137706"/>
                    <a:pt x="1134503" y="3138887"/>
                    <a:pt x="1136601" y="3140068"/>
                  </a:cubicBezTo>
                  <a:cubicBezTo>
                    <a:pt x="1139749" y="3142430"/>
                    <a:pt x="1140798" y="3144791"/>
                    <a:pt x="1144995" y="3144791"/>
                  </a:cubicBezTo>
                  <a:cubicBezTo>
                    <a:pt x="1147093" y="3144791"/>
                    <a:pt x="1149192" y="3147153"/>
                    <a:pt x="1150241" y="3148334"/>
                  </a:cubicBezTo>
                  <a:cubicBezTo>
                    <a:pt x="1155487" y="3150874"/>
                    <a:pt x="1160733" y="3150874"/>
                    <a:pt x="1163881" y="3143611"/>
                  </a:cubicBezTo>
                  <a:lnTo>
                    <a:pt x="1164930" y="3142430"/>
                  </a:lnTo>
                  <a:cubicBezTo>
                    <a:pt x="1169127" y="3144791"/>
                    <a:pt x="1169127" y="3140068"/>
                    <a:pt x="1170176" y="3137706"/>
                  </a:cubicBezTo>
                  <a:cubicBezTo>
                    <a:pt x="1171226" y="3136525"/>
                    <a:pt x="1173324" y="3135344"/>
                    <a:pt x="1174373" y="3134163"/>
                  </a:cubicBezTo>
                  <a:cubicBezTo>
                    <a:pt x="1176472" y="3131802"/>
                    <a:pt x="1178570" y="3130621"/>
                    <a:pt x="1181718" y="3128259"/>
                  </a:cubicBezTo>
                  <a:cubicBezTo>
                    <a:pt x="1182767" y="3127078"/>
                    <a:pt x="1184865" y="3125897"/>
                    <a:pt x="1185915" y="3125897"/>
                  </a:cubicBezTo>
                  <a:cubicBezTo>
                    <a:pt x="1191161" y="3125897"/>
                    <a:pt x="1194309" y="3123535"/>
                    <a:pt x="1198506" y="3118811"/>
                  </a:cubicBezTo>
                  <a:cubicBezTo>
                    <a:pt x="1201653" y="3115268"/>
                    <a:pt x="1206899" y="3112907"/>
                    <a:pt x="1211096" y="3110545"/>
                  </a:cubicBezTo>
                  <a:cubicBezTo>
                    <a:pt x="1215293" y="3108183"/>
                    <a:pt x="1219490" y="3105821"/>
                    <a:pt x="1224736" y="3104640"/>
                  </a:cubicBezTo>
                  <a:cubicBezTo>
                    <a:pt x="1227884" y="3103459"/>
                    <a:pt x="1231032" y="3103459"/>
                    <a:pt x="1234179" y="3103459"/>
                  </a:cubicBezTo>
                  <a:lnTo>
                    <a:pt x="1236278" y="3103459"/>
                  </a:lnTo>
                  <a:cubicBezTo>
                    <a:pt x="1240475" y="3101098"/>
                    <a:pt x="1244672" y="3097555"/>
                    <a:pt x="1249918" y="3095193"/>
                  </a:cubicBezTo>
                  <a:lnTo>
                    <a:pt x="1253065" y="3095193"/>
                  </a:lnTo>
                  <a:cubicBezTo>
                    <a:pt x="1258311" y="3097555"/>
                    <a:pt x="1263558" y="3097555"/>
                    <a:pt x="1268804" y="3092831"/>
                  </a:cubicBezTo>
                  <a:cubicBezTo>
                    <a:pt x="1269853" y="3091650"/>
                    <a:pt x="1271952" y="3090469"/>
                    <a:pt x="1273001" y="3089288"/>
                  </a:cubicBezTo>
                  <a:cubicBezTo>
                    <a:pt x="1278247" y="3091650"/>
                    <a:pt x="1283493" y="3096374"/>
                    <a:pt x="1289788" y="3096374"/>
                  </a:cubicBezTo>
                  <a:cubicBezTo>
                    <a:pt x="1291887" y="3096374"/>
                    <a:pt x="1295035" y="3095193"/>
                    <a:pt x="1297133" y="3094012"/>
                  </a:cubicBezTo>
                  <a:cubicBezTo>
                    <a:pt x="1301330" y="3094012"/>
                    <a:pt x="1305527" y="3094012"/>
                    <a:pt x="1308674" y="3092831"/>
                  </a:cubicBezTo>
                  <a:cubicBezTo>
                    <a:pt x="1312871" y="3091650"/>
                    <a:pt x="1318118" y="3092831"/>
                    <a:pt x="1322315" y="3090469"/>
                  </a:cubicBezTo>
                  <a:cubicBezTo>
                    <a:pt x="1324413" y="3084565"/>
                    <a:pt x="1325462" y="3084565"/>
                    <a:pt x="1330708" y="3085745"/>
                  </a:cubicBezTo>
                  <a:cubicBezTo>
                    <a:pt x="1337004" y="3086926"/>
                    <a:pt x="1341201" y="3085745"/>
                    <a:pt x="1345397" y="3079841"/>
                  </a:cubicBezTo>
                  <a:cubicBezTo>
                    <a:pt x="1347496" y="3076298"/>
                    <a:pt x="1352742" y="3076298"/>
                    <a:pt x="1355890" y="3073936"/>
                  </a:cubicBezTo>
                  <a:cubicBezTo>
                    <a:pt x="1356939" y="3073936"/>
                    <a:pt x="1357988" y="3072756"/>
                    <a:pt x="1359037" y="3072756"/>
                  </a:cubicBezTo>
                  <a:cubicBezTo>
                    <a:pt x="1361136" y="3071575"/>
                    <a:pt x="1362185" y="3071575"/>
                    <a:pt x="1364284" y="3070394"/>
                  </a:cubicBezTo>
                  <a:cubicBezTo>
                    <a:pt x="1369530" y="3068032"/>
                    <a:pt x="1374776" y="3066851"/>
                    <a:pt x="1380022" y="3063308"/>
                  </a:cubicBezTo>
                  <a:cubicBezTo>
                    <a:pt x="1385268" y="3059765"/>
                    <a:pt x="1389465" y="3057403"/>
                    <a:pt x="1394711" y="3062127"/>
                  </a:cubicBezTo>
                  <a:lnTo>
                    <a:pt x="1396810" y="3062127"/>
                  </a:lnTo>
                  <a:cubicBezTo>
                    <a:pt x="1398908" y="3060946"/>
                    <a:pt x="1399957" y="3060946"/>
                    <a:pt x="1402056" y="3059765"/>
                  </a:cubicBezTo>
                  <a:cubicBezTo>
                    <a:pt x="1402056" y="3056222"/>
                    <a:pt x="1402056" y="3051499"/>
                    <a:pt x="1406253" y="3047956"/>
                  </a:cubicBezTo>
                  <a:cubicBezTo>
                    <a:pt x="1407302" y="3046775"/>
                    <a:pt x="1407302" y="3044413"/>
                    <a:pt x="1409400" y="3043233"/>
                  </a:cubicBezTo>
                  <a:cubicBezTo>
                    <a:pt x="1411499" y="3040871"/>
                    <a:pt x="1414647" y="3040871"/>
                    <a:pt x="1416745" y="3042052"/>
                  </a:cubicBezTo>
                  <a:cubicBezTo>
                    <a:pt x="1417794" y="3043233"/>
                    <a:pt x="1419893" y="3042052"/>
                    <a:pt x="1420942" y="3042052"/>
                  </a:cubicBezTo>
                  <a:cubicBezTo>
                    <a:pt x="1427237" y="3040871"/>
                    <a:pt x="1434582" y="3040871"/>
                    <a:pt x="1440877" y="3039690"/>
                  </a:cubicBezTo>
                  <a:cubicBezTo>
                    <a:pt x="1447173" y="3038509"/>
                    <a:pt x="1453468" y="3037328"/>
                    <a:pt x="1459763" y="3034966"/>
                  </a:cubicBezTo>
                  <a:cubicBezTo>
                    <a:pt x="1463960" y="3032604"/>
                    <a:pt x="1468157" y="3033785"/>
                    <a:pt x="1472354" y="3033785"/>
                  </a:cubicBezTo>
                  <a:cubicBezTo>
                    <a:pt x="1480748" y="3034966"/>
                    <a:pt x="1488093" y="3034966"/>
                    <a:pt x="1495437" y="3030242"/>
                  </a:cubicBezTo>
                  <a:lnTo>
                    <a:pt x="1493339" y="3027880"/>
                  </a:lnTo>
                  <a:cubicBezTo>
                    <a:pt x="1495437" y="3026699"/>
                    <a:pt x="1497536" y="3026699"/>
                    <a:pt x="1500683" y="3026699"/>
                  </a:cubicBezTo>
                  <a:cubicBezTo>
                    <a:pt x="1502782" y="3030242"/>
                    <a:pt x="1505929" y="3027880"/>
                    <a:pt x="1508028" y="3025519"/>
                  </a:cubicBezTo>
                  <a:cubicBezTo>
                    <a:pt x="1511176" y="3021976"/>
                    <a:pt x="1514323" y="3023157"/>
                    <a:pt x="1518520" y="3023157"/>
                  </a:cubicBezTo>
                  <a:cubicBezTo>
                    <a:pt x="1522717" y="3024338"/>
                    <a:pt x="1527963" y="3021976"/>
                    <a:pt x="1533209" y="3020795"/>
                  </a:cubicBezTo>
                  <a:cubicBezTo>
                    <a:pt x="1534259" y="3020795"/>
                    <a:pt x="1535308" y="3018433"/>
                    <a:pt x="1535308" y="3017252"/>
                  </a:cubicBezTo>
                  <a:cubicBezTo>
                    <a:pt x="1537406" y="3017252"/>
                    <a:pt x="1539505" y="3016071"/>
                    <a:pt x="1542652" y="3016071"/>
                  </a:cubicBezTo>
                  <a:lnTo>
                    <a:pt x="1546849" y="3016071"/>
                  </a:lnTo>
                  <a:cubicBezTo>
                    <a:pt x="1551046" y="3018433"/>
                    <a:pt x="1555243" y="3018433"/>
                    <a:pt x="1559440" y="3016071"/>
                  </a:cubicBezTo>
                  <a:cubicBezTo>
                    <a:pt x="1560489" y="3014890"/>
                    <a:pt x="1562588" y="3014890"/>
                    <a:pt x="1563637" y="3014890"/>
                  </a:cubicBezTo>
                  <a:cubicBezTo>
                    <a:pt x="1566785" y="3013709"/>
                    <a:pt x="1569932" y="3014890"/>
                    <a:pt x="1572031" y="3011348"/>
                  </a:cubicBezTo>
                  <a:cubicBezTo>
                    <a:pt x="1573080" y="3010167"/>
                    <a:pt x="1575179" y="3011348"/>
                    <a:pt x="1577277" y="3010167"/>
                  </a:cubicBezTo>
                  <a:lnTo>
                    <a:pt x="1607705" y="3010167"/>
                  </a:lnTo>
                  <a:cubicBezTo>
                    <a:pt x="1611901" y="3010167"/>
                    <a:pt x="1617148" y="3011348"/>
                    <a:pt x="1621345" y="3012529"/>
                  </a:cubicBezTo>
                  <a:cubicBezTo>
                    <a:pt x="1626591" y="3013709"/>
                    <a:pt x="1630788" y="3012529"/>
                    <a:pt x="1634985" y="3011348"/>
                  </a:cubicBezTo>
                  <a:lnTo>
                    <a:pt x="1642329" y="3011348"/>
                  </a:lnTo>
                  <a:cubicBezTo>
                    <a:pt x="1645477" y="3011348"/>
                    <a:pt x="1648624" y="3012529"/>
                    <a:pt x="1651772" y="3011348"/>
                  </a:cubicBezTo>
                  <a:cubicBezTo>
                    <a:pt x="1653870" y="3011348"/>
                    <a:pt x="1654920" y="3008986"/>
                    <a:pt x="1655969" y="3006624"/>
                  </a:cubicBezTo>
                  <a:cubicBezTo>
                    <a:pt x="1658067" y="3003081"/>
                    <a:pt x="1661215" y="3001900"/>
                    <a:pt x="1665412" y="3001900"/>
                  </a:cubicBezTo>
                  <a:cubicBezTo>
                    <a:pt x="1668560" y="3001900"/>
                    <a:pt x="1671708" y="3000719"/>
                    <a:pt x="1674855" y="2999538"/>
                  </a:cubicBezTo>
                  <a:lnTo>
                    <a:pt x="1676954" y="2999538"/>
                  </a:lnTo>
                  <a:cubicBezTo>
                    <a:pt x="1681151" y="3006624"/>
                    <a:pt x="1687446" y="3001900"/>
                    <a:pt x="1692692" y="3003081"/>
                  </a:cubicBezTo>
                  <a:lnTo>
                    <a:pt x="1694791" y="3003081"/>
                  </a:lnTo>
                  <a:cubicBezTo>
                    <a:pt x="1698987" y="3005443"/>
                    <a:pt x="1704233" y="3007805"/>
                    <a:pt x="1708431" y="3008986"/>
                  </a:cubicBezTo>
                  <a:cubicBezTo>
                    <a:pt x="1713677" y="3010167"/>
                    <a:pt x="1717874" y="3016071"/>
                    <a:pt x="1722070" y="3016071"/>
                  </a:cubicBezTo>
                  <a:cubicBezTo>
                    <a:pt x="1729415" y="3016071"/>
                    <a:pt x="1735710" y="3021976"/>
                    <a:pt x="1742006" y="3023157"/>
                  </a:cubicBezTo>
                  <a:cubicBezTo>
                    <a:pt x="1747252" y="3024338"/>
                    <a:pt x="1752498" y="3026699"/>
                    <a:pt x="1757744" y="3029061"/>
                  </a:cubicBezTo>
                  <a:cubicBezTo>
                    <a:pt x="1759843" y="3030242"/>
                    <a:pt x="1762990" y="3029061"/>
                    <a:pt x="1765089" y="3029061"/>
                  </a:cubicBezTo>
                  <a:cubicBezTo>
                    <a:pt x="1771384" y="3030242"/>
                    <a:pt x="1777680" y="3030242"/>
                    <a:pt x="1783975" y="3031423"/>
                  </a:cubicBezTo>
                  <a:lnTo>
                    <a:pt x="1785024" y="3031423"/>
                  </a:lnTo>
                  <a:cubicBezTo>
                    <a:pt x="1792369" y="3030242"/>
                    <a:pt x="1799714" y="3032604"/>
                    <a:pt x="1807058" y="3032604"/>
                  </a:cubicBezTo>
                  <a:cubicBezTo>
                    <a:pt x="1808107" y="2822400"/>
                    <a:pt x="1802861" y="2612196"/>
                    <a:pt x="1796566" y="2401993"/>
                  </a:cubicBezTo>
                  <a:cubicBezTo>
                    <a:pt x="1790270" y="2202417"/>
                    <a:pt x="1783975" y="2002842"/>
                    <a:pt x="1782926" y="1803266"/>
                  </a:cubicBezTo>
                  <a:cubicBezTo>
                    <a:pt x="1782926" y="1702888"/>
                    <a:pt x="1783975" y="1603690"/>
                    <a:pt x="1786073" y="1503312"/>
                  </a:cubicBezTo>
                  <a:cubicBezTo>
                    <a:pt x="1789221" y="1402934"/>
                    <a:pt x="1795516" y="1302555"/>
                    <a:pt x="1799714" y="1202177"/>
                  </a:cubicBezTo>
                  <a:cubicBezTo>
                    <a:pt x="1812966" y="884510"/>
                    <a:pt x="1804959" y="565661"/>
                    <a:pt x="1800762" y="247993"/>
                  </a:cubicBezTo>
                  <a:cubicBezTo>
                    <a:pt x="1797615" y="246812"/>
                    <a:pt x="1795516" y="245631"/>
                    <a:pt x="1793418" y="244451"/>
                  </a:cubicBezTo>
                  <a:cubicBezTo>
                    <a:pt x="1790270" y="242089"/>
                    <a:pt x="1787123" y="240908"/>
                    <a:pt x="1782926" y="242089"/>
                  </a:cubicBezTo>
                  <a:lnTo>
                    <a:pt x="1776630" y="242089"/>
                  </a:lnTo>
                  <a:cubicBezTo>
                    <a:pt x="1773483" y="242089"/>
                    <a:pt x="1769286" y="242089"/>
                    <a:pt x="1767187" y="246812"/>
                  </a:cubicBezTo>
                  <a:cubicBezTo>
                    <a:pt x="1767187" y="246812"/>
                    <a:pt x="1766138" y="247993"/>
                    <a:pt x="1765089" y="247993"/>
                  </a:cubicBezTo>
                  <a:lnTo>
                    <a:pt x="1760892" y="247993"/>
                  </a:lnTo>
                  <a:cubicBezTo>
                    <a:pt x="1759843" y="245631"/>
                    <a:pt x="1761941" y="240908"/>
                    <a:pt x="1756695" y="242089"/>
                  </a:cubicBezTo>
                  <a:cubicBezTo>
                    <a:pt x="1754596" y="242089"/>
                    <a:pt x="1751449" y="243270"/>
                    <a:pt x="1749350" y="243270"/>
                  </a:cubicBezTo>
                  <a:lnTo>
                    <a:pt x="1733612" y="243270"/>
                  </a:lnTo>
                  <a:cubicBezTo>
                    <a:pt x="1732563" y="240908"/>
                    <a:pt x="1731514" y="238546"/>
                    <a:pt x="1729415" y="235003"/>
                  </a:cubicBezTo>
                  <a:cubicBezTo>
                    <a:pt x="1728366" y="232641"/>
                    <a:pt x="1727317" y="231460"/>
                    <a:pt x="1724169" y="233822"/>
                  </a:cubicBezTo>
                  <a:cubicBezTo>
                    <a:pt x="1722070" y="235003"/>
                    <a:pt x="1721021" y="235003"/>
                    <a:pt x="1719972" y="232641"/>
                  </a:cubicBezTo>
                  <a:cubicBezTo>
                    <a:pt x="1716824" y="226737"/>
                    <a:pt x="1713677" y="222013"/>
                    <a:pt x="1707381" y="220832"/>
                  </a:cubicBezTo>
                  <a:cubicBezTo>
                    <a:pt x="1706332" y="220832"/>
                    <a:pt x="1705283" y="218470"/>
                    <a:pt x="1704233" y="217289"/>
                  </a:cubicBezTo>
                  <a:cubicBezTo>
                    <a:pt x="1702135" y="214928"/>
                    <a:pt x="1701086" y="212566"/>
                    <a:pt x="1697938" y="212566"/>
                  </a:cubicBezTo>
                  <a:cubicBezTo>
                    <a:pt x="1696889" y="212566"/>
                    <a:pt x="1694791" y="210204"/>
                    <a:pt x="1694791" y="209023"/>
                  </a:cubicBezTo>
                  <a:cubicBezTo>
                    <a:pt x="1693741" y="204299"/>
                    <a:pt x="1693741" y="200756"/>
                    <a:pt x="1693741" y="196033"/>
                  </a:cubicBezTo>
                  <a:cubicBezTo>
                    <a:pt x="1692692" y="191309"/>
                    <a:pt x="1690594" y="186585"/>
                    <a:pt x="1687446" y="184224"/>
                  </a:cubicBezTo>
                  <a:cubicBezTo>
                    <a:pt x="1682200" y="180681"/>
                    <a:pt x="1678003" y="175957"/>
                    <a:pt x="1672757" y="172414"/>
                  </a:cubicBezTo>
                  <a:cubicBezTo>
                    <a:pt x="1671708" y="171233"/>
                    <a:pt x="1669609" y="170053"/>
                    <a:pt x="1667511" y="170053"/>
                  </a:cubicBezTo>
                  <a:cubicBezTo>
                    <a:pt x="1664363" y="168872"/>
                    <a:pt x="1661215" y="167691"/>
                    <a:pt x="1658067" y="167691"/>
                  </a:cubicBezTo>
                  <a:cubicBezTo>
                    <a:pt x="1654920" y="167691"/>
                    <a:pt x="1650723" y="167691"/>
                    <a:pt x="1647575" y="170053"/>
                  </a:cubicBezTo>
                  <a:cubicBezTo>
                    <a:pt x="1641280" y="173595"/>
                    <a:pt x="1636034" y="168872"/>
                    <a:pt x="1630788" y="168872"/>
                  </a:cubicBezTo>
                  <a:cubicBezTo>
                    <a:pt x="1625541" y="167691"/>
                    <a:pt x="1620295" y="165329"/>
                    <a:pt x="1616098" y="164148"/>
                  </a:cubicBezTo>
                  <a:lnTo>
                    <a:pt x="1602458" y="164148"/>
                  </a:lnTo>
                  <a:cubicBezTo>
                    <a:pt x="1590917" y="166510"/>
                    <a:pt x="1581474" y="159424"/>
                    <a:pt x="1569932" y="158243"/>
                  </a:cubicBezTo>
                  <a:cubicBezTo>
                    <a:pt x="1566785" y="158243"/>
                    <a:pt x="1563637" y="154701"/>
                    <a:pt x="1560489" y="152339"/>
                  </a:cubicBezTo>
                  <a:cubicBezTo>
                    <a:pt x="1558391" y="149977"/>
                    <a:pt x="1556292" y="149977"/>
                    <a:pt x="1553145" y="151158"/>
                  </a:cubicBezTo>
                  <a:cubicBezTo>
                    <a:pt x="1548948" y="152339"/>
                    <a:pt x="1544751" y="151158"/>
                    <a:pt x="1540554" y="152339"/>
                  </a:cubicBezTo>
                  <a:cubicBezTo>
                    <a:pt x="1534259" y="154701"/>
                    <a:pt x="1529012" y="148796"/>
                    <a:pt x="1522717" y="148796"/>
                  </a:cubicBezTo>
                  <a:cubicBezTo>
                    <a:pt x="1517471" y="149977"/>
                    <a:pt x="1512225" y="149977"/>
                    <a:pt x="1506979" y="151158"/>
                  </a:cubicBezTo>
                  <a:lnTo>
                    <a:pt x="1494388" y="154701"/>
                  </a:lnTo>
                  <a:cubicBezTo>
                    <a:pt x="1485994" y="159424"/>
                    <a:pt x="1479699" y="153520"/>
                    <a:pt x="1472354" y="151158"/>
                  </a:cubicBezTo>
                  <a:cubicBezTo>
                    <a:pt x="1467108" y="149977"/>
                    <a:pt x="1463960" y="147615"/>
                    <a:pt x="1459763" y="144072"/>
                  </a:cubicBezTo>
                  <a:cubicBezTo>
                    <a:pt x="1455566" y="140530"/>
                    <a:pt x="1451370" y="144072"/>
                    <a:pt x="1448222" y="144072"/>
                  </a:cubicBezTo>
                  <a:cubicBezTo>
                    <a:pt x="1445074" y="144072"/>
                    <a:pt x="1442976" y="147615"/>
                    <a:pt x="1440877" y="148796"/>
                  </a:cubicBezTo>
                  <a:cubicBezTo>
                    <a:pt x="1437730" y="149977"/>
                    <a:pt x="1434582" y="149977"/>
                    <a:pt x="1431434" y="149977"/>
                  </a:cubicBezTo>
                  <a:cubicBezTo>
                    <a:pt x="1428286" y="149977"/>
                    <a:pt x="1424090" y="148796"/>
                    <a:pt x="1420942" y="149977"/>
                  </a:cubicBezTo>
                  <a:cubicBezTo>
                    <a:pt x="1415696" y="152339"/>
                    <a:pt x="1411499" y="155881"/>
                    <a:pt x="1407302" y="158243"/>
                  </a:cubicBezTo>
                  <a:cubicBezTo>
                    <a:pt x="1406253" y="159424"/>
                    <a:pt x="1405203" y="160605"/>
                    <a:pt x="1404154" y="160605"/>
                  </a:cubicBezTo>
                  <a:cubicBezTo>
                    <a:pt x="1396810" y="165329"/>
                    <a:pt x="1388416" y="166510"/>
                    <a:pt x="1378973" y="166510"/>
                  </a:cubicBezTo>
                  <a:cubicBezTo>
                    <a:pt x="1373727" y="166510"/>
                    <a:pt x="1368480" y="166510"/>
                    <a:pt x="1363234" y="165329"/>
                  </a:cubicBezTo>
                  <a:cubicBezTo>
                    <a:pt x="1360087" y="165329"/>
                    <a:pt x="1357988" y="161786"/>
                    <a:pt x="1355890" y="161786"/>
                  </a:cubicBezTo>
                  <a:cubicBezTo>
                    <a:pt x="1348545" y="160605"/>
                    <a:pt x="1342250" y="160605"/>
                    <a:pt x="1334905" y="160605"/>
                  </a:cubicBezTo>
                  <a:cubicBezTo>
                    <a:pt x="1333856" y="160605"/>
                    <a:pt x="1332807" y="161786"/>
                    <a:pt x="1331757" y="161786"/>
                  </a:cubicBezTo>
                  <a:cubicBezTo>
                    <a:pt x="1327561" y="164148"/>
                    <a:pt x="1323364" y="167691"/>
                    <a:pt x="1319167" y="170053"/>
                  </a:cubicBezTo>
                  <a:cubicBezTo>
                    <a:pt x="1311822" y="172414"/>
                    <a:pt x="1304477" y="174776"/>
                    <a:pt x="1297133" y="175957"/>
                  </a:cubicBezTo>
                  <a:lnTo>
                    <a:pt x="1293985" y="175957"/>
                  </a:lnTo>
                  <a:cubicBezTo>
                    <a:pt x="1287690" y="172414"/>
                    <a:pt x="1282444" y="175957"/>
                    <a:pt x="1276148" y="177138"/>
                  </a:cubicBezTo>
                  <a:cubicBezTo>
                    <a:pt x="1269853" y="179500"/>
                    <a:pt x="1263558" y="183043"/>
                    <a:pt x="1257262" y="185405"/>
                  </a:cubicBezTo>
                  <a:cubicBezTo>
                    <a:pt x="1255164" y="186585"/>
                    <a:pt x="1253065" y="185405"/>
                    <a:pt x="1250967" y="184224"/>
                  </a:cubicBezTo>
                  <a:cubicBezTo>
                    <a:pt x="1247819" y="183043"/>
                    <a:pt x="1245721" y="183043"/>
                    <a:pt x="1243622" y="185405"/>
                  </a:cubicBezTo>
                  <a:cubicBezTo>
                    <a:pt x="1242573" y="186585"/>
                    <a:pt x="1241524" y="186585"/>
                    <a:pt x="1240475" y="186585"/>
                  </a:cubicBezTo>
                  <a:cubicBezTo>
                    <a:pt x="1237327" y="187766"/>
                    <a:pt x="1234179" y="187766"/>
                    <a:pt x="1232081" y="188947"/>
                  </a:cubicBezTo>
                  <a:cubicBezTo>
                    <a:pt x="1227884" y="192490"/>
                    <a:pt x="1223687" y="191309"/>
                    <a:pt x="1219490" y="193671"/>
                  </a:cubicBezTo>
                  <a:cubicBezTo>
                    <a:pt x="1215293" y="196033"/>
                    <a:pt x="1211096" y="196033"/>
                    <a:pt x="1207948" y="199576"/>
                  </a:cubicBezTo>
                  <a:cubicBezTo>
                    <a:pt x="1206899" y="200756"/>
                    <a:pt x="1204801" y="200756"/>
                    <a:pt x="1202702" y="200756"/>
                  </a:cubicBezTo>
                  <a:cubicBezTo>
                    <a:pt x="1197456" y="201937"/>
                    <a:pt x="1193259" y="205480"/>
                    <a:pt x="1190112" y="210204"/>
                  </a:cubicBezTo>
                  <a:cubicBezTo>
                    <a:pt x="1185915" y="214928"/>
                    <a:pt x="1181718" y="218470"/>
                    <a:pt x="1177521" y="222013"/>
                  </a:cubicBezTo>
                  <a:cubicBezTo>
                    <a:pt x="1176472" y="223194"/>
                    <a:pt x="1173324" y="223194"/>
                    <a:pt x="1172275" y="223194"/>
                  </a:cubicBezTo>
                  <a:cubicBezTo>
                    <a:pt x="1168078" y="223194"/>
                    <a:pt x="1163881" y="222013"/>
                    <a:pt x="1160733" y="220832"/>
                  </a:cubicBezTo>
                  <a:cubicBezTo>
                    <a:pt x="1158635" y="220832"/>
                    <a:pt x="1157585" y="219651"/>
                    <a:pt x="1155487" y="219651"/>
                  </a:cubicBezTo>
                  <a:cubicBezTo>
                    <a:pt x="1149192" y="223194"/>
                    <a:pt x="1141847" y="220832"/>
                    <a:pt x="1135552" y="220832"/>
                  </a:cubicBezTo>
                  <a:cubicBezTo>
                    <a:pt x="1134502" y="220832"/>
                    <a:pt x="1132404" y="219651"/>
                    <a:pt x="1131355" y="218470"/>
                  </a:cubicBezTo>
                  <a:cubicBezTo>
                    <a:pt x="1127158" y="214928"/>
                    <a:pt x="1122961" y="214928"/>
                    <a:pt x="1118764" y="217289"/>
                  </a:cubicBezTo>
                  <a:cubicBezTo>
                    <a:pt x="1115616" y="218470"/>
                    <a:pt x="1112469" y="218470"/>
                    <a:pt x="1110370" y="216108"/>
                  </a:cubicBezTo>
                  <a:cubicBezTo>
                    <a:pt x="1106173" y="212566"/>
                    <a:pt x="1100927" y="210204"/>
                    <a:pt x="1095681" y="209023"/>
                  </a:cubicBezTo>
                  <a:cubicBezTo>
                    <a:pt x="1091484" y="207842"/>
                    <a:pt x="1087287" y="205480"/>
                    <a:pt x="1083090" y="203118"/>
                  </a:cubicBezTo>
                  <a:cubicBezTo>
                    <a:pt x="1080992" y="201937"/>
                    <a:pt x="1078893" y="203118"/>
                    <a:pt x="1076795" y="203118"/>
                  </a:cubicBezTo>
                  <a:cubicBezTo>
                    <a:pt x="1074696" y="203118"/>
                    <a:pt x="1073647" y="204299"/>
                    <a:pt x="1071549" y="204299"/>
                  </a:cubicBezTo>
                  <a:cubicBezTo>
                    <a:pt x="1065253" y="205480"/>
                    <a:pt x="1058958" y="207842"/>
                    <a:pt x="1053712" y="206661"/>
                  </a:cubicBezTo>
                  <a:cubicBezTo>
                    <a:pt x="1046367" y="204299"/>
                    <a:pt x="1039023" y="205480"/>
                    <a:pt x="1032727" y="200756"/>
                  </a:cubicBezTo>
                  <a:cubicBezTo>
                    <a:pt x="1029580" y="198395"/>
                    <a:pt x="1028530" y="200756"/>
                    <a:pt x="1026432" y="200756"/>
                  </a:cubicBezTo>
                  <a:cubicBezTo>
                    <a:pt x="1025383" y="200756"/>
                    <a:pt x="1024334" y="200756"/>
                    <a:pt x="1022235" y="201937"/>
                  </a:cubicBezTo>
                  <a:cubicBezTo>
                    <a:pt x="1021186" y="205480"/>
                    <a:pt x="1016989" y="207842"/>
                    <a:pt x="1011743" y="205480"/>
                  </a:cubicBezTo>
                  <a:cubicBezTo>
                    <a:pt x="1008595" y="204299"/>
                    <a:pt x="1006497" y="204299"/>
                    <a:pt x="1003349" y="205480"/>
                  </a:cubicBezTo>
                  <a:cubicBezTo>
                    <a:pt x="1000201" y="206661"/>
                    <a:pt x="997053" y="206661"/>
                    <a:pt x="992857" y="207842"/>
                  </a:cubicBezTo>
                  <a:lnTo>
                    <a:pt x="991807" y="207842"/>
                  </a:lnTo>
                  <a:cubicBezTo>
                    <a:pt x="983414" y="213747"/>
                    <a:pt x="975020" y="209023"/>
                    <a:pt x="965577" y="209023"/>
                  </a:cubicBezTo>
                  <a:lnTo>
                    <a:pt x="960330" y="209023"/>
                  </a:lnTo>
                  <a:cubicBezTo>
                    <a:pt x="954035" y="210204"/>
                    <a:pt x="950888" y="204299"/>
                    <a:pt x="946691" y="200756"/>
                  </a:cubicBezTo>
                  <a:cubicBezTo>
                    <a:pt x="942494" y="197214"/>
                    <a:pt x="938297" y="192490"/>
                    <a:pt x="934100" y="190128"/>
                  </a:cubicBezTo>
                  <a:cubicBezTo>
                    <a:pt x="933051" y="188947"/>
                    <a:pt x="929903" y="190128"/>
                    <a:pt x="927804" y="190128"/>
                  </a:cubicBezTo>
                  <a:lnTo>
                    <a:pt x="918361" y="190128"/>
                  </a:lnTo>
                  <a:lnTo>
                    <a:pt x="917312" y="188947"/>
                  </a:lnTo>
                  <a:cubicBezTo>
                    <a:pt x="909968" y="191309"/>
                    <a:pt x="905771" y="186585"/>
                    <a:pt x="900524" y="181862"/>
                  </a:cubicBezTo>
                  <a:cubicBezTo>
                    <a:pt x="897377" y="179500"/>
                    <a:pt x="893180" y="177138"/>
                    <a:pt x="890032" y="175957"/>
                  </a:cubicBezTo>
                  <a:cubicBezTo>
                    <a:pt x="885835" y="173595"/>
                    <a:pt x="880589" y="172414"/>
                    <a:pt x="878491" y="166510"/>
                  </a:cubicBezTo>
                  <a:cubicBezTo>
                    <a:pt x="877442" y="164148"/>
                    <a:pt x="875343" y="164148"/>
                    <a:pt x="874294" y="161786"/>
                  </a:cubicBezTo>
                  <a:cubicBezTo>
                    <a:pt x="873245" y="159424"/>
                    <a:pt x="872195" y="157062"/>
                    <a:pt x="872195" y="155881"/>
                  </a:cubicBezTo>
                  <a:cubicBezTo>
                    <a:pt x="872195" y="153520"/>
                    <a:pt x="873245" y="151158"/>
                    <a:pt x="874294" y="148796"/>
                  </a:cubicBezTo>
                  <a:cubicBezTo>
                    <a:pt x="875343" y="145253"/>
                    <a:pt x="873245" y="141710"/>
                    <a:pt x="870097" y="139349"/>
                  </a:cubicBezTo>
                  <a:cubicBezTo>
                    <a:pt x="869048" y="138168"/>
                    <a:pt x="866949" y="138168"/>
                    <a:pt x="866949" y="136987"/>
                  </a:cubicBezTo>
                  <a:cubicBezTo>
                    <a:pt x="864851" y="129901"/>
                    <a:pt x="859605" y="127539"/>
                    <a:pt x="855408" y="121635"/>
                  </a:cubicBezTo>
                  <a:cubicBezTo>
                    <a:pt x="852260" y="118092"/>
                    <a:pt x="850161" y="113368"/>
                    <a:pt x="848063" y="108645"/>
                  </a:cubicBezTo>
                  <a:cubicBezTo>
                    <a:pt x="845965" y="106283"/>
                    <a:pt x="844915" y="103921"/>
                    <a:pt x="841768" y="101559"/>
                  </a:cubicBezTo>
                  <a:cubicBezTo>
                    <a:pt x="834423" y="98016"/>
                    <a:pt x="827078" y="94474"/>
                    <a:pt x="819734" y="89750"/>
                  </a:cubicBezTo>
                  <a:cubicBezTo>
                    <a:pt x="819734" y="99197"/>
                    <a:pt x="817635" y="96835"/>
                    <a:pt x="816586" y="94474"/>
                  </a:cubicBezTo>
                  <a:cubicBezTo>
                    <a:pt x="816586" y="90931"/>
                    <a:pt x="814488" y="89750"/>
                    <a:pt x="811340" y="89750"/>
                  </a:cubicBezTo>
                  <a:cubicBezTo>
                    <a:pt x="811340" y="89750"/>
                    <a:pt x="810291" y="89750"/>
                    <a:pt x="810291" y="88569"/>
                  </a:cubicBezTo>
                  <a:cubicBezTo>
                    <a:pt x="809242" y="81483"/>
                    <a:pt x="803996" y="83845"/>
                    <a:pt x="800848" y="82664"/>
                  </a:cubicBezTo>
                  <a:cubicBezTo>
                    <a:pt x="798749" y="81483"/>
                    <a:pt x="796651" y="80303"/>
                    <a:pt x="794552" y="81483"/>
                  </a:cubicBezTo>
                  <a:cubicBezTo>
                    <a:pt x="790355" y="82664"/>
                    <a:pt x="787208" y="79122"/>
                    <a:pt x="783011" y="77941"/>
                  </a:cubicBezTo>
                  <a:cubicBezTo>
                    <a:pt x="781962" y="77941"/>
                    <a:pt x="780912" y="77941"/>
                    <a:pt x="779863" y="79122"/>
                  </a:cubicBezTo>
                  <a:cubicBezTo>
                    <a:pt x="777765" y="81483"/>
                    <a:pt x="775666" y="81483"/>
                    <a:pt x="772519" y="79122"/>
                  </a:cubicBezTo>
                  <a:cubicBezTo>
                    <a:pt x="768322" y="75579"/>
                    <a:pt x="764125" y="75579"/>
                    <a:pt x="758879" y="77941"/>
                  </a:cubicBezTo>
                  <a:cubicBezTo>
                    <a:pt x="756780" y="79122"/>
                    <a:pt x="754682" y="79122"/>
                    <a:pt x="752583" y="77941"/>
                  </a:cubicBezTo>
                  <a:cubicBezTo>
                    <a:pt x="748386" y="75579"/>
                    <a:pt x="744189" y="72036"/>
                    <a:pt x="738943" y="69674"/>
                  </a:cubicBezTo>
                  <a:cubicBezTo>
                    <a:pt x="737894" y="69674"/>
                    <a:pt x="736845" y="68493"/>
                    <a:pt x="735796" y="68493"/>
                  </a:cubicBezTo>
                  <a:cubicBezTo>
                    <a:pt x="729500" y="69674"/>
                    <a:pt x="724254" y="67312"/>
                    <a:pt x="717959" y="69674"/>
                  </a:cubicBezTo>
                  <a:cubicBezTo>
                    <a:pt x="714811" y="70855"/>
                    <a:pt x="710614" y="70855"/>
                    <a:pt x="708516" y="75579"/>
                  </a:cubicBezTo>
                  <a:cubicBezTo>
                    <a:pt x="707466" y="76760"/>
                    <a:pt x="704319" y="76760"/>
                    <a:pt x="702220" y="77941"/>
                  </a:cubicBezTo>
                  <a:cubicBezTo>
                    <a:pt x="696974" y="79122"/>
                    <a:pt x="691728" y="80303"/>
                    <a:pt x="686482" y="77941"/>
                  </a:cubicBezTo>
                  <a:cubicBezTo>
                    <a:pt x="682285" y="75579"/>
                    <a:pt x="677039" y="76760"/>
                    <a:pt x="672842" y="75579"/>
                  </a:cubicBezTo>
                  <a:cubicBezTo>
                    <a:pt x="669694" y="74398"/>
                    <a:pt x="667596" y="72036"/>
                    <a:pt x="665497" y="70855"/>
                  </a:cubicBezTo>
                  <a:cubicBezTo>
                    <a:pt x="664448" y="69674"/>
                    <a:pt x="663399" y="68493"/>
                    <a:pt x="662350" y="68493"/>
                  </a:cubicBezTo>
                  <a:cubicBezTo>
                    <a:pt x="656054" y="66132"/>
                    <a:pt x="650808" y="61408"/>
                    <a:pt x="647660" y="55503"/>
                  </a:cubicBezTo>
                  <a:cubicBezTo>
                    <a:pt x="645562" y="51960"/>
                    <a:pt x="642414" y="48418"/>
                    <a:pt x="640316" y="44875"/>
                  </a:cubicBezTo>
                  <a:cubicBezTo>
                    <a:pt x="632971" y="42513"/>
                    <a:pt x="634020" y="33066"/>
                    <a:pt x="629824" y="28342"/>
                  </a:cubicBezTo>
                  <a:cubicBezTo>
                    <a:pt x="626676" y="23618"/>
                    <a:pt x="623528" y="21257"/>
                    <a:pt x="618282" y="20076"/>
                  </a:cubicBezTo>
                  <a:lnTo>
                    <a:pt x="617233" y="20076"/>
                  </a:lnTo>
                  <a:cubicBezTo>
                    <a:pt x="611987" y="15352"/>
                    <a:pt x="606741" y="18895"/>
                    <a:pt x="600445" y="18895"/>
                  </a:cubicBezTo>
                  <a:cubicBezTo>
                    <a:pt x="598347" y="18895"/>
                    <a:pt x="595199" y="16533"/>
                    <a:pt x="593101" y="15352"/>
                  </a:cubicBezTo>
                  <a:cubicBezTo>
                    <a:pt x="592051" y="12990"/>
                    <a:pt x="591002" y="11809"/>
                    <a:pt x="589953" y="11809"/>
                  </a:cubicBezTo>
                  <a:cubicBezTo>
                    <a:pt x="583658" y="10628"/>
                    <a:pt x="578411" y="5905"/>
                    <a:pt x="573165" y="0"/>
                  </a:cubicBezTo>
                  <a:cubicBezTo>
                    <a:pt x="571067" y="1181"/>
                    <a:pt x="568968" y="2362"/>
                    <a:pt x="566870" y="2362"/>
                  </a:cubicBezTo>
                  <a:cubicBezTo>
                    <a:pt x="564771" y="3543"/>
                    <a:pt x="561624" y="3543"/>
                    <a:pt x="558476" y="3543"/>
                  </a:cubicBezTo>
                  <a:cubicBezTo>
                    <a:pt x="554279" y="2362"/>
                    <a:pt x="550082" y="3543"/>
                    <a:pt x="545885" y="7085"/>
                  </a:cubicBezTo>
                  <a:cubicBezTo>
                    <a:pt x="543787" y="8266"/>
                    <a:pt x="542738" y="9447"/>
                    <a:pt x="540639" y="10628"/>
                  </a:cubicBezTo>
                  <a:cubicBezTo>
                    <a:pt x="538541" y="11809"/>
                    <a:pt x="537492" y="14171"/>
                    <a:pt x="535393" y="15352"/>
                  </a:cubicBezTo>
                  <a:cubicBezTo>
                    <a:pt x="534344" y="16533"/>
                    <a:pt x="532245" y="16533"/>
                    <a:pt x="531196" y="17714"/>
                  </a:cubicBezTo>
                  <a:lnTo>
                    <a:pt x="524901" y="21257"/>
                  </a:lnTo>
                  <a:cubicBezTo>
                    <a:pt x="524901" y="21257"/>
                    <a:pt x="523852" y="22437"/>
                    <a:pt x="523852" y="21257"/>
                  </a:cubicBezTo>
                  <a:cubicBezTo>
                    <a:pt x="519655" y="18895"/>
                    <a:pt x="516507" y="23618"/>
                    <a:pt x="513359" y="25980"/>
                  </a:cubicBezTo>
                  <a:cubicBezTo>
                    <a:pt x="510212" y="28342"/>
                    <a:pt x="506015" y="28342"/>
                    <a:pt x="502867" y="30704"/>
                  </a:cubicBezTo>
                  <a:lnTo>
                    <a:pt x="501818" y="30704"/>
                  </a:lnTo>
                  <a:cubicBezTo>
                    <a:pt x="496572" y="31885"/>
                    <a:pt x="491325" y="34247"/>
                    <a:pt x="486079" y="35428"/>
                  </a:cubicBezTo>
                  <a:cubicBezTo>
                    <a:pt x="483981" y="35428"/>
                    <a:pt x="482932" y="36609"/>
                    <a:pt x="480833" y="37789"/>
                  </a:cubicBezTo>
                  <a:cubicBezTo>
                    <a:pt x="477685" y="38970"/>
                    <a:pt x="474538" y="41332"/>
                    <a:pt x="471390" y="42513"/>
                  </a:cubicBezTo>
                  <a:cubicBezTo>
                    <a:pt x="469292" y="43694"/>
                    <a:pt x="466144" y="44875"/>
                    <a:pt x="464046" y="46056"/>
                  </a:cubicBezTo>
                  <a:lnTo>
                    <a:pt x="460898" y="46056"/>
                  </a:lnTo>
                  <a:cubicBezTo>
                    <a:pt x="460898" y="46056"/>
                    <a:pt x="458799" y="46056"/>
                    <a:pt x="457750" y="48418"/>
                  </a:cubicBezTo>
                  <a:cubicBezTo>
                    <a:pt x="453553" y="46056"/>
                    <a:pt x="448307" y="44875"/>
                    <a:pt x="444110" y="42513"/>
                  </a:cubicBezTo>
                  <a:cubicBezTo>
                    <a:pt x="440962" y="41332"/>
                    <a:pt x="433618" y="43694"/>
                    <a:pt x="431519" y="47237"/>
                  </a:cubicBezTo>
                  <a:cubicBezTo>
                    <a:pt x="430470" y="48418"/>
                    <a:pt x="429421" y="49599"/>
                    <a:pt x="428372" y="49599"/>
                  </a:cubicBezTo>
                  <a:cubicBezTo>
                    <a:pt x="427323" y="49599"/>
                    <a:pt x="425224" y="48418"/>
                    <a:pt x="424175" y="48418"/>
                  </a:cubicBezTo>
                  <a:cubicBezTo>
                    <a:pt x="423126" y="48418"/>
                    <a:pt x="422076" y="49599"/>
                    <a:pt x="419978" y="49599"/>
                  </a:cubicBezTo>
                  <a:cubicBezTo>
                    <a:pt x="419978" y="50780"/>
                    <a:pt x="421027" y="51960"/>
                    <a:pt x="421027" y="53141"/>
                  </a:cubicBezTo>
                  <a:cubicBezTo>
                    <a:pt x="417879" y="54322"/>
                    <a:pt x="412633" y="63770"/>
                    <a:pt x="412633" y="68493"/>
                  </a:cubicBezTo>
                  <a:cubicBezTo>
                    <a:pt x="407387" y="70855"/>
                    <a:pt x="401092" y="72036"/>
                    <a:pt x="398993" y="79122"/>
                  </a:cubicBezTo>
                  <a:cubicBezTo>
                    <a:pt x="398993" y="80303"/>
                    <a:pt x="397944" y="80303"/>
                    <a:pt x="397944" y="81483"/>
                  </a:cubicBezTo>
                  <a:cubicBezTo>
                    <a:pt x="391649" y="82664"/>
                    <a:pt x="390599" y="89750"/>
                    <a:pt x="387452" y="95655"/>
                  </a:cubicBezTo>
                  <a:lnTo>
                    <a:pt x="387452" y="98016"/>
                  </a:lnTo>
                  <a:cubicBezTo>
                    <a:pt x="386403" y="98016"/>
                    <a:pt x="385353" y="99197"/>
                    <a:pt x="384304" y="99197"/>
                  </a:cubicBezTo>
                  <a:cubicBezTo>
                    <a:pt x="380107" y="101559"/>
                    <a:pt x="378009" y="105102"/>
                    <a:pt x="376960" y="111006"/>
                  </a:cubicBezTo>
                  <a:cubicBezTo>
                    <a:pt x="375910" y="116911"/>
                    <a:pt x="375910" y="121635"/>
                    <a:pt x="374861" y="127539"/>
                  </a:cubicBezTo>
                  <a:cubicBezTo>
                    <a:pt x="372763" y="126358"/>
                    <a:pt x="369615" y="128720"/>
                    <a:pt x="368566" y="125178"/>
                  </a:cubicBezTo>
                  <a:lnTo>
                    <a:pt x="366467" y="125178"/>
                  </a:lnTo>
                  <a:cubicBezTo>
                    <a:pt x="363320" y="129901"/>
                    <a:pt x="360172" y="134625"/>
                    <a:pt x="357024" y="138168"/>
                  </a:cubicBezTo>
                  <a:cubicBezTo>
                    <a:pt x="353877" y="140530"/>
                    <a:pt x="350729" y="141710"/>
                    <a:pt x="346532" y="144072"/>
                  </a:cubicBezTo>
                  <a:lnTo>
                    <a:pt x="346532" y="146434"/>
                  </a:lnTo>
                  <a:cubicBezTo>
                    <a:pt x="342335" y="145253"/>
                    <a:pt x="339187" y="144072"/>
                    <a:pt x="336040" y="141710"/>
                  </a:cubicBezTo>
                  <a:cubicBezTo>
                    <a:pt x="334990" y="141710"/>
                    <a:pt x="333941" y="140530"/>
                    <a:pt x="333941" y="140530"/>
                  </a:cubicBezTo>
                  <a:cubicBezTo>
                    <a:pt x="332892" y="140530"/>
                    <a:pt x="332892" y="139349"/>
                    <a:pt x="332892" y="139349"/>
                  </a:cubicBezTo>
                  <a:cubicBezTo>
                    <a:pt x="331843" y="139349"/>
                    <a:pt x="331843" y="140530"/>
                    <a:pt x="331843" y="141710"/>
                  </a:cubicBezTo>
                  <a:cubicBezTo>
                    <a:pt x="331843" y="146434"/>
                    <a:pt x="329744" y="145253"/>
                    <a:pt x="327646" y="144072"/>
                  </a:cubicBezTo>
                  <a:cubicBezTo>
                    <a:pt x="325547" y="142891"/>
                    <a:pt x="323449" y="142891"/>
                    <a:pt x="322400" y="146434"/>
                  </a:cubicBezTo>
                  <a:cubicBezTo>
                    <a:pt x="322400" y="147615"/>
                    <a:pt x="321350" y="148796"/>
                    <a:pt x="320301" y="148796"/>
                  </a:cubicBezTo>
                  <a:cubicBezTo>
                    <a:pt x="317153" y="149977"/>
                    <a:pt x="314006" y="151158"/>
                    <a:pt x="312957" y="154701"/>
                  </a:cubicBezTo>
                  <a:cubicBezTo>
                    <a:pt x="311907" y="157062"/>
                    <a:pt x="310858" y="158243"/>
                    <a:pt x="308760" y="160605"/>
                  </a:cubicBezTo>
                  <a:lnTo>
                    <a:pt x="293021" y="160605"/>
                  </a:lnTo>
                  <a:cubicBezTo>
                    <a:pt x="290923" y="160605"/>
                    <a:pt x="288824" y="160605"/>
                    <a:pt x="286726" y="161786"/>
                  </a:cubicBezTo>
                  <a:cubicBezTo>
                    <a:pt x="284627" y="161786"/>
                    <a:pt x="282529" y="162967"/>
                    <a:pt x="279381" y="164148"/>
                  </a:cubicBezTo>
                  <a:cubicBezTo>
                    <a:pt x="277283" y="165329"/>
                    <a:pt x="274135" y="167691"/>
                    <a:pt x="272037" y="168872"/>
                  </a:cubicBezTo>
                  <a:cubicBezTo>
                    <a:pt x="270987" y="170053"/>
                    <a:pt x="269938" y="170053"/>
                    <a:pt x="268889" y="170053"/>
                  </a:cubicBezTo>
                  <a:cubicBezTo>
                    <a:pt x="263643" y="170053"/>
                    <a:pt x="260495" y="173595"/>
                    <a:pt x="257347" y="177138"/>
                  </a:cubicBezTo>
                  <a:cubicBezTo>
                    <a:pt x="254200" y="179500"/>
                    <a:pt x="252101" y="183043"/>
                    <a:pt x="248954" y="185405"/>
                  </a:cubicBezTo>
                  <a:cubicBezTo>
                    <a:pt x="246855" y="186585"/>
                    <a:pt x="244757" y="187766"/>
                    <a:pt x="243707" y="188947"/>
                  </a:cubicBezTo>
                  <a:cubicBezTo>
                    <a:pt x="241609" y="190128"/>
                    <a:pt x="240560" y="192490"/>
                    <a:pt x="238461" y="192490"/>
                  </a:cubicBezTo>
                  <a:cubicBezTo>
                    <a:pt x="236363" y="193671"/>
                    <a:pt x="233215" y="193671"/>
                    <a:pt x="231117" y="192490"/>
                  </a:cubicBezTo>
                  <a:cubicBezTo>
                    <a:pt x="227969" y="190128"/>
                    <a:pt x="224821" y="192490"/>
                    <a:pt x="222723" y="193671"/>
                  </a:cubicBezTo>
                  <a:cubicBezTo>
                    <a:pt x="219575" y="194852"/>
                    <a:pt x="217477" y="197214"/>
                    <a:pt x="215378" y="198395"/>
                  </a:cubicBezTo>
                  <a:cubicBezTo>
                    <a:pt x="216428" y="199576"/>
                    <a:pt x="216428" y="200756"/>
                    <a:pt x="217477" y="201937"/>
                  </a:cubicBezTo>
                  <a:lnTo>
                    <a:pt x="214329" y="201937"/>
                  </a:lnTo>
                  <a:cubicBezTo>
                    <a:pt x="214329" y="203118"/>
                    <a:pt x="213280" y="204299"/>
                    <a:pt x="213280" y="205480"/>
                  </a:cubicBezTo>
                  <a:cubicBezTo>
                    <a:pt x="212231" y="205480"/>
                    <a:pt x="211181" y="204299"/>
                    <a:pt x="211181" y="204299"/>
                  </a:cubicBezTo>
                  <a:cubicBezTo>
                    <a:pt x="208034" y="206661"/>
                    <a:pt x="204886" y="209023"/>
                    <a:pt x="201738" y="210204"/>
                  </a:cubicBezTo>
                  <a:cubicBezTo>
                    <a:pt x="200689" y="210204"/>
                    <a:pt x="199640" y="211385"/>
                    <a:pt x="199640" y="211385"/>
                  </a:cubicBezTo>
                  <a:cubicBezTo>
                    <a:pt x="195443" y="210204"/>
                    <a:pt x="190197" y="211385"/>
                    <a:pt x="187049" y="207842"/>
                  </a:cubicBezTo>
                  <a:cubicBezTo>
                    <a:pt x="184951" y="205480"/>
                    <a:pt x="181803" y="204299"/>
                    <a:pt x="179705" y="201937"/>
                  </a:cubicBezTo>
                  <a:cubicBezTo>
                    <a:pt x="176557" y="199576"/>
                    <a:pt x="172360" y="200756"/>
                    <a:pt x="169212" y="206661"/>
                  </a:cubicBezTo>
                  <a:lnTo>
                    <a:pt x="154523" y="190128"/>
                  </a:lnTo>
                  <a:cubicBezTo>
                    <a:pt x="153474" y="191309"/>
                    <a:pt x="151375" y="192490"/>
                    <a:pt x="150326" y="193671"/>
                  </a:cubicBezTo>
                  <a:cubicBezTo>
                    <a:pt x="149277" y="193671"/>
                    <a:pt x="149277" y="194852"/>
                    <a:pt x="148228" y="194852"/>
                  </a:cubicBezTo>
                  <a:cubicBezTo>
                    <a:pt x="144031" y="196033"/>
                    <a:pt x="139834" y="197214"/>
                    <a:pt x="134588" y="198395"/>
                  </a:cubicBezTo>
                  <a:cubicBezTo>
                    <a:pt x="131440" y="199576"/>
                    <a:pt x="129342" y="200756"/>
                    <a:pt x="129342" y="205480"/>
                  </a:cubicBezTo>
                  <a:cubicBezTo>
                    <a:pt x="125145" y="207842"/>
                    <a:pt x="120948" y="206661"/>
                    <a:pt x="117800" y="211385"/>
                  </a:cubicBezTo>
                  <a:lnTo>
                    <a:pt x="114652" y="211385"/>
                  </a:lnTo>
                  <a:cubicBezTo>
                    <a:pt x="108357" y="207842"/>
                    <a:pt x="103111" y="209023"/>
                    <a:pt x="98914" y="214928"/>
                  </a:cubicBezTo>
                  <a:cubicBezTo>
                    <a:pt x="97865" y="216108"/>
                    <a:pt x="96815" y="216108"/>
                    <a:pt x="94717" y="216108"/>
                  </a:cubicBezTo>
                  <a:cubicBezTo>
                    <a:pt x="89471" y="214928"/>
                    <a:pt x="85274" y="218470"/>
                    <a:pt x="81077" y="222013"/>
                  </a:cubicBezTo>
                  <a:cubicBezTo>
                    <a:pt x="78979" y="224375"/>
                    <a:pt x="76880" y="225556"/>
                    <a:pt x="73732" y="225556"/>
                  </a:cubicBezTo>
                  <a:cubicBezTo>
                    <a:pt x="68486" y="226737"/>
                    <a:pt x="64289" y="226737"/>
                    <a:pt x="59043" y="226737"/>
                  </a:cubicBezTo>
                  <a:cubicBezTo>
                    <a:pt x="59043" y="226737"/>
                    <a:pt x="57994" y="226737"/>
                    <a:pt x="57994" y="227918"/>
                  </a:cubicBezTo>
                  <a:cubicBezTo>
                    <a:pt x="53797" y="233822"/>
                    <a:pt x="48551" y="233822"/>
                    <a:pt x="42256" y="233822"/>
                  </a:cubicBezTo>
                  <a:cubicBezTo>
                    <a:pt x="35960" y="233822"/>
                    <a:pt x="29665" y="235003"/>
                    <a:pt x="24419" y="240908"/>
                  </a:cubicBezTo>
                  <a:cubicBezTo>
                    <a:pt x="21271" y="244451"/>
                    <a:pt x="17074" y="246812"/>
                    <a:pt x="12877" y="250355"/>
                  </a:cubicBezTo>
                  <a:cubicBezTo>
                    <a:pt x="11828" y="250355"/>
                    <a:pt x="10779" y="251536"/>
                    <a:pt x="10779" y="251536"/>
                  </a:cubicBezTo>
                  <a:cubicBezTo>
                    <a:pt x="7631" y="251536"/>
                    <a:pt x="3434" y="250355"/>
                    <a:pt x="286" y="250355"/>
                  </a:cubicBezTo>
                  <a:cubicBezTo>
                    <a:pt x="-763" y="264526"/>
                    <a:pt x="1336" y="279878"/>
                    <a:pt x="2385" y="295230"/>
                  </a:cubicBezTo>
                  <a:close/>
                </a:path>
              </a:pathLst>
            </a:custGeom>
            <a:solidFill>
              <a:srgbClr val="DE9EF4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584204" y="7996210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106599" y="7996210"/>
            <a:ext cx="2616939" cy="118952"/>
          </a:xfrm>
          <a:custGeom>
            <a:avLst/>
            <a:gdLst/>
            <a:ahLst/>
            <a:cxnLst/>
            <a:rect r="r" b="b" t="t" l="l"/>
            <a:pathLst>
              <a:path h="118952" w="2616939">
                <a:moveTo>
                  <a:pt x="0" y="0"/>
                </a:moveTo>
                <a:lnTo>
                  <a:pt x="2616939" y="0"/>
                </a:lnTo>
                <a:lnTo>
                  <a:pt x="2616939" y="118952"/>
                </a:lnTo>
                <a:lnTo>
                  <a:pt x="0" y="11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4598502" y="-843089"/>
            <a:ext cx="8347567" cy="11130089"/>
          </a:xfrm>
          <a:custGeom>
            <a:avLst/>
            <a:gdLst/>
            <a:ahLst/>
            <a:cxnLst/>
            <a:rect r="r" b="b" t="t" l="l"/>
            <a:pathLst>
              <a:path h="11130089" w="8347567">
                <a:moveTo>
                  <a:pt x="0" y="0"/>
                </a:moveTo>
                <a:lnTo>
                  <a:pt x="8347567" y="0"/>
                </a:lnTo>
                <a:lnTo>
                  <a:pt x="8347567" y="11130089"/>
                </a:lnTo>
                <a:lnTo>
                  <a:pt x="0" y="111300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02126" y="983563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Mi nombre 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44037" y="3252221"/>
            <a:ext cx="2733118" cy="4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Hija de padres or</a:t>
            </a: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tegu</a:t>
            </a:r>
            <a:r>
              <a:rPr lang="en-US" b="true" sz="2085" strike="noStrike" u="none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b="true" sz="2085" strike="noStrike" u="none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24521" y="983563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Familia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24521" y="3217211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Experiencia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0103" y="1496716"/>
            <a:ext cx="2885142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5"/>
              </a:lnSpc>
              <a:spcBef>
                <a:spcPct val="0"/>
              </a:spcBef>
            </a:pPr>
            <a:r>
              <a:rPr lang="en-US" sz="2100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JOHANNA</a:t>
            </a:r>
            <a:r>
              <a:rPr lang="en-US" sz="21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LIZETH</a:t>
            </a:r>
            <a:r>
              <a:rPr lang="en-US" sz="21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CARRILLO MONROY</a:t>
            </a:r>
          </a:p>
          <a:p>
            <a:pPr algn="ctr" marL="0" indent="0" lvl="0">
              <a:lnSpc>
                <a:spcPts val="3255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380804" y="3979584"/>
            <a:ext cx="3023739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Omar Iván</a:t>
            </a:r>
            <a:r>
              <a:rPr lang="en-US" sz="20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Carrillo  </a:t>
            </a:r>
          </a:p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Gloria Mercedes Monroy </a:t>
            </a:r>
          </a:p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4109360" y="1477666"/>
            <a:ext cx="2611418" cy="128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9"/>
              </a:lnSpc>
              <a:spcBef>
                <a:spcPct val="0"/>
              </a:spcBef>
            </a:pPr>
            <a:r>
              <a:rPr lang="en-US" b="true" sz="2199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Ma</a:t>
            </a:r>
            <a:r>
              <a:rPr lang="en-US" b="true" sz="2199" strike="noStrike" u="none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dre y esposa e</a:t>
            </a:r>
            <a:r>
              <a:rPr lang="en-US" b="true" sz="2199" strike="noStrike" u="none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j</a:t>
            </a:r>
            <a:r>
              <a:rPr lang="en-US" b="true" sz="2199" strike="noStrike" u="none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emplar</a:t>
            </a:r>
          </a:p>
          <a:p>
            <a:pPr algn="ctr" marL="0" indent="0" lvl="0">
              <a:lnSpc>
                <a:spcPts val="3409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4069751" y="3648156"/>
            <a:ext cx="2690636" cy="125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20 año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s de trabajo social comunitario en la fundación PLAN COLOMBIA y 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otarac Ar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599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o – Ibagué.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2126" y="5450859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Profesión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24521" y="5450859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Experiencia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5790" y="5824364"/>
            <a:ext cx="2993767" cy="1252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0"/>
              </a:lnSpc>
              <a:spcBef>
                <a:spcPct val="0"/>
              </a:spcBef>
            </a:pPr>
            <a:r>
              <a:rPr lang="en-US" sz="1600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Comunicadora Social y Periodista, con énfasis en comunicación organizacional de la Universidad Sergio Arboleda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35345" y="5871989"/>
            <a:ext cx="2825042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sz="1300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Con 10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años de experiencia en el servicio 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públ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ico en di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feren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es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entidades del Esta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o, 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j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fe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de protocolo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d</a:t>
            </a:r>
            <a:r>
              <a:rPr lang="en-US" sz="13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el 2021 al 2023 de la Gobernación del Tolima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02126" y="7684507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Especialista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124521" y="7684507"/>
            <a:ext cx="2581095" cy="2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0"/>
              </a:lnSpc>
              <a:spcBef>
                <a:spcPct val="0"/>
              </a:spcBef>
            </a:pPr>
            <a:r>
              <a:rPr lang="en-US" b="true" sz="2085">
                <a:solidFill>
                  <a:srgbClr val="282938"/>
                </a:solidFill>
                <a:latin typeface="Arimo Bold"/>
                <a:ea typeface="Arimo Bold"/>
                <a:cs typeface="Arimo Bold"/>
                <a:sym typeface="Arimo Bold"/>
              </a:rPr>
              <a:t>Esperiencia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80804" y="8124687"/>
            <a:ext cx="3023739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5"/>
              </a:lnSpc>
              <a:spcBef>
                <a:spcPct val="0"/>
              </a:spcBef>
            </a:pPr>
            <a:r>
              <a:rPr lang="en-US" sz="1700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Especia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lista y Magister en Gerencia Est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ratég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ica de la 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Univ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rsidad</a:t>
            </a:r>
            <a:r>
              <a:rPr lang="en-US" sz="17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 de la Sabana</a:t>
            </a:r>
          </a:p>
          <a:p>
            <a:pPr algn="ctr" marL="0" indent="0" lvl="0">
              <a:lnSpc>
                <a:spcPts val="2635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4109360" y="8197660"/>
            <a:ext cx="2611418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3 años en COLMUNDO </a:t>
            </a:r>
            <a:r>
              <a:rPr lang="en-US" sz="2100" strike="noStrike" u="none">
                <a:solidFill>
                  <a:srgbClr val="282938"/>
                </a:solidFill>
                <a:latin typeface="Arimo"/>
                <a:ea typeface="Arimo"/>
                <a:cs typeface="Arimo"/>
                <a:sym typeface="Arimo"/>
              </a:rPr>
              <a:t>RADIO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2090" y="317563"/>
            <a:ext cx="22657084" cy="9792131"/>
            <a:chOff x="0" y="0"/>
            <a:chExt cx="5967298" cy="2578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7298" cy="2578998"/>
            </a:xfrm>
            <a:custGeom>
              <a:avLst/>
              <a:gdLst/>
              <a:ahLst/>
              <a:cxnLst/>
              <a:rect r="r" b="b" t="t" l="l"/>
              <a:pathLst>
                <a:path h="2578998" w="5967298">
                  <a:moveTo>
                    <a:pt x="0" y="0"/>
                  </a:moveTo>
                  <a:lnTo>
                    <a:pt x="5967298" y="0"/>
                  </a:lnTo>
                  <a:lnTo>
                    <a:pt x="5967298" y="2578998"/>
                  </a:lnTo>
                  <a:lnTo>
                    <a:pt x="0" y="2578998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67298" cy="2626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5400000">
            <a:off x="3837742" y="6131022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6"/>
                </a:moveTo>
                <a:lnTo>
                  <a:pt x="2356463" y="3534696"/>
                </a:lnTo>
                <a:lnTo>
                  <a:pt x="2356463" y="0"/>
                </a:lnTo>
                <a:lnTo>
                  <a:pt x="0" y="0"/>
                </a:lnTo>
                <a:lnTo>
                  <a:pt x="0" y="35346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3518541" y="7005506"/>
            <a:ext cx="1785729" cy="1785729"/>
          </a:xfrm>
          <a:custGeom>
            <a:avLst/>
            <a:gdLst/>
            <a:ahLst/>
            <a:cxnLst/>
            <a:rect r="r" b="b" t="t" l="l"/>
            <a:pathLst>
              <a:path h="1785729" w="1785729">
                <a:moveTo>
                  <a:pt x="0" y="0"/>
                </a:moveTo>
                <a:lnTo>
                  <a:pt x="1785729" y="0"/>
                </a:lnTo>
                <a:lnTo>
                  <a:pt x="1785729" y="1785729"/>
                </a:lnTo>
                <a:lnTo>
                  <a:pt x="0" y="1785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12093795" y="6131022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6"/>
                </a:moveTo>
                <a:lnTo>
                  <a:pt x="2356463" y="3534696"/>
                </a:lnTo>
                <a:lnTo>
                  <a:pt x="2356463" y="0"/>
                </a:lnTo>
                <a:lnTo>
                  <a:pt x="0" y="0"/>
                </a:lnTo>
                <a:lnTo>
                  <a:pt x="0" y="353469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2983730" y="7005506"/>
            <a:ext cx="1785729" cy="1785729"/>
          </a:xfrm>
          <a:custGeom>
            <a:avLst/>
            <a:gdLst/>
            <a:ahLst/>
            <a:cxnLst/>
            <a:rect r="r" b="b" t="t" l="l"/>
            <a:pathLst>
              <a:path h="1785729" w="1785729">
                <a:moveTo>
                  <a:pt x="0" y="0"/>
                </a:moveTo>
                <a:lnTo>
                  <a:pt x="1785729" y="0"/>
                </a:lnTo>
                <a:lnTo>
                  <a:pt x="1785729" y="1785729"/>
                </a:lnTo>
                <a:lnTo>
                  <a:pt x="0" y="17857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7560000">
            <a:off x="4626124" y="3704629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6"/>
                </a:moveTo>
                <a:lnTo>
                  <a:pt x="2356464" y="3534696"/>
                </a:lnTo>
                <a:lnTo>
                  <a:pt x="2356464" y="0"/>
                </a:lnTo>
                <a:lnTo>
                  <a:pt x="0" y="0"/>
                </a:lnTo>
                <a:lnTo>
                  <a:pt x="0" y="353469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true" rot="9720000">
            <a:off x="6690138" y="2205036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5"/>
                </a:moveTo>
                <a:lnTo>
                  <a:pt x="2356463" y="3534695"/>
                </a:lnTo>
                <a:lnTo>
                  <a:pt x="2356463" y="0"/>
                </a:lnTo>
                <a:lnTo>
                  <a:pt x="0" y="0"/>
                </a:lnTo>
                <a:lnTo>
                  <a:pt x="0" y="35346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6788683" y="2504541"/>
            <a:ext cx="1785729" cy="1785729"/>
          </a:xfrm>
          <a:custGeom>
            <a:avLst/>
            <a:gdLst/>
            <a:ahLst/>
            <a:cxnLst/>
            <a:rect r="r" b="b" t="t" l="l"/>
            <a:pathLst>
              <a:path h="1785729" w="1785729">
                <a:moveTo>
                  <a:pt x="0" y="0"/>
                </a:moveTo>
                <a:lnTo>
                  <a:pt x="1785730" y="0"/>
                </a:lnTo>
                <a:lnTo>
                  <a:pt x="1785730" y="1785729"/>
                </a:lnTo>
                <a:lnTo>
                  <a:pt x="0" y="17857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7560000">
            <a:off x="11305412" y="3704629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6"/>
                </a:moveTo>
                <a:lnTo>
                  <a:pt x="2356464" y="3534696"/>
                </a:lnTo>
                <a:lnTo>
                  <a:pt x="2356464" y="0"/>
                </a:lnTo>
                <a:lnTo>
                  <a:pt x="0" y="0"/>
                </a:lnTo>
                <a:lnTo>
                  <a:pt x="0" y="3534696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12079885" y="4223756"/>
            <a:ext cx="1785729" cy="1785729"/>
          </a:xfrm>
          <a:custGeom>
            <a:avLst/>
            <a:gdLst/>
            <a:ahLst/>
            <a:cxnLst/>
            <a:rect r="r" b="b" t="t" l="l"/>
            <a:pathLst>
              <a:path h="1785729" w="1785729">
                <a:moveTo>
                  <a:pt x="0" y="0"/>
                </a:moveTo>
                <a:lnTo>
                  <a:pt x="1785729" y="0"/>
                </a:lnTo>
                <a:lnTo>
                  <a:pt x="1785729" y="1785730"/>
                </a:lnTo>
                <a:lnTo>
                  <a:pt x="0" y="17857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9720000">
            <a:off x="9241399" y="2205036"/>
            <a:ext cx="2356464" cy="3534696"/>
          </a:xfrm>
          <a:custGeom>
            <a:avLst/>
            <a:gdLst/>
            <a:ahLst/>
            <a:cxnLst/>
            <a:rect r="r" b="b" t="t" l="l"/>
            <a:pathLst>
              <a:path h="3534696" w="2356464">
                <a:moveTo>
                  <a:pt x="0" y="3534695"/>
                </a:moveTo>
                <a:lnTo>
                  <a:pt x="2356463" y="3534695"/>
                </a:lnTo>
                <a:lnTo>
                  <a:pt x="2356463" y="0"/>
                </a:lnTo>
                <a:lnTo>
                  <a:pt x="0" y="0"/>
                </a:lnTo>
                <a:lnTo>
                  <a:pt x="0" y="35346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700000">
            <a:off x="9713587" y="2504541"/>
            <a:ext cx="1785729" cy="1785729"/>
          </a:xfrm>
          <a:custGeom>
            <a:avLst/>
            <a:gdLst/>
            <a:ahLst/>
            <a:cxnLst/>
            <a:rect r="r" b="b" t="t" l="l"/>
            <a:pathLst>
              <a:path h="1785729" w="1785729">
                <a:moveTo>
                  <a:pt x="0" y="0"/>
                </a:moveTo>
                <a:lnTo>
                  <a:pt x="1785730" y="0"/>
                </a:lnTo>
                <a:lnTo>
                  <a:pt x="1785730" y="1785729"/>
                </a:lnTo>
                <a:lnTo>
                  <a:pt x="0" y="1785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6168301" y="4853760"/>
            <a:ext cx="5951398" cy="5935948"/>
            <a:chOff x="0" y="0"/>
            <a:chExt cx="660400" cy="6586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658686"/>
            </a:xfrm>
            <a:custGeom>
              <a:avLst/>
              <a:gdLst/>
              <a:ahLst/>
              <a:cxnLst/>
              <a:rect r="r" b="b" t="t" l="l"/>
              <a:pathLst>
                <a:path h="658686" w="660400">
                  <a:moveTo>
                    <a:pt x="220252" y="639617"/>
                  </a:moveTo>
                  <a:cubicBezTo>
                    <a:pt x="254109" y="651130"/>
                    <a:pt x="292600" y="658686"/>
                    <a:pt x="330378" y="658686"/>
                  </a:cubicBezTo>
                  <a:cubicBezTo>
                    <a:pt x="368157" y="658686"/>
                    <a:pt x="404509" y="652209"/>
                    <a:pt x="438009" y="640695"/>
                  </a:cubicBezTo>
                  <a:cubicBezTo>
                    <a:pt x="438723" y="640335"/>
                    <a:pt x="439435" y="640335"/>
                    <a:pt x="440148" y="639976"/>
                  </a:cubicBezTo>
                  <a:cubicBezTo>
                    <a:pt x="565955" y="593921"/>
                    <a:pt x="658618" y="472307"/>
                    <a:pt x="660400" y="33360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3359"/>
                  </a:lnTo>
                  <a:cubicBezTo>
                    <a:pt x="1782" y="473026"/>
                    <a:pt x="93019" y="594641"/>
                    <a:pt x="220252" y="639617"/>
                  </a:cubicBezTo>
                  <a:close/>
                </a:path>
              </a:pathLst>
            </a:custGeom>
            <a:solidFill>
              <a:srgbClr val="832A99"/>
            </a:solidFill>
            <a:ln w="6477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" cy="569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3585824" y="4339913"/>
            <a:ext cx="0" cy="1403662"/>
          </a:xfrm>
          <a:prstGeom prst="line">
            <a:avLst/>
          </a:prstGeom>
          <a:ln cap="flat" w="76200">
            <a:solidFill>
              <a:srgbClr val="FFA3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5934964" y="1927442"/>
            <a:ext cx="0" cy="1400104"/>
          </a:xfrm>
          <a:prstGeom prst="line">
            <a:avLst/>
          </a:prstGeom>
          <a:ln cap="flat" w="76200">
            <a:solidFill>
              <a:srgbClr val="FF7B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2353036" y="1927442"/>
            <a:ext cx="0" cy="1396617"/>
          </a:xfrm>
          <a:prstGeom prst="line">
            <a:avLst/>
          </a:prstGeom>
          <a:ln cap="flat" w="76200">
            <a:solidFill>
              <a:srgbClr val="FF5E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4671123" y="4339913"/>
            <a:ext cx="0" cy="1403662"/>
          </a:xfrm>
          <a:prstGeom prst="line">
            <a:avLst/>
          </a:prstGeom>
          <a:ln cap="flat" w="76200">
            <a:solidFill>
              <a:srgbClr val="D359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5482196" y="7026975"/>
            <a:ext cx="0" cy="1638300"/>
          </a:xfrm>
          <a:prstGeom prst="line">
            <a:avLst/>
          </a:prstGeom>
          <a:ln cap="flat" w="76200">
            <a:solidFill>
              <a:srgbClr val="7765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2805804" y="7026975"/>
            <a:ext cx="0" cy="1641027"/>
          </a:xfrm>
          <a:prstGeom prst="line">
            <a:avLst/>
          </a:prstGeom>
          <a:ln cap="flat" w="76200">
            <a:solidFill>
              <a:srgbClr val="FDCB5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3681995" y="7171284"/>
            <a:ext cx="1454172" cy="1454172"/>
            <a:chOff x="0" y="0"/>
            <a:chExt cx="13716000" cy="1371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0"/>
              <a:stretch>
                <a:fillRect l="0" t="-9600" r="0" b="-960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590304" y="4389535"/>
            <a:ext cx="1454172" cy="1454172"/>
            <a:chOff x="0" y="0"/>
            <a:chExt cx="13716000" cy="137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1"/>
              <a:stretch>
                <a:fillRect l="0" t="-3305" r="-66978" b="-13036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54462" y="2670319"/>
            <a:ext cx="1454172" cy="1454172"/>
            <a:chOff x="0" y="0"/>
            <a:chExt cx="13716000" cy="1371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2"/>
              <a:stretch>
                <a:fillRect l="-887" t="0" r="-88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243524" y="4339913"/>
            <a:ext cx="1503794" cy="1503794"/>
            <a:chOff x="0" y="0"/>
            <a:chExt cx="13716000" cy="1371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3"/>
              <a:stretch>
                <a:fillRect l="0" t="-16666" r="0" b="-16666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622631" y="1908392"/>
            <a:ext cx="28595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Familia Monroy Carrillo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13893" y="2270272"/>
            <a:ext cx="410952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Ana Judith Monroy, Esperanza Monroy, Linda Monroy, Ana Julia Carrillo y Diana Monroy. Honrando y dando continuidad al legado de su padre, Jaime Monroy Carrillo (Q. E. P. D.).</a:t>
            </a:r>
          </a:p>
        </p:txBody>
      </p:sp>
      <p:sp>
        <p:nvSpPr>
          <p:cNvPr name="Freeform 35" id="35"/>
          <p:cNvSpPr/>
          <p:nvPr/>
        </p:nvSpPr>
        <p:spPr>
          <a:xfrm flipH="true" flipV="true" rot="5093262">
            <a:off x="14595501" y="-707565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9878534" y="2670319"/>
            <a:ext cx="1488055" cy="1376451"/>
          </a:xfrm>
          <a:custGeom>
            <a:avLst/>
            <a:gdLst/>
            <a:ahLst/>
            <a:cxnLst/>
            <a:rect r="r" b="b" t="t" l="l"/>
            <a:pathLst>
              <a:path h="1376451" w="1488055">
                <a:moveTo>
                  <a:pt x="0" y="0"/>
                </a:moveTo>
                <a:lnTo>
                  <a:pt x="1488055" y="0"/>
                </a:lnTo>
                <a:lnTo>
                  <a:pt x="1488055" y="1376451"/>
                </a:lnTo>
                <a:lnTo>
                  <a:pt x="0" y="137645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820434" y="5116621"/>
            <a:ext cx="4455645" cy="5270081"/>
          </a:xfrm>
          <a:custGeom>
            <a:avLst/>
            <a:gdLst/>
            <a:ahLst/>
            <a:cxnLst/>
            <a:rect r="r" b="b" t="t" l="l"/>
            <a:pathLst>
              <a:path h="5270081" w="4455645">
                <a:moveTo>
                  <a:pt x="0" y="0"/>
                </a:moveTo>
                <a:lnTo>
                  <a:pt x="4455645" y="0"/>
                </a:lnTo>
                <a:lnTo>
                  <a:pt x="4455645" y="5270081"/>
                </a:lnTo>
                <a:lnTo>
                  <a:pt x="0" y="527008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6364" r="0" b="-6364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454102" y="2508397"/>
            <a:ext cx="227240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Lí</a:t>
            </a: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der de campaña R</a:t>
            </a: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ural</a:t>
            </a:r>
          </a:p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Exconcejal por 16 años</a:t>
            </a:r>
          </a:p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Exalcalde de Ortega del 2020-2023. 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-1703495">
            <a:off x="-138047" y="722972"/>
            <a:ext cx="3536089" cy="2675641"/>
          </a:xfrm>
          <a:custGeom>
            <a:avLst/>
            <a:gdLst/>
            <a:ahLst/>
            <a:cxnLst/>
            <a:rect r="r" b="b" t="t" l="l"/>
            <a:pathLst>
              <a:path h="2675641" w="3536089">
                <a:moveTo>
                  <a:pt x="0" y="0"/>
                </a:moveTo>
                <a:lnTo>
                  <a:pt x="3536089" y="0"/>
                </a:lnTo>
                <a:lnTo>
                  <a:pt x="3536089" y="2675641"/>
                </a:lnTo>
                <a:lnTo>
                  <a:pt x="0" y="2675641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3067788" y="7145953"/>
            <a:ext cx="1617613" cy="1617613"/>
            <a:chOff x="0" y="0"/>
            <a:chExt cx="13716000" cy="13716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513077" y="950178"/>
            <a:ext cx="5261846" cy="79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0"/>
              </a:lnSpc>
            </a:pPr>
            <a:r>
              <a:rPr lang="en-US" sz="5000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BASE POLÍTICA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1199" y="4404785"/>
            <a:ext cx="25146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Gloria Mercedes Monroy Carrillo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75476" y="7274625"/>
            <a:ext cx="216362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Mireya Argenis Tovar Fonseca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21506" y="1860697"/>
            <a:ext cx="19050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Omar Iván Carrillo Ramírez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71199" y="5033435"/>
            <a:ext cx="2514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Líd</a:t>
            </a: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er de ca</a:t>
            </a: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mpaña Urbana</a:t>
            </a: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Exconcejal del 2024-2026.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0670" y="7935709"/>
            <a:ext cx="22184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Líder de la vereda Altozano.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31666" y="4320863"/>
            <a:ext cx="2514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Jennifer Barreto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831666" y="4682813"/>
            <a:ext cx="273270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Líder campesina, cafetera y</a:t>
            </a: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 de asociaciones</a:t>
            </a: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(Tienda del Café).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748896" y="6892613"/>
            <a:ext cx="1815476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Paula Rub</a:t>
            </a:r>
            <a:r>
              <a:rPr lang="en-US" sz="1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io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Sobrina de Rafaela Murillo.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Cesar Tapiero </a:t>
            </a:r>
          </a:p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Líder de zona Rural e hijo de docente orteguna.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5968" y="175960"/>
            <a:ext cx="22657084" cy="9841341"/>
            <a:chOff x="0" y="0"/>
            <a:chExt cx="5967298" cy="2591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7298" cy="2591958"/>
            </a:xfrm>
            <a:custGeom>
              <a:avLst/>
              <a:gdLst/>
              <a:ahLst/>
              <a:cxnLst/>
              <a:rect r="r" b="b" t="t" l="l"/>
              <a:pathLst>
                <a:path h="2591958" w="5967298">
                  <a:moveTo>
                    <a:pt x="0" y="0"/>
                  </a:moveTo>
                  <a:lnTo>
                    <a:pt x="5967298" y="0"/>
                  </a:lnTo>
                  <a:lnTo>
                    <a:pt x="5967298" y="2591958"/>
                  </a:lnTo>
                  <a:lnTo>
                    <a:pt x="0" y="2591958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67298" cy="2639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394849"/>
            <a:ext cx="6243974" cy="7704286"/>
            <a:chOff x="0" y="0"/>
            <a:chExt cx="1644503" cy="2029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4503" cy="2029112"/>
            </a:xfrm>
            <a:custGeom>
              <a:avLst/>
              <a:gdLst/>
              <a:ahLst/>
              <a:cxnLst/>
              <a:rect r="r" b="b" t="t" l="l"/>
              <a:pathLst>
                <a:path h="2029112" w="1644503">
                  <a:moveTo>
                    <a:pt x="0" y="0"/>
                  </a:moveTo>
                  <a:lnTo>
                    <a:pt x="1644503" y="0"/>
                  </a:lnTo>
                  <a:lnTo>
                    <a:pt x="1644503" y="2029112"/>
                  </a:lnTo>
                  <a:lnTo>
                    <a:pt x="0" y="2029112"/>
                  </a:lnTo>
                  <a:close/>
                </a:path>
              </a:pathLst>
            </a:custGeom>
            <a:solidFill>
              <a:srgbClr val="832A99"/>
            </a:solidFill>
            <a:ln w="3238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44503" cy="2076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0" y="2781243"/>
            <a:ext cx="7976046" cy="7750943"/>
          </a:xfrm>
          <a:custGeom>
            <a:avLst/>
            <a:gdLst/>
            <a:ahLst/>
            <a:cxnLst/>
            <a:rect r="r" b="b" t="t" l="l"/>
            <a:pathLst>
              <a:path h="7750943" w="7976046">
                <a:moveTo>
                  <a:pt x="7976046" y="0"/>
                </a:moveTo>
                <a:lnTo>
                  <a:pt x="0" y="0"/>
                </a:lnTo>
                <a:lnTo>
                  <a:pt x="0" y="7750943"/>
                </a:lnTo>
                <a:lnTo>
                  <a:pt x="7976046" y="7750943"/>
                </a:lnTo>
                <a:lnTo>
                  <a:pt x="7976046" y="0"/>
                </a:lnTo>
                <a:close/>
              </a:path>
            </a:pathLst>
          </a:custGeom>
          <a:blipFill>
            <a:blip r:embed="rId2"/>
            <a:stretch>
              <a:fillRect l="-1301" t="-5536" r="-125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4377" y="569608"/>
            <a:ext cx="5541669" cy="87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190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Objetivo General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8103" y="1602048"/>
            <a:ext cx="7262593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599" spc="53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Ser la primera mujer alcaldesa del municipio de Ortega, Tolima.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03331" y="3936659"/>
            <a:ext cx="8893642" cy="8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0"/>
              </a:lnSpc>
              <a:spcBef>
                <a:spcPct val="0"/>
              </a:spcBef>
            </a:pPr>
            <a:r>
              <a:rPr lang="en-US" sz="5100" spc="193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Objetivo Especificos 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5093262">
            <a:off x="14570813" y="-91045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770035">
            <a:off x="13662992" y="195480"/>
            <a:ext cx="4481012" cy="3390632"/>
          </a:xfrm>
          <a:custGeom>
            <a:avLst/>
            <a:gdLst/>
            <a:ahLst/>
            <a:cxnLst/>
            <a:rect r="r" b="b" t="t" l="l"/>
            <a:pathLst>
              <a:path h="3390632" w="4481012">
                <a:moveTo>
                  <a:pt x="0" y="0"/>
                </a:moveTo>
                <a:lnTo>
                  <a:pt x="4481011" y="0"/>
                </a:lnTo>
                <a:lnTo>
                  <a:pt x="4481011" y="3390632"/>
                </a:lnTo>
                <a:lnTo>
                  <a:pt x="0" y="3390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73296" y="5152681"/>
            <a:ext cx="8623677" cy="392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3849"/>
              </a:lnSpc>
              <a:buFont typeface="Arial"/>
              <a:buChar char="•"/>
            </a:pPr>
            <a:r>
              <a:rPr lang="en-US" b="true" sz="3499" spc="5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Construi</a:t>
            </a:r>
            <a:r>
              <a:rPr lang="en-US" b="true" sz="3499" spc="5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 una alternativa diferencial de gobierno para Ortega.</a:t>
            </a:r>
          </a:p>
          <a:p>
            <a:pPr algn="just">
              <a:lnSpc>
                <a:spcPts val="3849"/>
              </a:lnSpc>
            </a:pPr>
          </a:p>
          <a:p>
            <a:pPr algn="just" marL="755647" indent="-377824" lvl="1">
              <a:lnSpc>
                <a:spcPts val="3849"/>
              </a:lnSpc>
              <a:buFont typeface="Arial"/>
              <a:buChar char="•"/>
            </a:pPr>
            <a:r>
              <a:rPr lang="en-US" b="true" sz="3499" spc="5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Posicionar el liderazgo femenino, en los próximos 12 meses como una fuerza de transformación social permanente.</a:t>
            </a:r>
          </a:p>
          <a:p>
            <a:pPr algn="just">
              <a:lnSpc>
                <a:spcPts val="38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50339"/>
            <a:ext cx="32427310" cy="9570690"/>
            <a:chOff x="0" y="0"/>
            <a:chExt cx="8540526" cy="2520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40526" cy="2520675"/>
            </a:xfrm>
            <a:custGeom>
              <a:avLst/>
              <a:gdLst/>
              <a:ahLst/>
              <a:cxnLst/>
              <a:rect r="r" b="b" t="t" l="l"/>
              <a:pathLst>
                <a:path h="2520675" w="8540526">
                  <a:moveTo>
                    <a:pt x="0" y="0"/>
                  </a:moveTo>
                  <a:lnTo>
                    <a:pt x="8540526" y="0"/>
                  </a:lnTo>
                  <a:lnTo>
                    <a:pt x="8540526" y="2520675"/>
                  </a:lnTo>
                  <a:lnTo>
                    <a:pt x="0" y="2520675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40526" cy="25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0082" y="2473598"/>
            <a:ext cx="9279265" cy="6314294"/>
            <a:chOff x="0" y="0"/>
            <a:chExt cx="12372353" cy="8419059"/>
          </a:xfrm>
        </p:grpSpPr>
        <p:sp>
          <p:nvSpPr>
            <p:cNvPr name="Freeform 6" id="6" descr="Ortega_mapa_recortado.png"/>
            <p:cNvSpPr/>
            <p:nvPr/>
          </p:nvSpPr>
          <p:spPr>
            <a:xfrm flipH="false" flipV="false" rot="0">
              <a:off x="0" y="0"/>
              <a:ext cx="12372340" cy="8419084"/>
            </a:xfrm>
            <a:custGeom>
              <a:avLst/>
              <a:gdLst/>
              <a:ahLst/>
              <a:cxnLst/>
              <a:rect r="r" b="b" t="t" l="l"/>
              <a:pathLst>
                <a:path h="8419084" w="12372340">
                  <a:moveTo>
                    <a:pt x="1270000" y="0"/>
                  </a:moveTo>
                  <a:lnTo>
                    <a:pt x="11102340" y="0"/>
                  </a:lnTo>
                  <a:cubicBezTo>
                    <a:pt x="11439165" y="0"/>
                    <a:pt x="11762194" y="133803"/>
                    <a:pt x="12000366" y="371974"/>
                  </a:cubicBezTo>
                  <a:cubicBezTo>
                    <a:pt x="12238537" y="610146"/>
                    <a:pt x="12372340" y="933175"/>
                    <a:pt x="12372340" y="1270000"/>
                  </a:cubicBezTo>
                  <a:lnTo>
                    <a:pt x="12372340" y="7149084"/>
                  </a:lnTo>
                  <a:cubicBezTo>
                    <a:pt x="12372340" y="7850485"/>
                    <a:pt x="11803742" y="8419084"/>
                    <a:pt x="11102340" y="8419084"/>
                  </a:cubicBezTo>
                  <a:lnTo>
                    <a:pt x="1270000" y="8419084"/>
                  </a:lnTo>
                  <a:cubicBezTo>
                    <a:pt x="933175" y="8419084"/>
                    <a:pt x="610146" y="8285280"/>
                    <a:pt x="371974" y="8047110"/>
                  </a:cubicBezTo>
                  <a:cubicBezTo>
                    <a:pt x="133803" y="7808938"/>
                    <a:pt x="0" y="7485909"/>
                    <a:pt x="0" y="7149084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0" r="0" b="-25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57937" y="2784014"/>
            <a:ext cx="6492745" cy="5233195"/>
            <a:chOff x="0" y="0"/>
            <a:chExt cx="8656993" cy="69775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56955" cy="6977618"/>
            </a:xfrm>
            <a:custGeom>
              <a:avLst/>
              <a:gdLst/>
              <a:ahLst/>
              <a:cxnLst/>
              <a:rect r="r" b="b" t="t" l="l"/>
              <a:pathLst>
                <a:path h="6977618" w="8656955">
                  <a:moveTo>
                    <a:pt x="0" y="1150781"/>
                  </a:moveTo>
                  <a:cubicBezTo>
                    <a:pt x="0" y="515273"/>
                    <a:pt x="646049" y="0"/>
                    <a:pt x="1442847" y="0"/>
                  </a:cubicBezTo>
                  <a:lnTo>
                    <a:pt x="7214108" y="0"/>
                  </a:lnTo>
                  <a:cubicBezTo>
                    <a:pt x="8011033" y="0"/>
                    <a:pt x="8656955" y="515273"/>
                    <a:pt x="8656955" y="1150781"/>
                  </a:cubicBezTo>
                  <a:lnTo>
                    <a:pt x="8656955" y="5826833"/>
                  </a:lnTo>
                  <a:cubicBezTo>
                    <a:pt x="8656955" y="6462441"/>
                    <a:pt x="8010906" y="6977618"/>
                    <a:pt x="7214108" y="6977618"/>
                  </a:cubicBezTo>
                  <a:lnTo>
                    <a:pt x="1442847" y="6977618"/>
                  </a:lnTo>
                  <a:cubicBezTo>
                    <a:pt x="646049" y="6977618"/>
                    <a:pt x="0" y="6462340"/>
                    <a:pt x="0" y="58268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255196" y="5319001"/>
            <a:ext cx="5490686" cy="16469"/>
            <a:chOff x="0" y="0"/>
            <a:chExt cx="7320915" cy="21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15" cy="21971"/>
            </a:xfrm>
            <a:custGeom>
              <a:avLst/>
              <a:gdLst/>
              <a:ahLst/>
              <a:cxnLst/>
              <a:rect r="r" b="b" t="t" l="l"/>
              <a:pathLst>
                <a:path h="21971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8E3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275794" y="6233513"/>
            <a:ext cx="5490686" cy="552094"/>
            <a:chOff x="0" y="0"/>
            <a:chExt cx="7320915" cy="736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20915" cy="735961"/>
            </a:xfrm>
            <a:custGeom>
              <a:avLst/>
              <a:gdLst/>
              <a:ahLst/>
              <a:cxnLst/>
              <a:rect r="r" b="b" t="t" l="l"/>
              <a:pathLst>
                <a:path h="735961" w="7320915">
                  <a:moveTo>
                    <a:pt x="0" y="122592"/>
                  </a:moveTo>
                  <a:cubicBezTo>
                    <a:pt x="0" y="54962"/>
                    <a:pt x="34163" y="0"/>
                    <a:pt x="76200" y="0"/>
                  </a:cubicBezTo>
                  <a:lnTo>
                    <a:pt x="7244715" y="0"/>
                  </a:lnTo>
                  <a:cubicBezTo>
                    <a:pt x="7286879" y="0"/>
                    <a:pt x="7320915" y="54962"/>
                    <a:pt x="7320915" y="122592"/>
                  </a:cubicBezTo>
                  <a:lnTo>
                    <a:pt x="7320915" y="613369"/>
                  </a:lnTo>
                  <a:cubicBezTo>
                    <a:pt x="7320915" y="681203"/>
                    <a:pt x="7286752" y="735961"/>
                    <a:pt x="7244715" y="735961"/>
                  </a:cubicBezTo>
                  <a:lnTo>
                    <a:pt x="76200" y="735961"/>
                  </a:lnTo>
                  <a:cubicBezTo>
                    <a:pt x="34036" y="735961"/>
                    <a:pt x="0" y="680999"/>
                    <a:pt x="0" y="613369"/>
                  </a:cubicBezTo>
                  <a:close/>
                </a:path>
              </a:pathLst>
            </a:custGeom>
            <a:solidFill>
              <a:srgbClr val="F0ED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55196" y="6228867"/>
            <a:ext cx="2657494" cy="561384"/>
            <a:chOff x="0" y="0"/>
            <a:chExt cx="3543325" cy="7485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43300" cy="748346"/>
            </a:xfrm>
            <a:custGeom>
              <a:avLst/>
              <a:gdLst/>
              <a:ahLst/>
              <a:cxnLst/>
              <a:rect r="r" b="b" t="t" l="l"/>
              <a:pathLst>
                <a:path h="748346" w="3543300">
                  <a:moveTo>
                    <a:pt x="0" y="124655"/>
                  </a:moveTo>
                  <a:cubicBezTo>
                    <a:pt x="0" y="55887"/>
                    <a:pt x="34163" y="0"/>
                    <a:pt x="76200" y="0"/>
                  </a:cubicBezTo>
                  <a:lnTo>
                    <a:pt x="3467100" y="0"/>
                  </a:lnTo>
                  <a:cubicBezTo>
                    <a:pt x="3509264" y="0"/>
                    <a:pt x="3543300" y="55887"/>
                    <a:pt x="3543300" y="124655"/>
                  </a:cubicBezTo>
                  <a:lnTo>
                    <a:pt x="3543300" y="623691"/>
                  </a:lnTo>
                  <a:cubicBezTo>
                    <a:pt x="3543300" y="692667"/>
                    <a:pt x="3509137" y="748346"/>
                    <a:pt x="3467100" y="748346"/>
                  </a:cubicBezTo>
                  <a:lnTo>
                    <a:pt x="76200" y="748346"/>
                  </a:lnTo>
                  <a:cubicBezTo>
                    <a:pt x="34036" y="748346"/>
                    <a:pt x="0" y="692459"/>
                    <a:pt x="0" y="623691"/>
                  </a:cubicBezTo>
                  <a:close/>
                </a:path>
              </a:pathLst>
            </a:custGeom>
            <a:solidFill>
              <a:srgbClr val="E64A9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959363" y="6228867"/>
            <a:ext cx="2833192" cy="561384"/>
            <a:chOff x="0" y="0"/>
            <a:chExt cx="3777590" cy="7485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7488" cy="748346"/>
            </a:xfrm>
            <a:custGeom>
              <a:avLst/>
              <a:gdLst/>
              <a:ahLst/>
              <a:cxnLst/>
              <a:rect r="r" b="b" t="t" l="l"/>
              <a:pathLst>
                <a:path h="748346" w="3777488">
                  <a:moveTo>
                    <a:pt x="0" y="124655"/>
                  </a:moveTo>
                  <a:cubicBezTo>
                    <a:pt x="0" y="55887"/>
                    <a:pt x="34163" y="0"/>
                    <a:pt x="76200" y="0"/>
                  </a:cubicBezTo>
                  <a:lnTo>
                    <a:pt x="3701288" y="0"/>
                  </a:lnTo>
                  <a:cubicBezTo>
                    <a:pt x="3743452" y="0"/>
                    <a:pt x="3777488" y="55887"/>
                    <a:pt x="3777488" y="124655"/>
                  </a:cubicBezTo>
                  <a:lnTo>
                    <a:pt x="3777488" y="623691"/>
                  </a:lnTo>
                  <a:cubicBezTo>
                    <a:pt x="3777488" y="692667"/>
                    <a:pt x="3743325" y="748346"/>
                    <a:pt x="3701288" y="748346"/>
                  </a:cubicBezTo>
                  <a:lnTo>
                    <a:pt x="76200" y="748346"/>
                  </a:lnTo>
                  <a:cubicBezTo>
                    <a:pt x="34036" y="748346"/>
                    <a:pt x="0" y="692459"/>
                    <a:pt x="0" y="623691"/>
                  </a:cubicBezTo>
                  <a:close/>
                </a:path>
              </a:pathLst>
            </a:custGeom>
            <a:solidFill>
              <a:srgbClr val="6C3CB6"/>
            </a:solidFill>
          </p:spPr>
        </p:sp>
      </p:grpSp>
      <p:sp>
        <p:nvSpPr>
          <p:cNvPr name="Freeform 17" id="17"/>
          <p:cNvSpPr/>
          <p:nvPr/>
        </p:nvSpPr>
        <p:spPr>
          <a:xfrm flipH="true" flipV="true" rot="-10800000">
            <a:off x="15981420" y="6011745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4097550" y="876300"/>
            <a:ext cx="10092899" cy="121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 spc="266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 Radiografía territorial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68912" y="3209290"/>
            <a:ext cx="546325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6C3CB6"/>
                </a:solidFill>
                <a:latin typeface="Arimo Bold"/>
                <a:ea typeface="Arimo Bold"/>
                <a:cs typeface="Arimo Bold"/>
                <a:sym typeface="Arimo Bold"/>
              </a:rPr>
              <a:t>POBLACIÓN TOTAL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22216" y="3563620"/>
            <a:ext cx="2798921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241B37"/>
                </a:solidFill>
                <a:latin typeface="Arimo Bold"/>
                <a:ea typeface="Arimo Bold"/>
                <a:cs typeface="Arimo Bold"/>
                <a:sym typeface="Arimo Bold"/>
              </a:rPr>
              <a:t>36.604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14464" y="4633201"/>
            <a:ext cx="409058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6C627C"/>
                </a:solidFill>
                <a:latin typeface="Arimo"/>
                <a:ea typeface="Arimo"/>
                <a:cs typeface="Arimo"/>
                <a:sym typeface="Arimo"/>
              </a:rPr>
              <a:t>habitantes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01869" y="5621220"/>
            <a:ext cx="333136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41B37"/>
                </a:solidFill>
                <a:latin typeface="Arimo Bold"/>
                <a:ea typeface="Arimo Bold"/>
                <a:cs typeface="Arimo Bold"/>
                <a:sym typeface="Arimo Bold"/>
              </a:rPr>
              <a:t>Distribución por sexo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1869" y="6837877"/>
            <a:ext cx="11528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41B37"/>
                </a:solidFill>
                <a:latin typeface="Arimo Bold"/>
                <a:ea typeface="Arimo Bold"/>
                <a:cs typeface="Arimo Bold"/>
                <a:sym typeface="Arimo Bold"/>
              </a:rPr>
              <a:t>Mujeres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14464" y="6345120"/>
            <a:ext cx="409058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17.725  ·  48,4 %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53770" y="6837877"/>
            <a:ext cx="13221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41B37"/>
                </a:solidFill>
                <a:latin typeface="Arimo Bold"/>
                <a:ea typeface="Arimo Bold"/>
                <a:cs typeface="Arimo Bold"/>
                <a:sym typeface="Arimo Bold"/>
              </a:rPr>
              <a:t>Hombres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49241" y="6342872"/>
            <a:ext cx="409058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18.879  ·  51,6 %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50339"/>
            <a:ext cx="32427310" cy="9570690"/>
            <a:chOff x="0" y="0"/>
            <a:chExt cx="8540526" cy="2520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40526" cy="2520675"/>
            </a:xfrm>
            <a:custGeom>
              <a:avLst/>
              <a:gdLst/>
              <a:ahLst/>
              <a:cxnLst/>
              <a:rect r="r" b="b" t="t" l="l"/>
              <a:pathLst>
                <a:path h="2520675" w="8540526">
                  <a:moveTo>
                    <a:pt x="0" y="0"/>
                  </a:moveTo>
                  <a:lnTo>
                    <a:pt x="8540526" y="0"/>
                  </a:lnTo>
                  <a:lnTo>
                    <a:pt x="8540526" y="2520675"/>
                  </a:lnTo>
                  <a:lnTo>
                    <a:pt x="0" y="2520675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540526" cy="25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8770" y="3442039"/>
            <a:ext cx="16550460" cy="2470814"/>
            <a:chOff x="0" y="0"/>
            <a:chExt cx="22067280" cy="3294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67267" cy="3294380"/>
            </a:xfrm>
            <a:custGeom>
              <a:avLst/>
              <a:gdLst/>
              <a:ahLst/>
              <a:cxnLst/>
              <a:rect r="r" b="b" t="t" l="l"/>
              <a:pathLst>
                <a:path h="3294380" w="22067267">
                  <a:moveTo>
                    <a:pt x="0" y="549021"/>
                  </a:moveTo>
                  <a:cubicBezTo>
                    <a:pt x="0" y="245872"/>
                    <a:pt x="247042" y="0"/>
                    <a:pt x="551634" y="0"/>
                  </a:cubicBezTo>
                  <a:lnTo>
                    <a:pt x="21515634" y="0"/>
                  </a:lnTo>
                  <a:cubicBezTo>
                    <a:pt x="21820353" y="0"/>
                    <a:pt x="22067267" y="245872"/>
                    <a:pt x="22067267" y="549021"/>
                  </a:cubicBezTo>
                  <a:lnTo>
                    <a:pt x="22067267" y="2745359"/>
                  </a:lnTo>
                  <a:cubicBezTo>
                    <a:pt x="22067267" y="3048635"/>
                    <a:pt x="21820225" y="3294380"/>
                    <a:pt x="21515634" y="3294380"/>
                  </a:cubicBezTo>
                  <a:lnTo>
                    <a:pt x="551634" y="3294380"/>
                  </a:lnTo>
                  <a:cubicBezTo>
                    <a:pt x="247042" y="3294380"/>
                    <a:pt x="0" y="3048635"/>
                    <a:pt x="0" y="27453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68724" y="3638035"/>
            <a:ext cx="364067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Mayores de 18 años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99512" y="3569398"/>
            <a:ext cx="164047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3"/>
              </a:lnSpc>
            </a:pPr>
            <a:r>
              <a:rPr lang="en-US" sz="420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25.638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04199" y="4145927"/>
            <a:ext cx="8668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personas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82534" y="4608814"/>
            <a:ext cx="7514135" cy="343167"/>
            <a:chOff x="0" y="0"/>
            <a:chExt cx="10018847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18860" cy="457581"/>
            </a:xfrm>
            <a:custGeom>
              <a:avLst/>
              <a:gdLst/>
              <a:ahLst/>
              <a:cxnLst/>
              <a:rect r="r" b="b" t="t" l="l"/>
              <a:pathLst>
                <a:path h="457581" w="10018860">
                  <a:moveTo>
                    <a:pt x="0" y="0"/>
                  </a:moveTo>
                  <a:lnTo>
                    <a:pt x="10018860" y="0"/>
                  </a:lnTo>
                  <a:lnTo>
                    <a:pt x="1001886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96669" y="4608814"/>
            <a:ext cx="8001925" cy="343167"/>
            <a:chOff x="0" y="0"/>
            <a:chExt cx="10669234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9259" cy="457581"/>
            </a:xfrm>
            <a:custGeom>
              <a:avLst/>
              <a:gdLst/>
              <a:ahLst/>
              <a:cxnLst/>
              <a:rect r="r" b="b" t="t" l="l"/>
              <a:pathLst>
                <a:path h="457581" w="10669259">
                  <a:moveTo>
                    <a:pt x="0" y="0"/>
                  </a:moveTo>
                  <a:lnTo>
                    <a:pt x="10669259" y="0"/>
                  </a:lnTo>
                  <a:lnTo>
                    <a:pt x="10669259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1469" y="5061413"/>
            <a:ext cx="35264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Mujeres: 12.416 (48.4 %)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36564" y="5061413"/>
            <a:ext cx="36965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Hombres: 13.222 (51.6 %)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68770" y="6256020"/>
            <a:ext cx="16550460" cy="2470814"/>
            <a:chOff x="0" y="0"/>
            <a:chExt cx="22067280" cy="3294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67267" cy="3294380"/>
            </a:xfrm>
            <a:custGeom>
              <a:avLst/>
              <a:gdLst/>
              <a:ahLst/>
              <a:cxnLst/>
              <a:rect r="r" b="b" t="t" l="l"/>
              <a:pathLst>
                <a:path h="3294380" w="22067267">
                  <a:moveTo>
                    <a:pt x="0" y="549021"/>
                  </a:moveTo>
                  <a:cubicBezTo>
                    <a:pt x="0" y="245872"/>
                    <a:pt x="247042" y="0"/>
                    <a:pt x="551634" y="0"/>
                  </a:cubicBezTo>
                  <a:lnTo>
                    <a:pt x="21515634" y="0"/>
                  </a:lnTo>
                  <a:cubicBezTo>
                    <a:pt x="21820353" y="0"/>
                    <a:pt x="22067267" y="245872"/>
                    <a:pt x="22067267" y="549021"/>
                  </a:cubicBezTo>
                  <a:lnTo>
                    <a:pt x="22067267" y="2745359"/>
                  </a:lnTo>
                  <a:cubicBezTo>
                    <a:pt x="22067267" y="3048635"/>
                    <a:pt x="21820225" y="3294380"/>
                    <a:pt x="21515634" y="3294380"/>
                  </a:cubicBezTo>
                  <a:lnTo>
                    <a:pt x="551634" y="3294380"/>
                  </a:lnTo>
                  <a:cubicBezTo>
                    <a:pt x="247042" y="3294380"/>
                    <a:pt x="0" y="3048635"/>
                    <a:pt x="0" y="27453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68724" y="6452016"/>
            <a:ext cx="364067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Mayores de 60 años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97867" y="6383379"/>
            <a:ext cx="13421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3"/>
              </a:lnSpc>
            </a:pPr>
            <a:r>
              <a:rPr lang="en-US" sz="420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7.144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04199" y="6959908"/>
            <a:ext cx="8668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personas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82534" y="7422794"/>
            <a:ext cx="7480027" cy="343167"/>
            <a:chOff x="0" y="0"/>
            <a:chExt cx="9973369" cy="4575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73305" cy="457581"/>
            </a:xfrm>
            <a:custGeom>
              <a:avLst/>
              <a:gdLst/>
              <a:ahLst/>
              <a:cxnLst/>
              <a:rect r="r" b="b" t="t" l="l"/>
              <a:pathLst>
                <a:path h="457581" w="9973305">
                  <a:moveTo>
                    <a:pt x="0" y="0"/>
                  </a:moveTo>
                  <a:lnTo>
                    <a:pt x="9973305" y="0"/>
                  </a:lnTo>
                  <a:lnTo>
                    <a:pt x="9973305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62560" y="7422794"/>
            <a:ext cx="8036034" cy="343167"/>
            <a:chOff x="0" y="0"/>
            <a:chExt cx="10714712" cy="457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14686" cy="457581"/>
            </a:xfrm>
            <a:custGeom>
              <a:avLst/>
              <a:gdLst/>
              <a:ahLst/>
              <a:cxnLst/>
              <a:rect r="r" b="b" t="t" l="l"/>
              <a:pathLst>
                <a:path h="457581" w="10714686">
                  <a:moveTo>
                    <a:pt x="0" y="0"/>
                  </a:moveTo>
                  <a:lnTo>
                    <a:pt x="10714686" y="0"/>
                  </a:lnTo>
                  <a:lnTo>
                    <a:pt x="10714686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51469" y="7875394"/>
            <a:ext cx="33559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Mujeres: 3.444 (48.2 %)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07035" y="7875394"/>
            <a:ext cx="352606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Hombres: 3.700 (51.8 %)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44924" y="1547364"/>
            <a:ext cx="10092899" cy="121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 spc="266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Demografía  territorial</a:t>
            </a:r>
          </a:p>
        </p:txBody>
      </p:sp>
      <p:sp>
        <p:nvSpPr>
          <p:cNvPr name="Freeform 28" id="28"/>
          <p:cNvSpPr/>
          <p:nvPr/>
        </p:nvSpPr>
        <p:spPr>
          <a:xfrm flipH="true" flipV="true" rot="4418095">
            <a:off x="15920286" y="-155164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55358" y="599362"/>
            <a:ext cx="22657084" cy="9177016"/>
            <a:chOff x="0" y="0"/>
            <a:chExt cx="5967298" cy="2416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7298" cy="2416992"/>
            </a:xfrm>
            <a:custGeom>
              <a:avLst/>
              <a:gdLst/>
              <a:ahLst/>
              <a:cxnLst/>
              <a:rect r="r" b="b" t="t" l="l"/>
              <a:pathLst>
                <a:path h="2416992" w="5967298">
                  <a:moveTo>
                    <a:pt x="0" y="0"/>
                  </a:moveTo>
                  <a:lnTo>
                    <a:pt x="5967298" y="0"/>
                  </a:lnTo>
                  <a:lnTo>
                    <a:pt x="5967298" y="2416992"/>
                  </a:lnTo>
                  <a:lnTo>
                    <a:pt x="0" y="2416992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967298" cy="246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2520" y="2061505"/>
            <a:ext cx="830695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Potenci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 electoral por puesto de votación – Ortega, Tolima.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31899" y="2813980"/>
            <a:ext cx="3706216" cy="807501"/>
            <a:chOff x="0" y="0"/>
            <a:chExt cx="4941621" cy="10766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1570" cy="1076658"/>
            </a:xfrm>
            <a:custGeom>
              <a:avLst/>
              <a:gdLst/>
              <a:ahLst/>
              <a:cxnLst/>
              <a:rect r="r" b="b" t="t" l="l"/>
              <a:pathLst>
                <a:path h="1076658" w="4941570">
                  <a:moveTo>
                    <a:pt x="0" y="179408"/>
                  </a:moveTo>
                  <a:cubicBezTo>
                    <a:pt x="0" y="80314"/>
                    <a:pt x="98298" y="0"/>
                    <a:pt x="219583" y="0"/>
                  </a:cubicBezTo>
                  <a:lnTo>
                    <a:pt x="4721987" y="0"/>
                  </a:lnTo>
                  <a:cubicBezTo>
                    <a:pt x="4843272" y="0"/>
                    <a:pt x="4941570" y="80314"/>
                    <a:pt x="4941570" y="179408"/>
                  </a:cubicBezTo>
                  <a:lnTo>
                    <a:pt x="4941570" y="897249"/>
                  </a:lnTo>
                  <a:cubicBezTo>
                    <a:pt x="4941570" y="996344"/>
                    <a:pt x="4843272" y="1076658"/>
                    <a:pt x="4721987" y="1076658"/>
                  </a:cubicBezTo>
                  <a:lnTo>
                    <a:pt x="219583" y="1076658"/>
                  </a:lnTo>
                  <a:cubicBezTo>
                    <a:pt x="98298" y="1076658"/>
                    <a:pt x="0" y="996344"/>
                    <a:pt x="0" y="89724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916232" y="2982516"/>
            <a:ext cx="10138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MUJERES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33627" y="2863177"/>
            <a:ext cx="128289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3"/>
              </a:lnSpc>
            </a:pPr>
            <a:r>
              <a:rPr lang="en-US" sz="33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11.251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02840" y="2813980"/>
            <a:ext cx="3706216" cy="807501"/>
            <a:chOff x="0" y="0"/>
            <a:chExt cx="4941621" cy="1076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41570" cy="1076658"/>
            </a:xfrm>
            <a:custGeom>
              <a:avLst/>
              <a:gdLst/>
              <a:ahLst/>
              <a:cxnLst/>
              <a:rect r="r" b="b" t="t" l="l"/>
              <a:pathLst>
                <a:path h="1076658" w="4941570">
                  <a:moveTo>
                    <a:pt x="0" y="179408"/>
                  </a:moveTo>
                  <a:cubicBezTo>
                    <a:pt x="0" y="80314"/>
                    <a:pt x="98298" y="0"/>
                    <a:pt x="219583" y="0"/>
                  </a:cubicBezTo>
                  <a:lnTo>
                    <a:pt x="4721987" y="0"/>
                  </a:lnTo>
                  <a:cubicBezTo>
                    <a:pt x="4843272" y="0"/>
                    <a:pt x="4941570" y="80314"/>
                    <a:pt x="4941570" y="179408"/>
                  </a:cubicBezTo>
                  <a:lnTo>
                    <a:pt x="4941570" y="897249"/>
                  </a:lnTo>
                  <a:cubicBezTo>
                    <a:pt x="4941570" y="996344"/>
                    <a:pt x="4843272" y="1076658"/>
                    <a:pt x="4721987" y="1076658"/>
                  </a:cubicBezTo>
                  <a:lnTo>
                    <a:pt x="219583" y="1076658"/>
                  </a:lnTo>
                  <a:cubicBezTo>
                    <a:pt x="98298" y="1076658"/>
                    <a:pt x="0" y="996344"/>
                    <a:pt x="0" y="89724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87164" y="2982516"/>
            <a:ext cx="10719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HOMBRES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4558" y="2863177"/>
            <a:ext cx="128289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3"/>
              </a:lnSpc>
            </a:pPr>
            <a:r>
              <a:rPr lang="en-US" sz="33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13.060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3771" y="2813980"/>
            <a:ext cx="3706216" cy="807501"/>
            <a:chOff x="0" y="0"/>
            <a:chExt cx="4941621" cy="10766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41570" cy="1076658"/>
            </a:xfrm>
            <a:custGeom>
              <a:avLst/>
              <a:gdLst/>
              <a:ahLst/>
              <a:cxnLst/>
              <a:rect r="r" b="b" t="t" l="l"/>
              <a:pathLst>
                <a:path h="1076658" w="4941570">
                  <a:moveTo>
                    <a:pt x="0" y="179408"/>
                  </a:moveTo>
                  <a:cubicBezTo>
                    <a:pt x="0" y="80314"/>
                    <a:pt x="98298" y="0"/>
                    <a:pt x="219583" y="0"/>
                  </a:cubicBezTo>
                  <a:lnTo>
                    <a:pt x="4721987" y="0"/>
                  </a:lnTo>
                  <a:cubicBezTo>
                    <a:pt x="4843272" y="0"/>
                    <a:pt x="4941570" y="80314"/>
                    <a:pt x="4941570" y="179408"/>
                  </a:cubicBezTo>
                  <a:lnTo>
                    <a:pt x="4941570" y="897249"/>
                  </a:lnTo>
                  <a:cubicBezTo>
                    <a:pt x="4941570" y="996344"/>
                    <a:pt x="4843272" y="1076658"/>
                    <a:pt x="4721987" y="1076658"/>
                  </a:cubicBezTo>
                  <a:lnTo>
                    <a:pt x="219583" y="1076658"/>
                  </a:lnTo>
                  <a:cubicBezTo>
                    <a:pt x="98298" y="1076658"/>
                    <a:pt x="0" y="996344"/>
                    <a:pt x="0" y="89724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58105" y="2982516"/>
            <a:ext cx="6988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TOTAL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75499" y="2863177"/>
            <a:ext cx="128289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3"/>
              </a:lnSpc>
            </a:pPr>
            <a:r>
              <a:rPr lang="en-US" sz="33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24.311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144712" y="2813980"/>
            <a:ext cx="3706216" cy="769401"/>
            <a:chOff x="0" y="0"/>
            <a:chExt cx="4941621" cy="10258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41570" cy="1025858"/>
            </a:xfrm>
            <a:custGeom>
              <a:avLst/>
              <a:gdLst/>
              <a:ahLst/>
              <a:cxnLst/>
              <a:rect r="r" b="b" t="t" l="l"/>
              <a:pathLst>
                <a:path h="1025858" w="4941570">
                  <a:moveTo>
                    <a:pt x="0" y="170943"/>
                  </a:moveTo>
                  <a:cubicBezTo>
                    <a:pt x="0" y="76524"/>
                    <a:pt x="98298" y="0"/>
                    <a:pt x="219583" y="0"/>
                  </a:cubicBezTo>
                  <a:lnTo>
                    <a:pt x="4721987" y="0"/>
                  </a:lnTo>
                  <a:cubicBezTo>
                    <a:pt x="4843272" y="0"/>
                    <a:pt x="4941570" y="76524"/>
                    <a:pt x="4941570" y="170943"/>
                  </a:cubicBezTo>
                  <a:lnTo>
                    <a:pt x="4941570" y="854915"/>
                  </a:lnTo>
                  <a:cubicBezTo>
                    <a:pt x="4941570" y="949334"/>
                    <a:pt x="4843272" y="1025858"/>
                    <a:pt x="4721987" y="1025858"/>
                  </a:cubicBezTo>
                  <a:lnTo>
                    <a:pt x="219583" y="1025858"/>
                  </a:lnTo>
                  <a:cubicBezTo>
                    <a:pt x="98298" y="1025858"/>
                    <a:pt x="0" y="949334"/>
                    <a:pt x="0" y="8549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529036" y="2982516"/>
            <a:ext cx="7458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MESAS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80370" y="2863177"/>
            <a:ext cx="4666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3"/>
              </a:lnSpc>
            </a:pPr>
            <a:r>
              <a:rPr lang="en-US" sz="3302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82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0246" y="4002481"/>
            <a:ext cx="8178841" cy="478145"/>
            <a:chOff x="0" y="0"/>
            <a:chExt cx="10905122" cy="6375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05109" cy="637540"/>
            </a:xfrm>
            <a:custGeom>
              <a:avLst/>
              <a:gdLst/>
              <a:ahLst/>
              <a:cxnLst/>
              <a:rect r="r" b="b" t="t" l="l"/>
              <a:pathLst>
                <a:path h="637540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637540"/>
                  </a:lnTo>
                  <a:lnTo>
                    <a:pt x="0" y="637540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43207" y="4103913"/>
            <a:ext cx="8485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Puesto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87623" y="4103913"/>
            <a:ext cx="9619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Mujeres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75387" y="4103913"/>
            <a:ext cx="110323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Hombres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86761" y="4103913"/>
            <a:ext cx="60805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Total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69641" y="4103913"/>
            <a:ext cx="77819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Mesas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0246" y="4496648"/>
            <a:ext cx="8178841" cy="402650"/>
            <a:chOff x="0" y="0"/>
            <a:chExt cx="10905122" cy="5368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43207" y="4551569"/>
            <a:ext cx="22449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Cabecera municipal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31401" y="4551569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5.486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47185" y="4551569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6.251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75183" y="4531285"/>
            <a:ext cx="72675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11.737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35341" y="4517555"/>
            <a:ext cx="26431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00246" y="4887859"/>
            <a:ext cx="8178841" cy="402650"/>
            <a:chOff x="0" y="0"/>
            <a:chExt cx="10905122" cy="5368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43207" y="4942780"/>
            <a:ext cx="80545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Guaipa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929521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193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28765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230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4059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423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58737" y="4984480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00246" y="5279069"/>
            <a:ext cx="8178841" cy="402650"/>
            <a:chOff x="0" y="0"/>
            <a:chExt cx="10905122" cy="53686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43207" y="5333990"/>
            <a:ext cx="29307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Chapinero (Buenos Aires)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29521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336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2933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05337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740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55137" y="5280984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00246" y="5670280"/>
            <a:ext cx="8178841" cy="402650"/>
            <a:chOff x="0" y="0"/>
            <a:chExt cx="10905122" cy="5368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043207" y="5725201"/>
            <a:ext cx="101691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El Vergel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31401" y="5725201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1.009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778418" y="5704918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1.143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924999" y="5725201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2.152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67500" y="5672195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7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00246" y="6061491"/>
            <a:ext cx="8178841" cy="402650"/>
            <a:chOff x="0" y="0"/>
            <a:chExt cx="10905122" cy="5368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043207" y="6116412"/>
            <a:ext cx="109561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Horizonte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29521" y="6116412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273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62933" y="6116412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384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005337" y="607293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657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67500" y="6130080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00246" y="6452702"/>
            <a:ext cx="8178841" cy="402650"/>
            <a:chOff x="0" y="0"/>
            <a:chExt cx="10905122" cy="53686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043207" y="6507623"/>
            <a:ext cx="9773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La Balsa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061680" y="6507623"/>
            <a:ext cx="26431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71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862933" y="6507623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127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005337" y="6507623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198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55137" y="648733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00246" y="6843913"/>
            <a:ext cx="8178841" cy="402650"/>
            <a:chOff x="0" y="0"/>
            <a:chExt cx="10905122" cy="53686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043207" y="6898834"/>
            <a:ext cx="16768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Hato de Iglesia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929521" y="689883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417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862933" y="689883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442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005337" y="689883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859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255137" y="6845827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00246" y="7235123"/>
            <a:ext cx="8178841" cy="402650"/>
            <a:chOff x="0" y="0"/>
            <a:chExt cx="10905122" cy="53686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043207" y="7290054"/>
            <a:ext cx="13730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La Colorada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929521" y="72900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128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862933" y="72900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197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024059" y="72900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325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267500" y="7237038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00246" y="7626344"/>
            <a:ext cx="8178841" cy="402650"/>
            <a:chOff x="0" y="0"/>
            <a:chExt cx="10905122" cy="5368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1043207" y="7681265"/>
            <a:ext cx="176950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Mesa de Ortega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929521" y="7681265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337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862933" y="7681265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424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040323" y="77127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761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255137" y="762824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900246" y="8017554"/>
            <a:ext cx="8178841" cy="402650"/>
            <a:chOff x="0" y="0"/>
            <a:chExt cx="10905122" cy="53686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043207" y="8072476"/>
            <a:ext cx="178248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Canalí (Chicalá)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4929521" y="807247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131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862933" y="807247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173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024059" y="807247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304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255137" y="801946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900246" y="8408765"/>
            <a:ext cx="8178841" cy="402650"/>
            <a:chOff x="0" y="0"/>
            <a:chExt cx="10905122" cy="53686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1043207" y="8463686"/>
            <a:ext cx="10038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Cedrales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929521" y="846368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297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862933" y="846368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386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005337" y="846368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683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255137" y="846368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9232363" y="4002481"/>
            <a:ext cx="8178841" cy="478145"/>
            <a:chOff x="0" y="0"/>
            <a:chExt cx="10905122" cy="63752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05109" cy="637540"/>
            </a:xfrm>
            <a:custGeom>
              <a:avLst/>
              <a:gdLst/>
              <a:ahLst/>
              <a:cxnLst/>
              <a:rect r="r" b="b" t="t" l="l"/>
              <a:pathLst>
                <a:path h="637540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637540"/>
                  </a:lnTo>
                  <a:lnTo>
                    <a:pt x="0" y="637540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08" id="108"/>
          <p:cNvSpPr txBox="true"/>
          <p:nvPr/>
        </p:nvSpPr>
        <p:spPr>
          <a:xfrm rot="0">
            <a:off x="9375334" y="4103913"/>
            <a:ext cx="8485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Puesto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819740" y="4103913"/>
            <a:ext cx="9619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Mujeres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3943124" y="4103913"/>
            <a:ext cx="110323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Hombres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5218888" y="4103913"/>
            <a:ext cx="60805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Total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6079124" y="4079629"/>
            <a:ext cx="77819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5"/>
              </a:lnSpc>
            </a:pPr>
            <a:r>
              <a:rPr lang="en-US" sz="2004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Mesas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9232363" y="4496648"/>
            <a:ext cx="8178841" cy="402650"/>
            <a:chOff x="0" y="0"/>
            <a:chExt cx="10905122" cy="53686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15" id="115"/>
          <p:cNvSpPr txBox="true"/>
          <p:nvPr/>
        </p:nvSpPr>
        <p:spPr>
          <a:xfrm rot="0">
            <a:off x="9375334" y="4551569"/>
            <a:ext cx="89785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El Maco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261638" y="4551569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134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4195060" y="4551569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192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5298600" y="4583059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326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6402141" y="455156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9232363" y="4887859"/>
            <a:ext cx="8178841" cy="402650"/>
            <a:chOff x="0" y="0"/>
            <a:chExt cx="10905122" cy="53686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22" id="122"/>
          <p:cNvSpPr txBox="true"/>
          <p:nvPr/>
        </p:nvSpPr>
        <p:spPr>
          <a:xfrm rot="0">
            <a:off x="9375334" y="4942780"/>
            <a:ext cx="1558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Olaya Herrera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3261638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484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4195060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459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5324675" y="494278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943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6402141" y="4965973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9232363" y="5279069"/>
            <a:ext cx="8178841" cy="402650"/>
            <a:chOff x="0" y="0"/>
            <a:chExt cx="10905122" cy="53686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29" id="129"/>
          <p:cNvSpPr txBox="true"/>
          <p:nvPr/>
        </p:nvSpPr>
        <p:spPr>
          <a:xfrm rot="0">
            <a:off x="9375334" y="5333990"/>
            <a:ext cx="249507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Corazón de Peralonzo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3261638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206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4195060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230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5298600" y="533399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436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402141" y="5313707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9232363" y="5670280"/>
            <a:ext cx="8178841" cy="402650"/>
            <a:chOff x="0" y="0"/>
            <a:chExt cx="10905122" cy="53686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36" id="136"/>
          <p:cNvSpPr txBox="true"/>
          <p:nvPr/>
        </p:nvSpPr>
        <p:spPr>
          <a:xfrm rot="0">
            <a:off x="9375334" y="5725201"/>
            <a:ext cx="157114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Guatavita Tua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3261638" y="5725201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343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4195060" y="5725201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386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5324675" y="5725201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729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6387239" y="5704918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9232363" y="6061491"/>
            <a:ext cx="8178841" cy="402650"/>
            <a:chOff x="0" y="0"/>
            <a:chExt cx="10905122" cy="536867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43" id="143"/>
          <p:cNvSpPr txBox="true"/>
          <p:nvPr/>
        </p:nvSpPr>
        <p:spPr>
          <a:xfrm rot="0">
            <a:off x="9375334" y="6116412"/>
            <a:ext cx="16372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Los Guayabos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3261638" y="6116412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486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195060" y="6116412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646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5199540" y="6116412"/>
            <a:ext cx="5945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1.132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6377714" y="609612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9232363" y="6452702"/>
            <a:ext cx="8178841" cy="402650"/>
            <a:chOff x="0" y="0"/>
            <a:chExt cx="10905122" cy="536867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50" id="150"/>
          <p:cNvSpPr txBox="true"/>
          <p:nvPr/>
        </p:nvSpPr>
        <p:spPr>
          <a:xfrm rot="0">
            <a:off x="9375334" y="6507623"/>
            <a:ext cx="108263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La Sortija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3261638" y="6507623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255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195060" y="6507623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267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5324675" y="6507623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522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6402141" y="6569602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155" id="155"/>
          <p:cNvGrpSpPr/>
          <p:nvPr/>
        </p:nvGrpSpPr>
        <p:grpSpPr>
          <a:xfrm rot="0">
            <a:off x="9232363" y="6843913"/>
            <a:ext cx="8178841" cy="402650"/>
            <a:chOff x="0" y="0"/>
            <a:chExt cx="10905122" cy="53686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57" id="157"/>
          <p:cNvSpPr txBox="true"/>
          <p:nvPr/>
        </p:nvSpPr>
        <p:spPr>
          <a:xfrm rot="0">
            <a:off x="9375334" y="6898834"/>
            <a:ext cx="12145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Los Andes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3261638" y="689883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4195060" y="689883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113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5334488" y="6878550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220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6387239" y="6898834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162" id="162"/>
          <p:cNvGrpSpPr/>
          <p:nvPr/>
        </p:nvGrpSpPr>
        <p:grpSpPr>
          <a:xfrm rot="0">
            <a:off x="9232363" y="7235123"/>
            <a:ext cx="8178841" cy="402650"/>
            <a:chOff x="0" y="0"/>
            <a:chExt cx="10905122" cy="536867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64" id="164"/>
          <p:cNvSpPr txBox="true"/>
          <p:nvPr/>
        </p:nvSpPr>
        <p:spPr>
          <a:xfrm rot="0">
            <a:off x="9375334" y="7290054"/>
            <a:ext cx="20599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Paloma Peralonso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3261638" y="72900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451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14195060" y="7290054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489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5324675" y="7269766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940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6387239" y="7290054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grpSp>
        <p:nvGrpSpPr>
          <p:cNvPr name="Group 169" id="169"/>
          <p:cNvGrpSpPr/>
          <p:nvPr/>
        </p:nvGrpSpPr>
        <p:grpSpPr>
          <a:xfrm rot="0">
            <a:off x="9232363" y="7626344"/>
            <a:ext cx="8178841" cy="402650"/>
            <a:chOff x="0" y="0"/>
            <a:chExt cx="10905122" cy="536867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71" id="171"/>
          <p:cNvSpPr txBox="true"/>
          <p:nvPr/>
        </p:nvSpPr>
        <p:spPr>
          <a:xfrm rot="0">
            <a:off x="9375334" y="7681265"/>
            <a:ext cx="10957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Santuario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3261638" y="7681265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101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4195060" y="7681265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111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5370445" y="7681265"/>
            <a:ext cx="3964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212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6387239" y="7681265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9232363" y="8017554"/>
            <a:ext cx="8178841" cy="402650"/>
            <a:chOff x="0" y="0"/>
            <a:chExt cx="10905122" cy="53686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5F0FA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78" id="178"/>
          <p:cNvSpPr txBox="true"/>
          <p:nvPr/>
        </p:nvSpPr>
        <p:spPr>
          <a:xfrm rot="0">
            <a:off x="9375334" y="8072476"/>
            <a:ext cx="134695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San Nicolás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3525957" y="807247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4459379" y="807247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5502604" y="807247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9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6387239" y="8095669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name="Group 183" id="183"/>
          <p:cNvGrpSpPr/>
          <p:nvPr/>
        </p:nvGrpSpPr>
        <p:grpSpPr>
          <a:xfrm rot="0">
            <a:off x="9232363" y="8408765"/>
            <a:ext cx="8178841" cy="402650"/>
            <a:chOff x="0" y="0"/>
            <a:chExt cx="10905122" cy="53686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0905109" cy="536829"/>
            </a:xfrm>
            <a:custGeom>
              <a:avLst/>
              <a:gdLst/>
              <a:ahLst/>
              <a:cxnLst/>
              <a:rect r="r" b="b" t="t" l="l"/>
              <a:pathLst>
                <a:path h="536829" w="10905109">
                  <a:moveTo>
                    <a:pt x="0" y="0"/>
                  </a:moveTo>
                  <a:lnTo>
                    <a:pt x="10905109" y="0"/>
                  </a:lnTo>
                  <a:lnTo>
                    <a:pt x="10905109" y="536829"/>
                  </a:lnTo>
                  <a:lnTo>
                    <a:pt x="0" y="536829"/>
                  </a:ln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E1D8EE"/>
              </a:solidFill>
              <a:prstDash val="solid"/>
              <a:miter/>
            </a:ln>
          </p:spPr>
        </p:sp>
      </p:grpSp>
      <p:sp>
        <p:nvSpPr>
          <p:cNvPr name="TextBox 185" id="185"/>
          <p:cNvSpPr txBox="true"/>
          <p:nvPr/>
        </p:nvSpPr>
        <p:spPr>
          <a:xfrm rot="0">
            <a:off x="9375334" y="8463686"/>
            <a:ext cx="20070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Mesa de Cucuana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13525957" y="846368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14459379" y="846368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15502604" y="8463686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16402141" y="8505930"/>
            <a:ext cx="1321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87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Freeform 190" id="190"/>
          <p:cNvSpPr/>
          <p:nvPr/>
        </p:nvSpPr>
        <p:spPr>
          <a:xfrm flipH="true" flipV="true" rot="5093262">
            <a:off x="13875980" y="-1749847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1" id="191"/>
          <p:cNvSpPr txBox="true"/>
          <p:nvPr/>
        </p:nvSpPr>
        <p:spPr>
          <a:xfrm rot="0">
            <a:off x="1043207" y="858184"/>
            <a:ext cx="14175681" cy="121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 spc="266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Población frente a elecciones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42883"/>
            <a:ext cx="18301840" cy="9409273"/>
            <a:chOff x="0" y="0"/>
            <a:chExt cx="24402453" cy="1254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545651"/>
            </a:xfrm>
            <a:custGeom>
              <a:avLst/>
              <a:gdLst/>
              <a:ahLst/>
              <a:cxnLst/>
              <a:rect r="r" b="b" t="t" l="l"/>
              <a:pathLst>
                <a:path h="1254565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545651"/>
                  </a:lnTo>
                  <a:lnTo>
                    <a:pt x="0" y="12545651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2638" y="2879627"/>
            <a:ext cx="8098765" cy="16469"/>
            <a:chOff x="0" y="0"/>
            <a:chExt cx="10798353" cy="21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8302" cy="21971"/>
            </a:xfrm>
            <a:custGeom>
              <a:avLst/>
              <a:gdLst/>
              <a:ahLst/>
              <a:cxnLst/>
              <a:rect r="r" b="b" t="t" l="l"/>
              <a:pathLst>
                <a:path h="21971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1294" y="3229470"/>
            <a:ext cx="8112109" cy="1495835"/>
            <a:chOff x="0" y="0"/>
            <a:chExt cx="10816146" cy="1994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16082" cy="1994408"/>
            </a:xfrm>
            <a:custGeom>
              <a:avLst/>
              <a:gdLst/>
              <a:ahLst/>
              <a:cxnLst/>
              <a:rect r="r" b="b" t="t" l="l"/>
              <a:pathLst>
                <a:path h="1994408" w="10816082">
                  <a:moveTo>
                    <a:pt x="0" y="332359"/>
                  </a:moveTo>
                  <a:cubicBezTo>
                    <a:pt x="0" y="148844"/>
                    <a:pt x="148844" y="0"/>
                    <a:pt x="332359" y="0"/>
                  </a:cubicBezTo>
                  <a:lnTo>
                    <a:pt x="10483723" y="0"/>
                  </a:lnTo>
                  <a:cubicBezTo>
                    <a:pt x="10667365" y="0"/>
                    <a:pt x="10816082" y="148844"/>
                    <a:pt x="10816082" y="332359"/>
                  </a:cubicBezTo>
                  <a:lnTo>
                    <a:pt x="10816082" y="1662049"/>
                  </a:lnTo>
                  <a:cubicBezTo>
                    <a:pt x="10816082" y="1845691"/>
                    <a:pt x="10667238" y="1994408"/>
                    <a:pt x="10483723" y="1994408"/>
                  </a:cubicBezTo>
                  <a:lnTo>
                    <a:pt x="332359" y="1994408"/>
                  </a:lnTo>
                  <a:cubicBezTo>
                    <a:pt x="148844" y="1994408"/>
                    <a:pt x="0" y="1845564"/>
                    <a:pt x="0" y="1662049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07196" y="3476549"/>
            <a:ext cx="1042854" cy="1042854"/>
            <a:chOff x="0" y="0"/>
            <a:chExt cx="1390472" cy="1390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3214" y="3812286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80637" y="4416638"/>
            <a:ext cx="6245657" cy="109814"/>
            <a:chOff x="0" y="0"/>
            <a:chExt cx="8327542" cy="1464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27517" cy="146431"/>
            </a:xfrm>
            <a:custGeom>
              <a:avLst/>
              <a:gdLst/>
              <a:ahLst/>
              <a:cxnLst/>
              <a:rect r="r" b="b" t="t" l="l"/>
              <a:pathLst>
                <a:path h="146431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80637" y="4416638"/>
            <a:ext cx="6245657" cy="109814"/>
            <a:chOff x="0" y="0"/>
            <a:chExt cx="8327542" cy="1464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27517" cy="146431"/>
            </a:xfrm>
            <a:custGeom>
              <a:avLst/>
              <a:gdLst/>
              <a:ahLst/>
              <a:cxnLst/>
              <a:rect r="r" b="b" t="t" l="l"/>
              <a:pathLst>
                <a:path h="146431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1294" y="4849225"/>
            <a:ext cx="8112109" cy="1495835"/>
            <a:chOff x="0" y="0"/>
            <a:chExt cx="10816146" cy="19944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16082" cy="1994408"/>
            </a:xfrm>
            <a:custGeom>
              <a:avLst/>
              <a:gdLst/>
              <a:ahLst/>
              <a:cxnLst/>
              <a:rect r="r" b="b" t="t" l="l"/>
              <a:pathLst>
                <a:path h="1994408" w="10816082">
                  <a:moveTo>
                    <a:pt x="0" y="332359"/>
                  </a:moveTo>
                  <a:cubicBezTo>
                    <a:pt x="0" y="148844"/>
                    <a:pt x="148844" y="0"/>
                    <a:pt x="332359" y="0"/>
                  </a:cubicBezTo>
                  <a:lnTo>
                    <a:pt x="10483723" y="0"/>
                  </a:lnTo>
                  <a:cubicBezTo>
                    <a:pt x="10667365" y="0"/>
                    <a:pt x="10816082" y="148844"/>
                    <a:pt x="10816082" y="332359"/>
                  </a:cubicBezTo>
                  <a:lnTo>
                    <a:pt x="10816082" y="1662049"/>
                  </a:lnTo>
                  <a:cubicBezTo>
                    <a:pt x="10816082" y="1845691"/>
                    <a:pt x="10667238" y="1994408"/>
                    <a:pt x="10483723" y="1994408"/>
                  </a:cubicBezTo>
                  <a:lnTo>
                    <a:pt x="332359" y="1994408"/>
                  </a:lnTo>
                  <a:cubicBezTo>
                    <a:pt x="148844" y="1994408"/>
                    <a:pt x="0" y="1845564"/>
                    <a:pt x="0" y="1662049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07196" y="5096304"/>
            <a:ext cx="1042854" cy="1042854"/>
            <a:chOff x="0" y="0"/>
            <a:chExt cx="1390472" cy="13904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23214" y="5432031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280637" y="6036393"/>
            <a:ext cx="6245657" cy="109814"/>
            <a:chOff x="0" y="0"/>
            <a:chExt cx="8327542" cy="1464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27517" cy="146431"/>
            </a:xfrm>
            <a:custGeom>
              <a:avLst/>
              <a:gdLst/>
              <a:ahLst/>
              <a:cxnLst/>
              <a:rect r="r" b="b" t="t" l="l"/>
              <a:pathLst>
                <a:path h="146431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80637" y="6036393"/>
            <a:ext cx="4503172" cy="109814"/>
            <a:chOff x="0" y="0"/>
            <a:chExt cx="6004230" cy="1464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04179" cy="146431"/>
            </a:xfrm>
            <a:custGeom>
              <a:avLst/>
              <a:gdLst/>
              <a:ahLst/>
              <a:cxnLst/>
              <a:rect r="r" b="b" t="t" l="l"/>
              <a:pathLst>
                <a:path h="146431" w="6004179">
                  <a:moveTo>
                    <a:pt x="0" y="0"/>
                  </a:moveTo>
                  <a:lnTo>
                    <a:pt x="6004179" y="0"/>
                  </a:lnTo>
                  <a:lnTo>
                    <a:pt x="600417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01294" y="6468970"/>
            <a:ext cx="8112109" cy="1495835"/>
            <a:chOff x="0" y="0"/>
            <a:chExt cx="10816146" cy="19944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16082" cy="1994408"/>
            </a:xfrm>
            <a:custGeom>
              <a:avLst/>
              <a:gdLst/>
              <a:ahLst/>
              <a:cxnLst/>
              <a:rect r="r" b="b" t="t" l="l"/>
              <a:pathLst>
                <a:path h="1994408" w="10816082">
                  <a:moveTo>
                    <a:pt x="0" y="332359"/>
                  </a:moveTo>
                  <a:cubicBezTo>
                    <a:pt x="0" y="148844"/>
                    <a:pt x="148844" y="0"/>
                    <a:pt x="332359" y="0"/>
                  </a:cubicBezTo>
                  <a:lnTo>
                    <a:pt x="10483723" y="0"/>
                  </a:lnTo>
                  <a:cubicBezTo>
                    <a:pt x="10667365" y="0"/>
                    <a:pt x="10816082" y="148844"/>
                    <a:pt x="10816082" y="332359"/>
                  </a:cubicBezTo>
                  <a:lnTo>
                    <a:pt x="10816082" y="1662049"/>
                  </a:lnTo>
                  <a:cubicBezTo>
                    <a:pt x="10816082" y="1845691"/>
                    <a:pt x="10667238" y="1994408"/>
                    <a:pt x="10483723" y="1994408"/>
                  </a:cubicBezTo>
                  <a:lnTo>
                    <a:pt x="332359" y="1994408"/>
                  </a:lnTo>
                  <a:cubicBezTo>
                    <a:pt x="148844" y="1994408"/>
                    <a:pt x="0" y="1845564"/>
                    <a:pt x="0" y="1662049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7196" y="6716058"/>
            <a:ext cx="1042854" cy="1042854"/>
            <a:chOff x="0" y="0"/>
            <a:chExt cx="1390472" cy="13904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23214" y="7051786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280637" y="7656147"/>
            <a:ext cx="6245657" cy="109814"/>
            <a:chOff x="0" y="0"/>
            <a:chExt cx="8327542" cy="1464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27517" cy="146431"/>
            </a:xfrm>
            <a:custGeom>
              <a:avLst/>
              <a:gdLst/>
              <a:ahLst/>
              <a:cxnLst/>
              <a:rect r="r" b="b" t="t" l="l"/>
              <a:pathLst>
                <a:path h="146431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80637" y="7656147"/>
            <a:ext cx="534486" cy="109814"/>
            <a:chOff x="0" y="0"/>
            <a:chExt cx="712648" cy="1464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2597" cy="146431"/>
            </a:xfrm>
            <a:custGeom>
              <a:avLst/>
              <a:gdLst/>
              <a:ahLst/>
              <a:cxnLst/>
              <a:rect r="r" b="b" t="t" l="l"/>
              <a:pathLst>
                <a:path h="146431" w="712597">
                  <a:moveTo>
                    <a:pt x="0" y="0"/>
                  </a:moveTo>
                  <a:lnTo>
                    <a:pt x="712597" y="0"/>
                  </a:lnTo>
                  <a:lnTo>
                    <a:pt x="71259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29829" y="8507730"/>
            <a:ext cx="146831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1"/>
              </a:lnSpc>
            </a:pPr>
            <a:r>
              <a:rPr lang="en-US" b="true" sz="400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Total sufragantes reportados: 14.163 · participación: 60,12 %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61627" y="2871392"/>
            <a:ext cx="8016411" cy="16469"/>
            <a:chOff x="0" y="0"/>
            <a:chExt cx="10688549" cy="2195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8574" cy="21971"/>
            </a:xfrm>
            <a:custGeom>
              <a:avLst/>
              <a:gdLst/>
              <a:ahLst/>
              <a:cxnLst/>
              <a:rect r="r" b="b" t="t" l="l"/>
              <a:pathLst>
                <a:path h="21971" w="10688574">
                  <a:moveTo>
                    <a:pt x="0" y="0"/>
                  </a:moveTo>
                  <a:lnTo>
                    <a:pt x="10688574" y="0"/>
                  </a:lnTo>
                  <a:lnTo>
                    <a:pt x="1068857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59734" y="3573437"/>
            <a:ext cx="8029756" cy="1770364"/>
            <a:chOff x="0" y="0"/>
            <a:chExt cx="10706341" cy="23604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06353" cy="2360549"/>
            </a:xfrm>
            <a:custGeom>
              <a:avLst/>
              <a:gdLst/>
              <a:ahLst/>
              <a:cxnLst/>
              <a:rect r="r" b="b" t="t" l="l"/>
              <a:pathLst>
                <a:path h="2360549" w="10706353">
                  <a:moveTo>
                    <a:pt x="0" y="393446"/>
                  </a:moveTo>
                  <a:cubicBezTo>
                    <a:pt x="0" y="176149"/>
                    <a:pt x="176149" y="0"/>
                    <a:pt x="393446" y="0"/>
                  </a:cubicBezTo>
                  <a:lnTo>
                    <a:pt x="10312908" y="0"/>
                  </a:lnTo>
                  <a:cubicBezTo>
                    <a:pt x="10530205" y="0"/>
                    <a:pt x="10706353" y="176149"/>
                    <a:pt x="10706353" y="393446"/>
                  </a:cubicBezTo>
                  <a:lnTo>
                    <a:pt x="10706353" y="1967103"/>
                  </a:lnTo>
                  <a:cubicBezTo>
                    <a:pt x="10706353" y="2184400"/>
                    <a:pt x="10530205" y="2360549"/>
                    <a:pt x="10312908" y="2360549"/>
                  </a:cubicBezTo>
                  <a:lnTo>
                    <a:pt x="393446" y="2360549"/>
                  </a:lnTo>
                  <a:cubicBezTo>
                    <a:pt x="176149" y="2360549"/>
                    <a:pt x="0" y="2184400"/>
                    <a:pt x="0" y="196710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65636" y="3820516"/>
            <a:ext cx="1042854" cy="1042854"/>
            <a:chOff x="0" y="0"/>
            <a:chExt cx="1390472" cy="13904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981663" y="415625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839078" y="5035144"/>
            <a:ext cx="6163304" cy="109814"/>
            <a:chOff x="0" y="0"/>
            <a:chExt cx="8217738" cy="1464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839078" y="5035144"/>
            <a:ext cx="6163304" cy="109814"/>
            <a:chOff x="0" y="0"/>
            <a:chExt cx="8217738" cy="1464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59734" y="5563810"/>
            <a:ext cx="8029756" cy="1770364"/>
            <a:chOff x="0" y="0"/>
            <a:chExt cx="10706341" cy="236048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06353" cy="2360549"/>
            </a:xfrm>
            <a:custGeom>
              <a:avLst/>
              <a:gdLst/>
              <a:ahLst/>
              <a:cxnLst/>
              <a:rect r="r" b="b" t="t" l="l"/>
              <a:pathLst>
                <a:path h="2360549" w="10706353">
                  <a:moveTo>
                    <a:pt x="0" y="393446"/>
                  </a:moveTo>
                  <a:cubicBezTo>
                    <a:pt x="0" y="176149"/>
                    <a:pt x="176149" y="0"/>
                    <a:pt x="393446" y="0"/>
                  </a:cubicBezTo>
                  <a:lnTo>
                    <a:pt x="10312908" y="0"/>
                  </a:lnTo>
                  <a:cubicBezTo>
                    <a:pt x="10530205" y="0"/>
                    <a:pt x="10706353" y="176149"/>
                    <a:pt x="10706353" y="393446"/>
                  </a:cubicBezTo>
                  <a:lnTo>
                    <a:pt x="10706353" y="1967103"/>
                  </a:lnTo>
                  <a:cubicBezTo>
                    <a:pt x="10706353" y="2184400"/>
                    <a:pt x="10530205" y="2360549"/>
                    <a:pt x="10312908" y="2360549"/>
                  </a:cubicBezTo>
                  <a:lnTo>
                    <a:pt x="393446" y="2360549"/>
                  </a:lnTo>
                  <a:cubicBezTo>
                    <a:pt x="176149" y="2360549"/>
                    <a:pt x="0" y="2184400"/>
                    <a:pt x="0" y="1967103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665636" y="5810888"/>
            <a:ext cx="1042854" cy="1042854"/>
            <a:chOff x="0" y="0"/>
            <a:chExt cx="1390472" cy="13904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9981663" y="6146625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839078" y="7025516"/>
            <a:ext cx="6163304" cy="109814"/>
            <a:chOff x="0" y="0"/>
            <a:chExt cx="8217738" cy="1464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839078" y="7025516"/>
            <a:ext cx="2341416" cy="109814"/>
            <a:chOff x="0" y="0"/>
            <a:chExt cx="3121889" cy="1464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21914" cy="146431"/>
            </a:xfrm>
            <a:custGeom>
              <a:avLst/>
              <a:gdLst/>
              <a:ahLst/>
              <a:cxnLst/>
              <a:rect r="r" b="b" t="t" l="l"/>
              <a:pathLst>
                <a:path h="146431" w="3121914">
                  <a:moveTo>
                    <a:pt x="0" y="0"/>
                  </a:moveTo>
                  <a:lnTo>
                    <a:pt x="3121914" y="0"/>
                  </a:lnTo>
                  <a:lnTo>
                    <a:pt x="31219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Freeform 54" id="54"/>
          <p:cNvSpPr/>
          <p:nvPr/>
        </p:nvSpPr>
        <p:spPr>
          <a:xfrm flipH="true" flipV="true" rot="10253775">
            <a:off x="13796703" y="8102297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5" id="55"/>
          <p:cNvGrpSpPr/>
          <p:nvPr/>
        </p:nvGrpSpPr>
        <p:grpSpPr>
          <a:xfrm rot="0">
            <a:off x="912638" y="3377524"/>
            <a:ext cx="1243798" cy="1243798"/>
            <a:chOff x="0" y="0"/>
            <a:chExt cx="13716000" cy="13716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887" t="0" r="-887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99851" y="4961980"/>
            <a:ext cx="1243798" cy="1243798"/>
            <a:chOff x="0" y="0"/>
            <a:chExt cx="13716000" cy="13716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29617" t="0" r="-29617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9851" y="6543084"/>
            <a:ext cx="1243798" cy="1243798"/>
            <a:chOff x="0" y="0"/>
            <a:chExt cx="13716000" cy="13716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8386" r="-170128" b="-54602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58301" y="3721491"/>
            <a:ext cx="1243798" cy="1243798"/>
            <a:chOff x="0" y="0"/>
            <a:chExt cx="13716000" cy="13716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-28737" t="0" r="-28737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58301" y="5677176"/>
            <a:ext cx="1243798" cy="1243798"/>
            <a:chOff x="0" y="0"/>
            <a:chExt cx="13716000" cy="13716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912638" y="1098623"/>
            <a:ext cx="1666613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2019: Alcaldía y Gobernación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5425" y="2481039"/>
            <a:ext cx="21759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Alcaldía de Ortega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308069" y="3445859"/>
            <a:ext cx="64653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Omar Iván Carrillo Ramírez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308069" y="3885124"/>
            <a:ext cx="107168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de la U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308069" y="4091016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7.502 votos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090640" y="4091016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54,43%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308069" y="5065614"/>
            <a:ext cx="64653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Diego Arbey Matiz Garzón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308069" y="5504869"/>
            <a:ext cx="148578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08069" y="5710771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5.409 votos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090640" y="5710771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39,24%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308069" y="6685369"/>
            <a:ext cx="64653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Carlos Humberto Collazos Roncancio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308069" y="7124624"/>
            <a:ext cx="104465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Liberal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308069" y="7330526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642 votos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191367" y="7330526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4,65%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350359" y="2481039"/>
            <a:ext cx="28227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Gobernación del Tolima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866510" y="3789826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José Ricardo Orozco Valero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866510" y="4229090"/>
            <a:ext cx="20168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Coal. Conservador · U · ASI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866510" y="4709522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7.581 votos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564717" y="4795247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65,32%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866510" y="5780208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Rosmery Martínez Rosales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866510" y="6219463"/>
            <a:ext cx="195393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Coal. Cambiando el Tolima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866510" y="6699895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2.880 votos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6564717" y="6785620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24,81%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3497"/>
            <a:ext cx="18301840" cy="9557078"/>
            <a:chOff x="0" y="0"/>
            <a:chExt cx="24402453" cy="12742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742723"/>
            </a:xfrm>
            <a:custGeom>
              <a:avLst/>
              <a:gdLst/>
              <a:ahLst/>
              <a:cxnLst/>
              <a:rect r="r" b="b" t="t" l="l"/>
              <a:pathLst>
                <a:path h="1274272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742723"/>
                  </a:lnTo>
                  <a:lnTo>
                    <a:pt x="0" y="12742723"/>
                  </a:lnTo>
                  <a:close/>
                </a:path>
              </a:pathLst>
            </a:custGeom>
            <a:solidFill>
              <a:srgbClr val="832A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3393" y="2735437"/>
            <a:ext cx="406205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Concejo municipal 2019 · U / MIRA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5961" y="3047333"/>
            <a:ext cx="8071314" cy="16469"/>
            <a:chOff x="0" y="0"/>
            <a:chExt cx="10761751" cy="219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1726" cy="21971"/>
            </a:xfrm>
            <a:custGeom>
              <a:avLst/>
              <a:gdLst/>
              <a:ahLst/>
              <a:cxnLst/>
              <a:rect r="r" b="b" t="t" l="l"/>
              <a:pathLst>
                <a:path h="21971" w="10761726">
                  <a:moveTo>
                    <a:pt x="0" y="0"/>
                  </a:moveTo>
                  <a:lnTo>
                    <a:pt x="10761726" y="0"/>
                  </a:lnTo>
                  <a:lnTo>
                    <a:pt x="10761726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528" y="3530527"/>
            <a:ext cx="3939188" cy="2072354"/>
            <a:chOff x="0" y="0"/>
            <a:chExt cx="5252250" cy="27631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52212" cy="2763139"/>
            </a:xfrm>
            <a:custGeom>
              <a:avLst/>
              <a:gdLst/>
              <a:ahLst/>
              <a:cxnLst/>
              <a:rect r="r" b="b" t="t" l="l"/>
              <a:pathLst>
                <a:path h="2763139" w="5252212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91710" y="0"/>
                  </a:lnTo>
                  <a:cubicBezTo>
                    <a:pt x="5046091" y="0"/>
                    <a:pt x="5252212" y="206248"/>
                    <a:pt x="5252212" y="460502"/>
                  </a:cubicBezTo>
                  <a:lnTo>
                    <a:pt x="5252212" y="2302637"/>
                  </a:lnTo>
                  <a:cubicBezTo>
                    <a:pt x="5252212" y="2557018"/>
                    <a:pt x="5045964" y="2763139"/>
                    <a:pt x="4791710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53430" y="3777605"/>
            <a:ext cx="1042854" cy="1042854"/>
            <a:chOff x="0" y="0"/>
            <a:chExt cx="1390472" cy="1390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69448" y="411334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326872" y="5294214"/>
            <a:ext cx="2072735" cy="109814"/>
            <a:chOff x="0" y="0"/>
            <a:chExt cx="2763647" cy="146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3647" cy="146431"/>
            </a:xfrm>
            <a:custGeom>
              <a:avLst/>
              <a:gdLst/>
              <a:ahLst/>
              <a:cxnLst/>
              <a:rect r="r" b="b" t="t" l="l"/>
              <a:pathLst>
                <a:path h="146431" w="2763647">
                  <a:moveTo>
                    <a:pt x="0" y="0"/>
                  </a:moveTo>
                  <a:lnTo>
                    <a:pt x="2763647" y="0"/>
                  </a:lnTo>
                  <a:lnTo>
                    <a:pt x="276364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26872" y="5294214"/>
            <a:ext cx="2072735" cy="109814"/>
            <a:chOff x="0" y="0"/>
            <a:chExt cx="2763647" cy="146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63647" cy="146431"/>
            </a:xfrm>
            <a:custGeom>
              <a:avLst/>
              <a:gdLst/>
              <a:ahLst/>
              <a:cxnLst/>
              <a:rect r="r" b="b" t="t" l="l"/>
              <a:pathLst>
                <a:path h="146431" w="2763647">
                  <a:moveTo>
                    <a:pt x="0" y="0"/>
                  </a:moveTo>
                  <a:lnTo>
                    <a:pt x="2763647" y="0"/>
                  </a:lnTo>
                  <a:lnTo>
                    <a:pt x="276364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92998" y="3530527"/>
            <a:ext cx="3939188" cy="2072354"/>
            <a:chOff x="0" y="0"/>
            <a:chExt cx="5252250" cy="27631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2212" cy="2763139"/>
            </a:xfrm>
            <a:custGeom>
              <a:avLst/>
              <a:gdLst/>
              <a:ahLst/>
              <a:cxnLst/>
              <a:rect r="r" b="b" t="t" l="l"/>
              <a:pathLst>
                <a:path h="2763139" w="5252212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91710" y="0"/>
                  </a:lnTo>
                  <a:cubicBezTo>
                    <a:pt x="5046091" y="0"/>
                    <a:pt x="5252212" y="206248"/>
                    <a:pt x="5252212" y="460502"/>
                  </a:cubicBezTo>
                  <a:lnTo>
                    <a:pt x="5252212" y="2302637"/>
                  </a:lnTo>
                  <a:cubicBezTo>
                    <a:pt x="5252212" y="2557018"/>
                    <a:pt x="5045964" y="2763139"/>
                    <a:pt x="4791710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298900" y="3777605"/>
            <a:ext cx="1042854" cy="1042854"/>
            <a:chOff x="0" y="0"/>
            <a:chExt cx="1390472" cy="1390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614918" y="411334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72342" y="5294214"/>
            <a:ext cx="2072735" cy="109814"/>
            <a:chOff x="0" y="0"/>
            <a:chExt cx="2763647" cy="1464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63647" cy="146431"/>
            </a:xfrm>
            <a:custGeom>
              <a:avLst/>
              <a:gdLst/>
              <a:ahLst/>
              <a:cxnLst/>
              <a:rect r="r" b="b" t="t" l="l"/>
              <a:pathLst>
                <a:path h="146431" w="2763647">
                  <a:moveTo>
                    <a:pt x="0" y="0"/>
                  </a:moveTo>
                  <a:lnTo>
                    <a:pt x="2763647" y="0"/>
                  </a:lnTo>
                  <a:lnTo>
                    <a:pt x="276364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72342" y="5294214"/>
            <a:ext cx="1618707" cy="109814"/>
            <a:chOff x="0" y="0"/>
            <a:chExt cx="2158276" cy="1464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8238" cy="146431"/>
            </a:xfrm>
            <a:custGeom>
              <a:avLst/>
              <a:gdLst/>
              <a:ahLst/>
              <a:cxnLst/>
              <a:rect r="r" b="b" t="t" l="l"/>
              <a:pathLst>
                <a:path h="146431" w="2158238">
                  <a:moveTo>
                    <a:pt x="0" y="0"/>
                  </a:moveTo>
                  <a:lnTo>
                    <a:pt x="2158238" y="0"/>
                  </a:lnTo>
                  <a:lnTo>
                    <a:pt x="215823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7528" y="6015066"/>
            <a:ext cx="3939188" cy="2072354"/>
            <a:chOff x="0" y="0"/>
            <a:chExt cx="5252250" cy="27631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52212" cy="2763139"/>
            </a:xfrm>
            <a:custGeom>
              <a:avLst/>
              <a:gdLst/>
              <a:ahLst/>
              <a:cxnLst/>
              <a:rect r="r" b="b" t="t" l="l"/>
              <a:pathLst>
                <a:path h="2763139" w="5252212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91710" y="0"/>
                  </a:lnTo>
                  <a:cubicBezTo>
                    <a:pt x="5046091" y="0"/>
                    <a:pt x="5252212" y="206248"/>
                    <a:pt x="5252212" y="460502"/>
                  </a:cubicBezTo>
                  <a:lnTo>
                    <a:pt x="5252212" y="2302637"/>
                  </a:lnTo>
                  <a:cubicBezTo>
                    <a:pt x="5252212" y="2557018"/>
                    <a:pt x="5045964" y="2763139"/>
                    <a:pt x="4791710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53430" y="6262145"/>
            <a:ext cx="1042854" cy="1042854"/>
            <a:chOff x="0" y="0"/>
            <a:chExt cx="1390472" cy="1390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69448" y="6597882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326872" y="7778753"/>
            <a:ext cx="2072735" cy="109814"/>
            <a:chOff x="0" y="0"/>
            <a:chExt cx="2763647" cy="1464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63647" cy="146431"/>
            </a:xfrm>
            <a:custGeom>
              <a:avLst/>
              <a:gdLst/>
              <a:ahLst/>
              <a:cxnLst/>
              <a:rect r="r" b="b" t="t" l="l"/>
              <a:pathLst>
                <a:path h="146431" w="2763647">
                  <a:moveTo>
                    <a:pt x="0" y="0"/>
                  </a:moveTo>
                  <a:lnTo>
                    <a:pt x="2763647" y="0"/>
                  </a:lnTo>
                  <a:lnTo>
                    <a:pt x="276364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326872" y="7778753"/>
            <a:ext cx="1544679" cy="109814"/>
            <a:chOff x="0" y="0"/>
            <a:chExt cx="2059572" cy="1464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59559" cy="146431"/>
            </a:xfrm>
            <a:custGeom>
              <a:avLst/>
              <a:gdLst/>
              <a:ahLst/>
              <a:cxnLst/>
              <a:rect r="r" b="b" t="t" l="l"/>
              <a:pathLst>
                <a:path h="146431" w="2059559">
                  <a:moveTo>
                    <a:pt x="0" y="0"/>
                  </a:moveTo>
                  <a:lnTo>
                    <a:pt x="2059559" y="0"/>
                  </a:lnTo>
                  <a:lnTo>
                    <a:pt x="205955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092998" y="6015066"/>
            <a:ext cx="3939188" cy="2072354"/>
            <a:chOff x="0" y="0"/>
            <a:chExt cx="5252250" cy="27631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52212" cy="2763139"/>
            </a:xfrm>
            <a:custGeom>
              <a:avLst/>
              <a:gdLst/>
              <a:ahLst/>
              <a:cxnLst/>
              <a:rect r="r" b="b" t="t" l="l"/>
              <a:pathLst>
                <a:path h="2763139" w="5252212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91710" y="0"/>
                  </a:lnTo>
                  <a:cubicBezTo>
                    <a:pt x="5046091" y="0"/>
                    <a:pt x="5252212" y="206248"/>
                    <a:pt x="5252212" y="460502"/>
                  </a:cubicBezTo>
                  <a:lnTo>
                    <a:pt x="5252212" y="2302637"/>
                  </a:lnTo>
                  <a:cubicBezTo>
                    <a:pt x="5252212" y="2557018"/>
                    <a:pt x="5045964" y="2763139"/>
                    <a:pt x="4791710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298900" y="6262145"/>
            <a:ext cx="1042854" cy="1042854"/>
            <a:chOff x="0" y="0"/>
            <a:chExt cx="1390472" cy="13904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5614918" y="6597882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472342" y="7778753"/>
            <a:ext cx="2072735" cy="109814"/>
            <a:chOff x="0" y="0"/>
            <a:chExt cx="2763647" cy="1464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63647" cy="146431"/>
            </a:xfrm>
            <a:custGeom>
              <a:avLst/>
              <a:gdLst/>
              <a:ahLst/>
              <a:cxnLst/>
              <a:rect r="r" b="b" t="t" l="l"/>
              <a:pathLst>
                <a:path h="146431" w="2763647">
                  <a:moveTo>
                    <a:pt x="0" y="0"/>
                  </a:moveTo>
                  <a:lnTo>
                    <a:pt x="2763647" y="0"/>
                  </a:lnTo>
                  <a:lnTo>
                    <a:pt x="276364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72342" y="7778753"/>
            <a:ext cx="1110396" cy="109814"/>
            <a:chOff x="0" y="0"/>
            <a:chExt cx="1480528" cy="1464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80566" cy="146431"/>
            </a:xfrm>
            <a:custGeom>
              <a:avLst/>
              <a:gdLst/>
              <a:ahLst/>
              <a:cxnLst/>
              <a:rect r="r" b="b" t="t" l="l"/>
              <a:pathLst>
                <a:path h="146431" w="1480566">
                  <a:moveTo>
                    <a:pt x="0" y="0"/>
                  </a:moveTo>
                  <a:lnTo>
                    <a:pt x="1480566" y="0"/>
                  </a:lnTo>
                  <a:lnTo>
                    <a:pt x="148056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389059" y="2735437"/>
            <a:ext cx="35811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Asamblea Departamental 2019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61627" y="3047333"/>
            <a:ext cx="8016411" cy="16469"/>
            <a:chOff x="0" y="0"/>
            <a:chExt cx="10688549" cy="219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88574" cy="21971"/>
            </a:xfrm>
            <a:custGeom>
              <a:avLst/>
              <a:gdLst/>
              <a:ahLst/>
              <a:cxnLst/>
              <a:rect r="r" b="b" t="t" l="l"/>
              <a:pathLst>
                <a:path h="21971" w="10688574">
                  <a:moveTo>
                    <a:pt x="0" y="0"/>
                  </a:moveTo>
                  <a:lnTo>
                    <a:pt x="10688574" y="0"/>
                  </a:lnTo>
                  <a:lnTo>
                    <a:pt x="1068857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03185" y="3530527"/>
            <a:ext cx="3884285" cy="2072354"/>
            <a:chOff x="0" y="0"/>
            <a:chExt cx="5179047" cy="27631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79060" cy="2763139"/>
            </a:xfrm>
            <a:custGeom>
              <a:avLst/>
              <a:gdLst/>
              <a:ahLst/>
              <a:cxnLst/>
              <a:rect r="r" b="b" t="t" l="l"/>
              <a:pathLst>
                <a:path h="2763139" w="5179060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18558" y="0"/>
                  </a:lnTo>
                  <a:cubicBezTo>
                    <a:pt x="4972939" y="0"/>
                    <a:pt x="5179060" y="206248"/>
                    <a:pt x="5179060" y="460502"/>
                  </a:cubicBezTo>
                  <a:lnTo>
                    <a:pt x="5179060" y="2302637"/>
                  </a:lnTo>
                  <a:cubicBezTo>
                    <a:pt x="5179060" y="2557018"/>
                    <a:pt x="4972812" y="2763139"/>
                    <a:pt x="4718558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09087" y="3777605"/>
            <a:ext cx="1042854" cy="1042854"/>
            <a:chOff x="0" y="0"/>
            <a:chExt cx="1390472" cy="13904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9925114" y="411334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782529" y="5294214"/>
            <a:ext cx="2017824" cy="109814"/>
            <a:chOff x="0" y="0"/>
            <a:chExt cx="2690432" cy="14641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90495" cy="146431"/>
            </a:xfrm>
            <a:custGeom>
              <a:avLst/>
              <a:gdLst/>
              <a:ahLst/>
              <a:cxnLst/>
              <a:rect r="r" b="b" t="t" l="l"/>
              <a:pathLst>
                <a:path h="146431" w="2690495">
                  <a:moveTo>
                    <a:pt x="0" y="0"/>
                  </a:moveTo>
                  <a:lnTo>
                    <a:pt x="2690495" y="0"/>
                  </a:lnTo>
                  <a:lnTo>
                    <a:pt x="269049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782529" y="5294214"/>
            <a:ext cx="2017824" cy="109814"/>
            <a:chOff x="0" y="0"/>
            <a:chExt cx="2690432" cy="1464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0495" cy="146431"/>
            </a:xfrm>
            <a:custGeom>
              <a:avLst/>
              <a:gdLst/>
              <a:ahLst/>
              <a:cxnLst/>
              <a:rect r="r" b="b" t="t" l="l"/>
              <a:pathLst>
                <a:path h="146431" w="2690495">
                  <a:moveTo>
                    <a:pt x="0" y="0"/>
                  </a:moveTo>
                  <a:lnTo>
                    <a:pt x="2690495" y="0"/>
                  </a:lnTo>
                  <a:lnTo>
                    <a:pt x="269049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493753" y="3530527"/>
            <a:ext cx="3884285" cy="2072354"/>
            <a:chOff x="0" y="0"/>
            <a:chExt cx="5179047" cy="276313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79060" cy="2763139"/>
            </a:xfrm>
            <a:custGeom>
              <a:avLst/>
              <a:gdLst/>
              <a:ahLst/>
              <a:cxnLst/>
              <a:rect r="r" b="b" t="t" l="l"/>
              <a:pathLst>
                <a:path h="2763139" w="5179060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18558" y="0"/>
                  </a:lnTo>
                  <a:cubicBezTo>
                    <a:pt x="4972939" y="0"/>
                    <a:pt x="5179060" y="206248"/>
                    <a:pt x="5179060" y="460502"/>
                  </a:cubicBezTo>
                  <a:lnTo>
                    <a:pt x="5179060" y="2302637"/>
                  </a:lnTo>
                  <a:cubicBezTo>
                    <a:pt x="5179060" y="2557018"/>
                    <a:pt x="4972812" y="2763139"/>
                    <a:pt x="4718558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699655" y="3777605"/>
            <a:ext cx="1042854" cy="1042854"/>
            <a:chOff x="0" y="0"/>
            <a:chExt cx="1390472" cy="13904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4015673" y="411334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873097" y="5294214"/>
            <a:ext cx="2017824" cy="109814"/>
            <a:chOff x="0" y="0"/>
            <a:chExt cx="2690432" cy="146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90495" cy="146431"/>
            </a:xfrm>
            <a:custGeom>
              <a:avLst/>
              <a:gdLst/>
              <a:ahLst/>
              <a:cxnLst/>
              <a:rect r="r" b="b" t="t" l="l"/>
              <a:pathLst>
                <a:path h="146431" w="2690495">
                  <a:moveTo>
                    <a:pt x="0" y="0"/>
                  </a:moveTo>
                  <a:lnTo>
                    <a:pt x="2690495" y="0"/>
                  </a:lnTo>
                  <a:lnTo>
                    <a:pt x="269049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873097" y="5294214"/>
            <a:ext cx="1471089" cy="109814"/>
            <a:chOff x="0" y="0"/>
            <a:chExt cx="1961452" cy="1464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61515" cy="146431"/>
            </a:xfrm>
            <a:custGeom>
              <a:avLst/>
              <a:gdLst/>
              <a:ahLst/>
              <a:cxnLst/>
              <a:rect r="r" b="b" t="t" l="l"/>
              <a:pathLst>
                <a:path h="146431" w="1961515">
                  <a:moveTo>
                    <a:pt x="0" y="0"/>
                  </a:moveTo>
                  <a:lnTo>
                    <a:pt x="1961515" y="0"/>
                  </a:lnTo>
                  <a:lnTo>
                    <a:pt x="196151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03185" y="6015066"/>
            <a:ext cx="3884285" cy="2072354"/>
            <a:chOff x="0" y="0"/>
            <a:chExt cx="5179047" cy="276313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79060" cy="2763139"/>
            </a:xfrm>
            <a:custGeom>
              <a:avLst/>
              <a:gdLst/>
              <a:ahLst/>
              <a:cxnLst/>
              <a:rect r="r" b="b" t="t" l="l"/>
              <a:pathLst>
                <a:path h="2763139" w="5179060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18558" y="0"/>
                  </a:lnTo>
                  <a:cubicBezTo>
                    <a:pt x="4972939" y="0"/>
                    <a:pt x="5179060" y="206248"/>
                    <a:pt x="5179060" y="460502"/>
                  </a:cubicBezTo>
                  <a:lnTo>
                    <a:pt x="5179060" y="2302637"/>
                  </a:lnTo>
                  <a:cubicBezTo>
                    <a:pt x="5179060" y="2557018"/>
                    <a:pt x="4972812" y="2763139"/>
                    <a:pt x="4718558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609087" y="6262145"/>
            <a:ext cx="1042854" cy="1042854"/>
            <a:chOff x="0" y="0"/>
            <a:chExt cx="1390472" cy="13904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9917137" y="6597882"/>
            <a:ext cx="4130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LISTA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0782529" y="7778753"/>
            <a:ext cx="2017824" cy="109814"/>
            <a:chOff x="0" y="0"/>
            <a:chExt cx="2690432" cy="14641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90495" cy="146431"/>
            </a:xfrm>
            <a:custGeom>
              <a:avLst/>
              <a:gdLst/>
              <a:ahLst/>
              <a:cxnLst/>
              <a:rect r="r" b="b" t="t" l="l"/>
              <a:pathLst>
                <a:path h="146431" w="2690495">
                  <a:moveTo>
                    <a:pt x="0" y="0"/>
                  </a:moveTo>
                  <a:lnTo>
                    <a:pt x="2690495" y="0"/>
                  </a:lnTo>
                  <a:lnTo>
                    <a:pt x="269049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782529" y="7778753"/>
            <a:ext cx="1350626" cy="109814"/>
            <a:chOff x="0" y="0"/>
            <a:chExt cx="1800835" cy="1464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00860" cy="146431"/>
            </a:xfrm>
            <a:custGeom>
              <a:avLst/>
              <a:gdLst/>
              <a:ahLst/>
              <a:cxnLst/>
              <a:rect r="r" b="b" t="t" l="l"/>
              <a:pathLst>
                <a:path h="146431" w="1800860">
                  <a:moveTo>
                    <a:pt x="0" y="0"/>
                  </a:moveTo>
                  <a:lnTo>
                    <a:pt x="1800860" y="0"/>
                  </a:lnTo>
                  <a:lnTo>
                    <a:pt x="180086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493753" y="6015066"/>
            <a:ext cx="3884285" cy="2072354"/>
            <a:chOff x="0" y="0"/>
            <a:chExt cx="5179047" cy="27631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79060" cy="2763139"/>
            </a:xfrm>
            <a:custGeom>
              <a:avLst/>
              <a:gdLst/>
              <a:ahLst/>
              <a:cxnLst/>
              <a:rect r="r" b="b" t="t" l="l"/>
              <a:pathLst>
                <a:path h="2763139" w="5179060">
                  <a:moveTo>
                    <a:pt x="0" y="460502"/>
                  </a:moveTo>
                  <a:cubicBezTo>
                    <a:pt x="0" y="206248"/>
                    <a:pt x="206248" y="0"/>
                    <a:pt x="460502" y="0"/>
                  </a:cubicBezTo>
                  <a:lnTo>
                    <a:pt x="4718558" y="0"/>
                  </a:lnTo>
                  <a:cubicBezTo>
                    <a:pt x="4972939" y="0"/>
                    <a:pt x="5179060" y="206248"/>
                    <a:pt x="5179060" y="460502"/>
                  </a:cubicBezTo>
                  <a:lnTo>
                    <a:pt x="5179060" y="2302637"/>
                  </a:lnTo>
                  <a:cubicBezTo>
                    <a:pt x="5179060" y="2557018"/>
                    <a:pt x="4972812" y="2763139"/>
                    <a:pt x="4718558" y="2763139"/>
                  </a:cubicBezTo>
                  <a:lnTo>
                    <a:pt x="460502" y="2763139"/>
                  </a:lnTo>
                  <a:cubicBezTo>
                    <a:pt x="206248" y="2763139"/>
                    <a:pt x="0" y="2556891"/>
                    <a:pt x="0" y="230263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699655" y="6262145"/>
            <a:ext cx="1042854" cy="1042854"/>
            <a:chOff x="0" y="0"/>
            <a:chExt cx="1390472" cy="13904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14015673" y="6597882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4873097" y="7778753"/>
            <a:ext cx="2017824" cy="109814"/>
            <a:chOff x="0" y="0"/>
            <a:chExt cx="2690432" cy="14641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690495" cy="146431"/>
            </a:xfrm>
            <a:custGeom>
              <a:avLst/>
              <a:gdLst/>
              <a:ahLst/>
              <a:cxnLst/>
              <a:rect r="r" b="b" t="t" l="l"/>
              <a:pathLst>
                <a:path h="146431" w="2690495">
                  <a:moveTo>
                    <a:pt x="0" y="0"/>
                  </a:moveTo>
                  <a:lnTo>
                    <a:pt x="2690495" y="0"/>
                  </a:lnTo>
                  <a:lnTo>
                    <a:pt x="269049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873097" y="7778753"/>
            <a:ext cx="949843" cy="109814"/>
            <a:chOff x="0" y="0"/>
            <a:chExt cx="1266457" cy="14641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66444" cy="146431"/>
            </a:xfrm>
            <a:custGeom>
              <a:avLst/>
              <a:gdLst/>
              <a:ahLst/>
              <a:cxnLst/>
              <a:rect r="r" b="b" t="t" l="l"/>
              <a:pathLst>
                <a:path h="146431" w="1266444">
                  <a:moveTo>
                    <a:pt x="0" y="0"/>
                  </a:moveTo>
                  <a:lnTo>
                    <a:pt x="1266444" y="0"/>
                  </a:lnTo>
                  <a:lnTo>
                    <a:pt x="126644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52958" y="3624605"/>
            <a:ext cx="1243798" cy="1243798"/>
            <a:chOff x="0" y="0"/>
            <a:chExt cx="13716000" cy="13716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28700" y="6156958"/>
            <a:ext cx="1243798" cy="1243798"/>
            <a:chOff x="0" y="0"/>
            <a:chExt cx="13716000" cy="13716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228544" y="3672418"/>
            <a:ext cx="1243798" cy="1243798"/>
            <a:chOff x="0" y="0"/>
            <a:chExt cx="13716000" cy="13716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5189301" y="6174381"/>
            <a:ext cx="1243798" cy="1243798"/>
            <a:chOff x="0" y="0"/>
            <a:chExt cx="13716000" cy="13716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479861" y="3658417"/>
            <a:ext cx="1243798" cy="1243798"/>
            <a:chOff x="0" y="0"/>
            <a:chExt cx="13716000" cy="13716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39097" t="0" r="-39097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538730" y="6142956"/>
            <a:ext cx="1243798" cy="1243798"/>
            <a:chOff x="0" y="0"/>
            <a:chExt cx="13716000" cy="137160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18007" t="0" r="-18007" b="-4872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592311" y="6174381"/>
            <a:ext cx="1243798" cy="1243798"/>
            <a:chOff x="0" y="0"/>
            <a:chExt cx="13716000" cy="13716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36538" t="0" r="-36538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592311" y="3677133"/>
            <a:ext cx="1243798" cy="1243798"/>
            <a:chOff x="0" y="0"/>
            <a:chExt cx="13716000" cy="13716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68932" t="0" r="-109886" b="-106935"/>
              </a:stretch>
            </a:blipFill>
          </p:spPr>
        </p:sp>
      </p:grpSp>
      <p:sp>
        <p:nvSpPr>
          <p:cNvPr name="Freeform 98" id="98"/>
          <p:cNvSpPr/>
          <p:nvPr/>
        </p:nvSpPr>
        <p:spPr>
          <a:xfrm flipH="true" flipV="true" rot="10253775">
            <a:off x="13796703" y="8102297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9" id="99"/>
          <p:cNvSpPr txBox="true"/>
          <p:nvPr/>
        </p:nvSpPr>
        <p:spPr>
          <a:xfrm rot="0">
            <a:off x="1324584" y="1411142"/>
            <a:ext cx="1565267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2019: Concejo y Asamblea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354304" y="3746916"/>
            <a:ext cx="22924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Luis Alfredo Luna Mendoza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354304" y="4357154"/>
            <a:ext cx="180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Concejo 2019 · U / MIRA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354304" y="496860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420 votos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064670" y="496860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3,31%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499774" y="3746916"/>
            <a:ext cx="22924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Alexander Dimate Sandino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503680" y="4357154"/>
            <a:ext cx="180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Concejo 2019 · U / MIRA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499774" y="496860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328 votos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210140" y="496860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2,58%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354304" y="6231455"/>
            <a:ext cx="22924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Ana Clara Chaguala Peña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354304" y="6765960"/>
            <a:ext cx="180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Concejo 2019 · U / MIRA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354304" y="745313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313 votos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064670" y="745313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2,47%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6499774" y="6231455"/>
            <a:ext cx="22924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Freddy Hernán Lozano Lozano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503680" y="6765960"/>
            <a:ext cx="18008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Concejo 2019 · U / MIRA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499774" y="745313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225 votos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210140" y="745313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1,77%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0809961" y="3746916"/>
            <a:ext cx="22374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José Alejandro Martínez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861491" y="4357154"/>
            <a:ext cx="112585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2019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0809961" y="496860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871 votos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465425" y="496860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8,41%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900529" y="3746916"/>
            <a:ext cx="22374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Carlos Sánchez Serrano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4952059" y="4357154"/>
            <a:ext cx="112585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2019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4900529" y="496860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635 votos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6555993" y="496860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6,13%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809961" y="6231455"/>
            <a:ext cx="22374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Conservador Colombiano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809961" y="6765960"/>
            <a:ext cx="11076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Solo por la lista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0809961" y="745313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583 votos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465425" y="745313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5,63%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900529" y="6231455"/>
            <a:ext cx="223749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Gerardo Yepes Caro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900529" y="6670710"/>
            <a:ext cx="112585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2019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4900529" y="745313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410 votos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6555993" y="745313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3,96%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9762"/>
            <a:ext cx="18301840" cy="9521603"/>
            <a:chOff x="0" y="0"/>
            <a:chExt cx="24402453" cy="1269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695424"/>
            </a:xfrm>
            <a:custGeom>
              <a:avLst/>
              <a:gdLst/>
              <a:ahLst/>
              <a:cxnLst/>
              <a:rect r="r" b="b" t="t" l="l"/>
              <a:pathLst>
                <a:path h="126954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695424"/>
                  </a:lnTo>
                  <a:lnTo>
                    <a:pt x="0" y="12695424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14551" y="1230487"/>
            <a:ext cx="1475124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2022: Cámara y Senado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8137" y="360712"/>
            <a:ext cx="104327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4 /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393" y="2735437"/>
            <a:ext cx="3181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Representante a la Cámara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5961" y="3047333"/>
            <a:ext cx="8071314" cy="16469"/>
            <a:chOff x="0" y="0"/>
            <a:chExt cx="10761751" cy="219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1726" cy="21971"/>
            </a:xfrm>
            <a:custGeom>
              <a:avLst/>
              <a:gdLst/>
              <a:ahLst/>
              <a:cxnLst/>
              <a:rect r="r" b="b" t="t" l="l"/>
              <a:pathLst>
                <a:path h="21971" w="10761726">
                  <a:moveTo>
                    <a:pt x="0" y="0"/>
                  </a:moveTo>
                  <a:lnTo>
                    <a:pt x="10761726" y="0"/>
                  </a:lnTo>
                  <a:lnTo>
                    <a:pt x="10761726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2626" y="3406697"/>
            <a:ext cx="8084658" cy="1633099"/>
            <a:chOff x="0" y="0"/>
            <a:chExt cx="10779544" cy="21774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79633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79633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416667" y="0"/>
                  </a:lnTo>
                  <a:cubicBezTo>
                    <a:pt x="10617074" y="0"/>
                    <a:pt x="10779633" y="162433"/>
                    <a:pt x="10779633" y="362966"/>
                  </a:cubicBezTo>
                  <a:lnTo>
                    <a:pt x="10779633" y="1814576"/>
                  </a:lnTo>
                  <a:cubicBezTo>
                    <a:pt x="10779633" y="2014982"/>
                    <a:pt x="10617200" y="2177542"/>
                    <a:pt x="10416667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528" y="3653776"/>
            <a:ext cx="1042854" cy="1042854"/>
            <a:chOff x="0" y="0"/>
            <a:chExt cx="1390472" cy="13904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14546" y="398951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271970" y="4731129"/>
            <a:ext cx="6218206" cy="109814"/>
            <a:chOff x="0" y="0"/>
            <a:chExt cx="8290941" cy="146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271970" y="4731129"/>
            <a:ext cx="6218206" cy="109814"/>
            <a:chOff x="0" y="0"/>
            <a:chExt cx="8290941" cy="146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2626" y="5191168"/>
            <a:ext cx="8084658" cy="1633099"/>
            <a:chOff x="0" y="0"/>
            <a:chExt cx="10779544" cy="21774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79633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79633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416667" y="0"/>
                  </a:lnTo>
                  <a:cubicBezTo>
                    <a:pt x="10617074" y="0"/>
                    <a:pt x="10779633" y="162433"/>
                    <a:pt x="10779633" y="362966"/>
                  </a:cubicBezTo>
                  <a:lnTo>
                    <a:pt x="10779633" y="1814576"/>
                  </a:lnTo>
                  <a:cubicBezTo>
                    <a:pt x="10779633" y="2014982"/>
                    <a:pt x="10617200" y="2177542"/>
                    <a:pt x="10416667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8528" y="5438256"/>
            <a:ext cx="1042854" cy="1042854"/>
            <a:chOff x="0" y="0"/>
            <a:chExt cx="1390472" cy="1390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14546" y="5773984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71970" y="6515610"/>
            <a:ext cx="6218206" cy="109814"/>
            <a:chOff x="0" y="0"/>
            <a:chExt cx="8290941" cy="1464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271970" y="6515610"/>
            <a:ext cx="3051924" cy="109814"/>
            <a:chOff x="0" y="0"/>
            <a:chExt cx="4069232" cy="1464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9207" cy="146431"/>
            </a:xfrm>
            <a:custGeom>
              <a:avLst/>
              <a:gdLst/>
              <a:ahLst/>
              <a:cxnLst/>
              <a:rect r="r" b="b" t="t" l="l"/>
              <a:pathLst>
                <a:path h="146431" w="4069207">
                  <a:moveTo>
                    <a:pt x="0" y="0"/>
                  </a:moveTo>
                  <a:lnTo>
                    <a:pt x="4069207" y="0"/>
                  </a:lnTo>
                  <a:lnTo>
                    <a:pt x="406920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92626" y="6975648"/>
            <a:ext cx="8084658" cy="1633099"/>
            <a:chOff x="0" y="0"/>
            <a:chExt cx="10779544" cy="21774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79633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79633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416667" y="0"/>
                  </a:lnTo>
                  <a:cubicBezTo>
                    <a:pt x="10617074" y="0"/>
                    <a:pt x="10779633" y="162433"/>
                    <a:pt x="10779633" y="362966"/>
                  </a:cubicBezTo>
                  <a:lnTo>
                    <a:pt x="10779633" y="1814576"/>
                  </a:lnTo>
                  <a:cubicBezTo>
                    <a:pt x="10779633" y="2014982"/>
                    <a:pt x="10617200" y="2177542"/>
                    <a:pt x="10416667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528" y="7222727"/>
            <a:ext cx="1042854" cy="1042854"/>
            <a:chOff x="0" y="0"/>
            <a:chExt cx="1390472" cy="13904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414546" y="7558454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271970" y="8300080"/>
            <a:ext cx="6218206" cy="109814"/>
            <a:chOff x="0" y="0"/>
            <a:chExt cx="8290941" cy="1464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271970" y="8300080"/>
            <a:ext cx="170593" cy="109814"/>
            <a:chOff x="0" y="0"/>
            <a:chExt cx="227457" cy="1464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7457" cy="146431"/>
            </a:xfrm>
            <a:custGeom>
              <a:avLst/>
              <a:gdLst/>
              <a:ahLst/>
              <a:cxnLst/>
              <a:rect r="r" b="b" t="t" l="l"/>
              <a:pathLst>
                <a:path h="146431" w="227457">
                  <a:moveTo>
                    <a:pt x="0" y="0"/>
                  </a:moveTo>
                  <a:lnTo>
                    <a:pt x="227457" y="0"/>
                  </a:lnTo>
                  <a:lnTo>
                    <a:pt x="22745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389059" y="2735437"/>
            <a:ext cx="8951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Senado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61627" y="3047333"/>
            <a:ext cx="8016411" cy="16469"/>
            <a:chOff x="0" y="0"/>
            <a:chExt cx="10688549" cy="2195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88574" cy="21971"/>
            </a:xfrm>
            <a:custGeom>
              <a:avLst/>
              <a:gdLst/>
              <a:ahLst/>
              <a:cxnLst/>
              <a:rect r="r" b="b" t="t" l="l"/>
              <a:pathLst>
                <a:path h="21971" w="10688574">
                  <a:moveTo>
                    <a:pt x="0" y="0"/>
                  </a:moveTo>
                  <a:lnTo>
                    <a:pt x="10688574" y="0"/>
                  </a:lnTo>
                  <a:lnTo>
                    <a:pt x="1068857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48283" y="3406697"/>
            <a:ext cx="8029756" cy="1633099"/>
            <a:chOff x="0" y="0"/>
            <a:chExt cx="10706341" cy="21774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06354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06354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343388" y="0"/>
                  </a:lnTo>
                  <a:cubicBezTo>
                    <a:pt x="10543794" y="0"/>
                    <a:pt x="10706354" y="162433"/>
                    <a:pt x="10706354" y="362966"/>
                  </a:cubicBezTo>
                  <a:lnTo>
                    <a:pt x="10706354" y="1814576"/>
                  </a:lnTo>
                  <a:cubicBezTo>
                    <a:pt x="10706354" y="2014982"/>
                    <a:pt x="10543921" y="2177542"/>
                    <a:pt x="10343388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554185" y="3653776"/>
            <a:ext cx="1042854" cy="1042854"/>
            <a:chOff x="0" y="0"/>
            <a:chExt cx="1390472" cy="13904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870212" y="398951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727626" y="4731129"/>
            <a:ext cx="6163304" cy="109814"/>
            <a:chOff x="0" y="0"/>
            <a:chExt cx="8217738" cy="14641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27626" y="4731129"/>
            <a:ext cx="6163304" cy="109814"/>
            <a:chOff x="0" y="0"/>
            <a:chExt cx="8217738" cy="1464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48283" y="5191168"/>
            <a:ext cx="8029756" cy="1633099"/>
            <a:chOff x="0" y="0"/>
            <a:chExt cx="10706341" cy="21774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06354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06354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343388" y="0"/>
                  </a:lnTo>
                  <a:cubicBezTo>
                    <a:pt x="10543794" y="0"/>
                    <a:pt x="10706354" y="162433"/>
                    <a:pt x="10706354" y="362966"/>
                  </a:cubicBezTo>
                  <a:lnTo>
                    <a:pt x="10706354" y="1814576"/>
                  </a:lnTo>
                  <a:cubicBezTo>
                    <a:pt x="10706354" y="2014982"/>
                    <a:pt x="10543921" y="2177542"/>
                    <a:pt x="10343388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554185" y="5438256"/>
            <a:ext cx="1042854" cy="1042854"/>
            <a:chOff x="0" y="0"/>
            <a:chExt cx="1390472" cy="13904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9862235" y="5773984"/>
            <a:ext cx="4130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LISTA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727626" y="6515610"/>
            <a:ext cx="6163304" cy="109814"/>
            <a:chOff x="0" y="0"/>
            <a:chExt cx="8217738" cy="1464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727626" y="6515610"/>
            <a:ext cx="1189044" cy="109814"/>
            <a:chOff x="0" y="0"/>
            <a:chExt cx="1585392" cy="14641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85341" cy="146431"/>
            </a:xfrm>
            <a:custGeom>
              <a:avLst/>
              <a:gdLst/>
              <a:ahLst/>
              <a:cxnLst/>
              <a:rect r="r" b="b" t="t" l="l"/>
              <a:pathLst>
                <a:path h="146431" w="1585341">
                  <a:moveTo>
                    <a:pt x="0" y="0"/>
                  </a:moveTo>
                  <a:lnTo>
                    <a:pt x="1585341" y="0"/>
                  </a:lnTo>
                  <a:lnTo>
                    <a:pt x="15853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48283" y="6975648"/>
            <a:ext cx="8029756" cy="1633099"/>
            <a:chOff x="0" y="0"/>
            <a:chExt cx="10706341" cy="21774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06354" cy="2177542"/>
            </a:xfrm>
            <a:custGeom>
              <a:avLst/>
              <a:gdLst/>
              <a:ahLst/>
              <a:cxnLst/>
              <a:rect r="r" b="b" t="t" l="l"/>
              <a:pathLst>
                <a:path h="2177542" w="10706354">
                  <a:moveTo>
                    <a:pt x="0" y="362966"/>
                  </a:moveTo>
                  <a:cubicBezTo>
                    <a:pt x="0" y="162433"/>
                    <a:pt x="162433" y="0"/>
                    <a:pt x="362966" y="0"/>
                  </a:cubicBezTo>
                  <a:lnTo>
                    <a:pt x="10343388" y="0"/>
                  </a:lnTo>
                  <a:cubicBezTo>
                    <a:pt x="10543794" y="0"/>
                    <a:pt x="10706354" y="162433"/>
                    <a:pt x="10706354" y="362966"/>
                  </a:cubicBezTo>
                  <a:lnTo>
                    <a:pt x="10706354" y="1814576"/>
                  </a:lnTo>
                  <a:cubicBezTo>
                    <a:pt x="10706354" y="2014982"/>
                    <a:pt x="10543921" y="2177542"/>
                    <a:pt x="10343388" y="2177542"/>
                  </a:cubicBezTo>
                  <a:lnTo>
                    <a:pt x="362966" y="2177542"/>
                  </a:lnTo>
                  <a:cubicBezTo>
                    <a:pt x="162433" y="2177415"/>
                    <a:pt x="0" y="2014982"/>
                    <a:pt x="0" y="1814576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554185" y="7222727"/>
            <a:ext cx="1042854" cy="1042854"/>
            <a:chOff x="0" y="0"/>
            <a:chExt cx="1390472" cy="13904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9870212" y="7558454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727626" y="8300080"/>
            <a:ext cx="6163304" cy="109814"/>
            <a:chOff x="0" y="0"/>
            <a:chExt cx="8217738" cy="1464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727626" y="8300080"/>
            <a:ext cx="1033539" cy="109814"/>
            <a:chOff x="0" y="0"/>
            <a:chExt cx="1378052" cy="1464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78077" cy="146431"/>
            </a:xfrm>
            <a:custGeom>
              <a:avLst/>
              <a:gdLst/>
              <a:ahLst/>
              <a:cxnLst/>
              <a:rect r="r" b="b" t="t" l="l"/>
              <a:pathLst>
                <a:path h="146431" w="1378077">
                  <a:moveTo>
                    <a:pt x="0" y="0"/>
                  </a:moveTo>
                  <a:lnTo>
                    <a:pt x="1378077" y="0"/>
                  </a:lnTo>
                  <a:lnTo>
                    <a:pt x="137807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Freeform 66" id="66"/>
          <p:cNvSpPr/>
          <p:nvPr/>
        </p:nvSpPr>
        <p:spPr>
          <a:xfrm flipH="true" flipV="true" rot="5093262">
            <a:off x="13875980" y="-1749847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7" id="67"/>
          <p:cNvGrpSpPr/>
          <p:nvPr/>
        </p:nvGrpSpPr>
        <p:grpSpPr>
          <a:xfrm rot="0">
            <a:off x="991183" y="3542238"/>
            <a:ext cx="1243798" cy="1243798"/>
            <a:chOff x="0" y="0"/>
            <a:chExt cx="13716000" cy="13716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39097" t="0" r="-39097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79861" y="3658417"/>
            <a:ext cx="1243798" cy="1243798"/>
            <a:chOff x="0" y="0"/>
            <a:chExt cx="13716000" cy="13716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274" r="0" b="-1127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3393" y="5271811"/>
            <a:ext cx="1243798" cy="1243798"/>
            <a:chOff x="0" y="0"/>
            <a:chExt cx="13716000" cy="13716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39097" t="0" r="-39097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98056" y="7166096"/>
            <a:ext cx="1243798" cy="1243798"/>
            <a:chOff x="0" y="0"/>
            <a:chExt cx="13716000" cy="13716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331" r="-58447" b="-833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63059" y="5237312"/>
            <a:ext cx="1243798" cy="1243798"/>
            <a:chOff x="0" y="0"/>
            <a:chExt cx="13716000" cy="13716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-12513" t="0" r="-12513" b="-3671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89059" y="7021782"/>
            <a:ext cx="1243798" cy="1243798"/>
            <a:chOff x="0" y="0"/>
            <a:chExt cx="13716000" cy="13716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39097" t="0" r="-39097" b="0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2299402" y="3623086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José Alejandro Martínez Sánchez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299402" y="4062341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2022 · Conservador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299402" y="4405508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3.317 votos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054511" y="4405508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38,84%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299402" y="5407566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Delcy Esperanza Isaza Buenaventura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299402" y="5846821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2022 · Conservador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299402" y="6189988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1.628 votos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054511" y="6189988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19,06%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299402" y="7192037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Martha Eliana Lagos Cardona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299402" y="7631292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2022 · Conservador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299402" y="7974459"/>
            <a:ext cx="7346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91 votos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155238" y="7974459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1,06%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755058" y="3623086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Óscar Barreto Quiroga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755058" y="4062341"/>
            <a:ext cx="9640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Senado 2022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755058" y="4405508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3.250 votos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461934" y="4204192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39,62%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755058" y="5407566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Conservador Colombiano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755058" y="5846821"/>
            <a:ext cx="11076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Solo por la lista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755058" y="6189988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627 votos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562661" y="598867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7,64%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755058" y="7192037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Esperanza Andrade Serrano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755058" y="7631292"/>
            <a:ext cx="9640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Senado 2022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755058" y="7974459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545 votos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562661" y="7773143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6,64%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7423"/>
            <a:ext cx="18301840" cy="9602361"/>
            <a:chOff x="0" y="0"/>
            <a:chExt cx="24402453" cy="12803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03100"/>
            </a:xfrm>
            <a:custGeom>
              <a:avLst/>
              <a:gdLst/>
              <a:ahLst/>
              <a:cxnLst/>
              <a:rect r="r" b="b" t="t" l="l"/>
              <a:pathLst>
                <a:path h="128031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03100"/>
                  </a:lnTo>
                  <a:lnTo>
                    <a:pt x="0" y="12803100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143514"/>
            <a:ext cx="1505438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2023: Alcaldía de Ortega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6744" y="2848489"/>
            <a:ext cx="16485413" cy="6464903"/>
            <a:chOff x="0" y="0"/>
            <a:chExt cx="21980550" cy="861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80398" cy="8619871"/>
            </a:xfrm>
            <a:custGeom>
              <a:avLst/>
              <a:gdLst/>
              <a:ahLst/>
              <a:cxnLst/>
              <a:rect r="r" b="b" t="t" l="l"/>
              <a:pathLst>
                <a:path h="8619871" w="21980398">
                  <a:moveTo>
                    <a:pt x="0" y="1436624"/>
                  </a:moveTo>
                  <a:cubicBezTo>
                    <a:pt x="0" y="643255"/>
                    <a:pt x="643255" y="0"/>
                    <a:pt x="1436624" y="0"/>
                  </a:cubicBezTo>
                  <a:lnTo>
                    <a:pt x="20543774" y="0"/>
                  </a:lnTo>
                  <a:cubicBezTo>
                    <a:pt x="21337270" y="0"/>
                    <a:pt x="21980398" y="643255"/>
                    <a:pt x="21980398" y="1436624"/>
                  </a:cubicBezTo>
                  <a:lnTo>
                    <a:pt x="21980398" y="7183247"/>
                  </a:lnTo>
                  <a:cubicBezTo>
                    <a:pt x="21980398" y="7976743"/>
                    <a:pt x="21337143" y="8619871"/>
                    <a:pt x="20543774" y="8619871"/>
                  </a:cubicBezTo>
                  <a:lnTo>
                    <a:pt x="1436624" y="8619871"/>
                  </a:lnTo>
                  <a:cubicBezTo>
                    <a:pt x="643255" y="8619871"/>
                    <a:pt x="0" y="7976616"/>
                    <a:pt x="0" y="7183247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38548" y="3809352"/>
            <a:ext cx="15661815" cy="1331109"/>
            <a:chOff x="0" y="0"/>
            <a:chExt cx="20882420" cy="17748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82355" cy="1774825"/>
            </a:xfrm>
            <a:custGeom>
              <a:avLst/>
              <a:gdLst/>
              <a:ahLst/>
              <a:cxnLst/>
              <a:rect r="r" b="b" t="t" l="l"/>
              <a:pathLst>
                <a:path h="1774825" w="20882355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0586573" y="0"/>
                  </a:lnTo>
                  <a:cubicBezTo>
                    <a:pt x="20749895" y="0"/>
                    <a:pt x="20882355" y="132461"/>
                    <a:pt x="20882355" y="295783"/>
                  </a:cubicBezTo>
                  <a:lnTo>
                    <a:pt x="20882355" y="1479042"/>
                  </a:lnTo>
                  <a:cubicBezTo>
                    <a:pt x="20882355" y="1642364"/>
                    <a:pt x="20749895" y="1774825"/>
                    <a:pt x="20586573" y="1774825"/>
                  </a:cubicBezTo>
                  <a:lnTo>
                    <a:pt x="295783" y="1774825"/>
                  </a:lnTo>
                  <a:cubicBezTo>
                    <a:pt x="132461" y="1774825"/>
                    <a:pt x="0" y="1642364"/>
                    <a:pt x="0" y="147904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44450" y="4056440"/>
            <a:ext cx="1042854" cy="1042854"/>
            <a:chOff x="0" y="0"/>
            <a:chExt cx="1390472" cy="1390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860468" y="4392168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17892" y="4831804"/>
            <a:ext cx="13795362" cy="109814"/>
            <a:chOff x="0" y="0"/>
            <a:chExt cx="18393816" cy="146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93790" cy="146431"/>
            </a:xfrm>
            <a:custGeom>
              <a:avLst/>
              <a:gdLst/>
              <a:ahLst/>
              <a:cxnLst/>
              <a:rect r="r" b="b" t="t" l="l"/>
              <a:pathLst>
                <a:path h="146431" w="18393790">
                  <a:moveTo>
                    <a:pt x="0" y="0"/>
                  </a:moveTo>
                  <a:lnTo>
                    <a:pt x="18393790" y="0"/>
                  </a:lnTo>
                  <a:lnTo>
                    <a:pt x="1839379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5324" y="4832118"/>
            <a:ext cx="13795362" cy="109814"/>
            <a:chOff x="0" y="0"/>
            <a:chExt cx="18393816" cy="146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93790" cy="146431"/>
            </a:xfrm>
            <a:custGeom>
              <a:avLst/>
              <a:gdLst/>
              <a:ahLst/>
              <a:cxnLst/>
              <a:rect r="r" b="b" t="t" l="l"/>
              <a:pathLst>
                <a:path h="146431" w="18393790">
                  <a:moveTo>
                    <a:pt x="0" y="0"/>
                  </a:moveTo>
                  <a:lnTo>
                    <a:pt x="18393790" y="0"/>
                  </a:lnTo>
                  <a:lnTo>
                    <a:pt x="1839379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8548" y="5580107"/>
            <a:ext cx="15661815" cy="1331109"/>
            <a:chOff x="0" y="0"/>
            <a:chExt cx="20882420" cy="17748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82355" cy="1774825"/>
            </a:xfrm>
            <a:custGeom>
              <a:avLst/>
              <a:gdLst/>
              <a:ahLst/>
              <a:cxnLst/>
              <a:rect r="r" b="b" t="t" l="l"/>
              <a:pathLst>
                <a:path h="1774825" w="20882355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0586573" y="0"/>
                  </a:lnTo>
                  <a:cubicBezTo>
                    <a:pt x="20749895" y="0"/>
                    <a:pt x="20882355" y="132461"/>
                    <a:pt x="20882355" y="295783"/>
                  </a:cubicBezTo>
                  <a:lnTo>
                    <a:pt x="20882355" y="1479042"/>
                  </a:lnTo>
                  <a:cubicBezTo>
                    <a:pt x="20882355" y="1642364"/>
                    <a:pt x="20749895" y="1774825"/>
                    <a:pt x="20586573" y="1774825"/>
                  </a:cubicBezTo>
                  <a:lnTo>
                    <a:pt x="295783" y="1774825"/>
                  </a:lnTo>
                  <a:cubicBezTo>
                    <a:pt x="132461" y="1774825"/>
                    <a:pt x="0" y="1642364"/>
                    <a:pt x="0" y="147904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44450" y="5827185"/>
            <a:ext cx="1042854" cy="1042854"/>
            <a:chOff x="0" y="0"/>
            <a:chExt cx="1390472" cy="1390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717892" y="6602559"/>
            <a:ext cx="13795362" cy="109814"/>
            <a:chOff x="0" y="0"/>
            <a:chExt cx="18393816" cy="1464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393790" cy="146431"/>
            </a:xfrm>
            <a:custGeom>
              <a:avLst/>
              <a:gdLst/>
              <a:ahLst/>
              <a:cxnLst/>
              <a:rect r="r" b="b" t="t" l="l"/>
              <a:pathLst>
                <a:path h="146431" w="18393790">
                  <a:moveTo>
                    <a:pt x="0" y="0"/>
                  </a:moveTo>
                  <a:lnTo>
                    <a:pt x="18393790" y="0"/>
                  </a:lnTo>
                  <a:lnTo>
                    <a:pt x="1839379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717892" y="6602559"/>
            <a:ext cx="5229816" cy="109814"/>
            <a:chOff x="0" y="0"/>
            <a:chExt cx="6973087" cy="1464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73062" cy="146431"/>
            </a:xfrm>
            <a:custGeom>
              <a:avLst/>
              <a:gdLst/>
              <a:ahLst/>
              <a:cxnLst/>
              <a:rect r="r" b="b" t="t" l="l"/>
              <a:pathLst>
                <a:path h="146431" w="6973062">
                  <a:moveTo>
                    <a:pt x="0" y="0"/>
                  </a:moveTo>
                  <a:lnTo>
                    <a:pt x="6973062" y="0"/>
                  </a:lnTo>
                  <a:lnTo>
                    <a:pt x="697306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8548" y="7350852"/>
            <a:ext cx="15661815" cy="1331109"/>
            <a:chOff x="0" y="0"/>
            <a:chExt cx="20882420" cy="17748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882355" cy="1774825"/>
            </a:xfrm>
            <a:custGeom>
              <a:avLst/>
              <a:gdLst/>
              <a:ahLst/>
              <a:cxnLst/>
              <a:rect r="r" b="b" t="t" l="l"/>
              <a:pathLst>
                <a:path h="1774825" w="20882355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20586573" y="0"/>
                  </a:lnTo>
                  <a:cubicBezTo>
                    <a:pt x="20749895" y="0"/>
                    <a:pt x="20882355" y="132461"/>
                    <a:pt x="20882355" y="295783"/>
                  </a:cubicBezTo>
                  <a:lnTo>
                    <a:pt x="20882355" y="1479042"/>
                  </a:lnTo>
                  <a:cubicBezTo>
                    <a:pt x="20882355" y="1642364"/>
                    <a:pt x="20749895" y="1774825"/>
                    <a:pt x="20586573" y="1774825"/>
                  </a:cubicBezTo>
                  <a:lnTo>
                    <a:pt x="295783" y="1774825"/>
                  </a:lnTo>
                  <a:cubicBezTo>
                    <a:pt x="132461" y="1774825"/>
                    <a:pt x="0" y="1642364"/>
                    <a:pt x="0" y="147904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544450" y="7597931"/>
            <a:ext cx="1042854" cy="1042854"/>
            <a:chOff x="0" y="0"/>
            <a:chExt cx="1390472" cy="13904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blipFill>
              <a:blip r:embed="rId3"/>
              <a:stretch>
                <a:fillRect l="0" t="-38818" r="0" b="-38818"/>
              </a:stretch>
            </a:blip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717892" y="8373304"/>
            <a:ext cx="13795362" cy="109814"/>
            <a:chOff x="0" y="0"/>
            <a:chExt cx="18393816" cy="1464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93790" cy="146431"/>
            </a:xfrm>
            <a:custGeom>
              <a:avLst/>
              <a:gdLst/>
              <a:ahLst/>
              <a:cxnLst/>
              <a:rect r="r" b="b" t="t" l="l"/>
              <a:pathLst>
                <a:path h="146431" w="18393790">
                  <a:moveTo>
                    <a:pt x="0" y="0"/>
                  </a:moveTo>
                  <a:lnTo>
                    <a:pt x="18393790" y="0"/>
                  </a:lnTo>
                  <a:lnTo>
                    <a:pt x="1839379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717892" y="8373304"/>
            <a:ext cx="1313764" cy="109814"/>
            <a:chOff x="0" y="0"/>
            <a:chExt cx="1751686" cy="1464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51711" cy="146431"/>
            </a:xfrm>
            <a:custGeom>
              <a:avLst/>
              <a:gdLst/>
              <a:ahLst/>
              <a:cxnLst/>
              <a:rect r="r" b="b" t="t" l="l"/>
              <a:pathLst>
                <a:path h="146431" w="1751711">
                  <a:moveTo>
                    <a:pt x="0" y="0"/>
                  </a:moveTo>
                  <a:lnTo>
                    <a:pt x="1751711" y="0"/>
                  </a:lnTo>
                  <a:lnTo>
                    <a:pt x="175171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Freeform 32" id="32"/>
          <p:cNvSpPr/>
          <p:nvPr/>
        </p:nvSpPr>
        <p:spPr>
          <a:xfrm flipH="true" flipV="true" rot="5093262">
            <a:off x="13875980" y="-1749847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1443978" y="3903333"/>
            <a:ext cx="1243798" cy="1243798"/>
            <a:chOff x="0" y="0"/>
            <a:chExt cx="13716000" cy="1371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29617" t="0" r="-29617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3816029" y="3017163"/>
            <a:ext cx="100147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832A99"/>
                </a:solidFill>
                <a:latin typeface="Arimo Bold"/>
                <a:ea typeface="Arimo Bold"/>
                <a:cs typeface="Arimo Bold"/>
                <a:sym typeface="Arimo Bold"/>
              </a:rPr>
              <a:t>Total de votación reportado para Alcaldía: 14.080 votos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45324" y="4025751"/>
            <a:ext cx="140150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Diego Arbey Matiz Garzón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1617" y="4265357"/>
            <a:ext cx="98178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Alcaldía 2023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81617" y="4506182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8.201 votos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77590" y="4506182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60,31%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45324" y="5796496"/>
            <a:ext cx="140150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Jorge Alberto Vaquiro Capera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1617" y="6061891"/>
            <a:ext cx="98178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Alcaldía 2023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81617" y="6298197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3.109 votos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77590" y="6276937"/>
            <a:ext cx="6141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22,86%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45324" y="7567241"/>
            <a:ext cx="140150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Jhon James Ducuara Gómez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1617" y="7872041"/>
            <a:ext cx="98178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Alcaldía 2023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81617" y="8062541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781 votos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178317" y="8047682"/>
            <a:ext cx="5133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5,74%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0825"/>
            <a:ext cx="18301840" cy="9630714"/>
            <a:chOff x="0" y="0"/>
            <a:chExt cx="24402453" cy="12840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40905"/>
            </a:xfrm>
            <a:custGeom>
              <a:avLst/>
              <a:gdLst/>
              <a:ahLst/>
              <a:cxnLst/>
              <a:rect r="r" b="b" t="t" l="l"/>
              <a:pathLst>
                <a:path h="1284090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40905"/>
                  </a:lnTo>
                  <a:lnTo>
                    <a:pt x="0" y="12840905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5688" y="992362"/>
            <a:ext cx="1589448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2023: Concejo y Asamblea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1749" y="2694737"/>
            <a:ext cx="8236039" cy="16469"/>
            <a:chOff x="0" y="0"/>
            <a:chExt cx="10981385" cy="219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1436" cy="21971"/>
            </a:xfrm>
            <a:custGeom>
              <a:avLst/>
              <a:gdLst/>
              <a:ahLst/>
              <a:cxnLst/>
              <a:rect r="r" b="b" t="t" l="l"/>
              <a:pathLst>
                <a:path h="21971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8741" y="2929904"/>
            <a:ext cx="2827325" cy="1084031"/>
            <a:chOff x="0" y="0"/>
            <a:chExt cx="3769766" cy="14453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69741" cy="1445387"/>
            </a:xfrm>
            <a:custGeom>
              <a:avLst/>
              <a:gdLst/>
              <a:ahLst/>
              <a:cxnLst/>
              <a:rect r="r" b="b" t="t" l="l"/>
              <a:pathLst>
                <a:path h="1445387" w="3769741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3528822" y="0"/>
                  </a:lnTo>
                  <a:cubicBezTo>
                    <a:pt x="3661918" y="0"/>
                    <a:pt x="3769741" y="107823"/>
                    <a:pt x="3769741" y="240919"/>
                  </a:cubicBezTo>
                  <a:lnTo>
                    <a:pt x="3769741" y="1204468"/>
                  </a:lnTo>
                  <a:cubicBezTo>
                    <a:pt x="3769741" y="1337564"/>
                    <a:pt x="3661918" y="1445387"/>
                    <a:pt x="3528822" y="1445387"/>
                  </a:cubicBezTo>
                  <a:lnTo>
                    <a:pt x="240919" y="1445387"/>
                  </a:lnTo>
                  <a:cubicBezTo>
                    <a:pt x="107823" y="1445387"/>
                    <a:pt x="0" y="1337564"/>
                    <a:pt x="0" y="120446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08613" y="2929904"/>
            <a:ext cx="2346884" cy="1084031"/>
            <a:chOff x="0" y="0"/>
            <a:chExt cx="3129178" cy="14453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29153" cy="1445387"/>
            </a:xfrm>
            <a:custGeom>
              <a:avLst/>
              <a:gdLst/>
              <a:ahLst/>
              <a:cxnLst/>
              <a:rect r="r" b="b" t="t" l="l"/>
              <a:pathLst>
                <a:path h="1445387" w="3129153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2888234" y="0"/>
                  </a:lnTo>
                  <a:cubicBezTo>
                    <a:pt x="3021330" y="0"/>
                    <a:pt x="3129153" y="107823"/>
                    <a:pt x="3129153" y="240919"/>
                  </a:cubicBezTo>
                  <a:lnTo>
                    <a:pt x="3129153" y="1204468"/>
                  </a:lnTo>
                  <a:cubicBezTo>
                    <a:pt x="3129153" y="1337564"/>
                    <a:pt x="3021330" y="1445387"/>
                    <a:pt x="2888234" y="1445387"/>
                  </a:cubicBezTo>
                  <a:lnTo>
                    <a:pt x="240919" y="1445387"/>
                  </a:lnTo>
                  <a:cubicBezTo>
                    <a:pt x="107823" y="1445387"/>
                    <a:pt x="0" y="1337564"/>
                    <a:pt x="0" y="120446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34338" y="2929904"/>
            <a:ext cx="2690060" cy="1084031"/>
            <a:chOff x="0" y="0"/>
            <a:chExt cx="3586747" cy="1445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86734" cy="1445387"/>
            </a:xfrm>
            <a:custGeom>
              <a:avLst/>
              <a:gdLst/>
              <a:ahLst/>
              <a:cxnLst/>
              <a:rect r="r" b="b" t="t" l="l"/>
              <a:pathLst>
                <a:path h="1445387" w="3586734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3345815" y="0"/>
                  </a:lnTo>
                  <a:cubicBezTo>
                    <a:pt x="3478911" y="0"/>
                    <a:pt x="3586734" y="107823"/>
                    <a:pt x="3586734" y="240919"/>
                  </a:cubicBezTo>
                  <a:lnTo>
                    <a:pt x="3586734" y="1204468"/>
                  </a:lnTo>
                  <a:cubicBezTo>
                    <a:pt x="3586734" y="1337564"/>
                    <a:pt x="3478911" y="1445387"/>
                    <a:pt x="3345815" y="1445387"/>
                  </a:cubicBezTo>
                  <a:lnTo>
                    <a:pt x="240919" y="1445387"/>
                  </a:lnTo>
                  <a:cubicBezTo>
                    <a:pt x="107823" y="1445387"/>
                    <a:pt x="0" y="1337564"/>
                    <a:pt x="0" y="120446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43934" y="4232634"/>
            <a:ext cx="2524393" cy="1795862"/>
            <a:chOff x="0" y="0"/>
            <a:chExt cx="3678250" cy="26167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32349" y="4458728"/>
            <a:ext cx="954285" cy="954285"/>
            <a:chOff x="0" y="0"/>
            <a:chExt cx="1390472" cy="1390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37707" y="4755608"/>
            <a:ext cx="330992" cy="15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"/>
              </a:lnSpc>
            </a:pPr>
            <a:r>
              <a:rPr lang="en-US" sz="938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5727" y="5446460"/>
            <a:ext cx="71101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514 votos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06131" y="5746044"/>
            <a:ext cx="816458" cy="100487"/>
            <a:chOff x="0" y="0"/>
            <a:chExt cx="1189647" cy="1464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106131" y="5746044"/>
            <a:ext cx="816458" cy="100487"/>
            <a:chOff x="0" y="0"/>
            <a:chExt cx="1189647" cy="1464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96354" y="4232634"/>
            <a:ext cx="2524393" cy="1795862"/>
            <a:chOff x="0" y="0"/>
            <a:chExt cx="3678250" cy="26167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884768" y="4458728"/>
            <a:ext cx="954285" cy="954285"/>
            <a:chOff x="0" y="0"/>
            <a:chExt cx="1390472" cy="13904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4190135" y="4755608"/>
            <a:ext cx="330992" cy="15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"/>
              </a:lnSpc>
            </a:pPr>
            <a:r>
              <a:rPr lang="en-US" sz="938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04551" y="5200491"/>
            <a:ext cx="1253476" cy="16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0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8559" y="5746044"/>
            <a:ext cx="816458" cy="100487"/>
            <a:chOff x="0" y="0"/>
            <a:chExt cx="1189647" cy="1464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58559" y="5746044"/>
            <a:ext cx="770394" cy="100487"/>
            <a:chOff x="0" y="0"/>
            <a:chExt cx="1122528" cy="1464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2553" cy="146431"/>
            </a:xfrm>
            <a:custGeom>
              <a:avLst/>
              <a:gdLst/>
              <a:ahLst/>
              <a:cxnLst/>
              <a:rect r="r" b="b" t="t" l="l"/>
              <a:pathLst>
                <a:path h="146431" w="1122553">
                  <a:moveTo>
                    <a:pt x="0" y="0"/>
                  </a:moveTo>
                  <a:lnTo>
                    <a:pt x="1122553" y="0"/>
                  </a:lnTo>
                  <a:lnTo>
                    <a:pt x="1122553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59733" y="4233094"/>
            <a:ext cx="2323274" cy="1652786"/>
            <a:chOff x="0" y="0"/>
            <a:chExt cx="3678250" cy="26167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733136" y="4441175"/>
            <a:ext cx="878257" cy="878257"/>
            <a:chOff x="0" y="0"/>
            <a:chExt cx="1390472" cy="13904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7014174" y="4712886"/>
            <a:ext cx="304622" cy="14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"/>
              </a:lnSpc>
            </a:pPr>
            <a:r>
              <a:rPr lang="en-US" sz="86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83117" y="5117572"/>
            <a:ext cx="1153611" cy="15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"/>
              </a:lnSpc>
            </a:pPr>
            <a:r>
              <a:rPr lang="en-US" sz="990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721370" y="5625931"/>
            <a:ext cx="751411" cy="92481"/>
            <a:chOff x="0" y="0"/>
            <a:chExt cx="1189647" cy="1464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721370" y="5625931"/>
            <a:ext cx="671010" cy="92481"/>
            <a:chOff x="0" y="0"/>
            <a:chExt cx="1062355" cy="1464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2355" cy="146431"/>
            </a:xfrm>
            <a:custGeom>
              <a:avLst/>
              <a:gdLst/>
              <a:ahLst/>
              <a:cxnLst/>
              <a:rect r="r" b="b" t="t" l="l"/>
              <a:pathLst>
                <a:path h="146431" w="1062355">
                  <a:moveTo>
                    <a:pt x="0" y="0"/>
                  </a:moveTo>
                  <a:lnTo>
                    <a:pt x="1062355" y="0"/>
                  </a:lnTo>
                  <a:lnTo>
                    <a:pt x="106235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90944" y="6196916"/>
            <a:ext cx="2524393" cy="1795862"/>
            <a:chOff x="0" y="0"/>
            <a:chExt cx="3678250" cy="261672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79359" y="6423011"/>
            <a:ext cx="954285" cy="954285"/>
            <a:chOff x="0" y="0"/>
            <a:chExt cx="1390472" cy="13904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384717" y="6719900"/>
            <a:ext cx="330992" cy="15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"/>
              </a:lnSpc>
            </a:pPr>
            <a:r>
              <a:rPr lang="en-US" sz="938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106131" y="7163205"/>
            <a:ext cx="1253476" cy="16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0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56843" y="7389013"/>
            <a:ext cx="71101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458 votos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153141" y="7710327"/>
            <a:ext cx="816458" cy="100487"/>
            <a:chOff x="0" y="0"/>
            <a:chExt cx="1189647" cy="1464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153141" y="7710327"/>
            <a:ext cx="727502" cy="100487"/>
            <a:chOff x="0" y="0"/>
            <a:chExt cx="1060031" cy="1464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0069" cy="146431"/>
            </a:xfrm>
            <a:custGeom>
              <a:avLst/>
              <a:gdLst/>
              <a:ahLst/>
              <a:cxnLst/>
              <a:rect r="r" b="b" t="t" l="l"/>
              <a:pathLst>
                <a:path h="146431" w="1060069">
                  <a:moveTo>
                    <a:pt x="0" y="0"/>
                  </a:moveTo>
                  <a:lnTo>
                    <a:pt x="1060069" y="0"/>
                  </a:lnTo>
                  <a:lnTo>
                    <a:pt x="106006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743364" y="6196916"/>
            <a:ext cx="2524393" cy="1795862"/>
            <a:chOff x="0" y="0"/>
            <a:chExt cx="3678250" cy="261672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3931778" y="6423011"/>
            <a:ext cx="954285" cy="954285"/>
            <a:chOff x="0" y="0"/>
            <a:chExt cx="1390472" cy="13904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DE3A9A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4237145" y="6719900"/>
            <a:ext cx="330992" cy="15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"/>
              </a:lnSpc>
            </a:pPr>
            <a:r>
              <a:rPr lang="en-US" sz="938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55777" y="7436690"/>
            <a:ext cx="71101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384 votos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005569" y="7710327"/>
            <a:ext cx="816458" cy="100487"/>
            <a:chOff x="0" y="0"/>
            <a:chExt cx="1189647" cy="146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005569" y="7710327"/>
            <a:ext cx="609957" cy="100487"/>
            <a:chOff x="0" y="0"/>
            <a:chExt cx="888759" cy="1464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8746" cy="146431"/>
            </a:xfrm>
            <a:custGeom>
              <a:avLst/>
              <a:gdLst/>
              <a:ahLst/>
              <a:cxnLst/>
              <a:rect r="r" b="b" t="t" l="l"/>
              <a:pathLst>
                <a:path h="146431" w="888746">
                  <a:moveTo>
                    <a:pt x="0" y="0"/>
                  </a:moveTo>
                  <a:lnTo>
                    <a:pt x="888746" y="0"/>
                  </a:lnTo>
                  <a:lnTo>
                    <a:pt x="88874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598154" y="6114480"/>
            <a:ext cx="2273844" cy="1617621"/>
            <a:chOff x="0" y="0"/>
            <a:chExt cx="3678250" cy="26167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767868" y="6318134"/>
            <a:ext cx="859571" cy="859571"/>
            <a:chOff x="0" y="0"/>
            <a:chExt cx="1390472" cy="13904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7042927" y="6583666"/>
            <a:ext cx="298141" cy="14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"/>
              </a:lnSpc>
            </a:pPr>
            <a:r>
              <a:rPr lang="en-US" sz="84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557421" y="7186369"/>
            <a:ext cx="640443" cy="1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306 votos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735076" y="7477683"/>
            <a:ext cx="735424" cy="90514"/>
            <a:chOff x="0" y="0"/>
            <a:chExt cx="1189647" cy="14641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735076" y="7477683"/>
            <a:ext cx="437817" cy="90514"/>
            <a:chOff x="0" y="0"/>
            <a:chExt cx="708228" cy="14641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8279" cy="146431"/>
            </a:xfrm>
            <a:custGeom>
              <a:avLst/>
              <a:gdLst/>
              <a:ahLst/>
              <a:cxnLst/>
              <a:rect r="r" b="b" t="t" l="l"/>
              <a:pathLst>
                <a:path h="146431" w="708279">
                  <a:moveTo>
                    <a:pt x="0" y="0"/>
                  </a:moveTo>
                  <a:lnTo>
                    <a:pt x="708279" y="0"/>
                  </a:lnTo>
                  <a:lnTo>
                    <a:pt x="70827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620765" y="7922601"/>
            <a:ext cx="2273844" cy="1617621"/>
            <a:chOff x="0" y="0"/>
            <a:chExt cx="3678250" cy="261672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78301" cy="2616708"/>
            </a:xfrm>
            <a:custGeom>
              <a:avLst/>
              <a:gdLst/>
              <a:ahLst/>
              <a:cxnLst/>
              <a:rect r="r" b="b" t="t" l="l"/>
              <a:pathLst>
                <a:path h="2616708" w="3678301">
                  <a:moveTo>
                    <a:pt x="0" y="436118"/>
                  </a:moveTo>
                  <a:cubicBezTo>
                    <a:pt x="0" y="195199"/>
                    <a:pt x="195199" y="0"/>
                    <a:pt x="436118" y="0"/>
                  </a:cubicBezTo>
                  <a:lnTo>
                    <a:pt x="3242183" y="0"/>
                  </a:lnTo>
                  <a:cubicBezTo>
                    <a:pt x="3483102" y="0"/>
                    <a:pt x="3678301" y="195199"/>
                    <a:pt x="3678301" y="436118"/>
                  </a:cubicBezTo>
                  <a:lnTo>
                    <a:pt x="3678301" y="2180590"/>
                  </a:lnTo>
                  <a:cubicBezTo>
                    <a:pt x="3678301" y="2421509"/>
                    <a:pt x="3483102" y="2616708"/>
                    <a:pt x="3242183" y="2616708"/>
                  </a:cubicBezTo>
                  <a:lnTo>
                    <a:pt x="436118" y="2616708"/>
                  </a:lnTo>
                  <a:cubicBezTo>
                    <a:pt x="195199" y="2616708"/>
                    <a:pt x="0" y="2421509"/>
                    <a:pt x="0" y="218059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693131" y="2694737"/>
            <a:ext cx="7686961" cy="16469"/>
            <a:chOff x="0" y="0"/>
            <a:chExt cx="10249281" cy="2195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9281" cy="21971"/>
            </a:xfrm>
            <a:custGeom>
              <a:avLst/>
              <a:gdLst/>
              <a:ahLst/>
              <a:cxnLst/>
              <a:rect r="r" b="b" t="t" l="l"/>
              <a:pathLst>
                <a:path h="21971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317880" y="2929528"/>
            <a:ext cx="3307756" cy="1084031"/>
            <a:chOff x="0" y="0"/>
            <a:chExt cx="4410342" cy="14453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10329" cy="1445387"/>
            </a:xfrm>
            <a:custGeom>
              <a:avLst/>
              <a:gdLst/>
              <a:ahLst/>
              <a:cxnLst/>
              <a:rect r="r" b="b" t="t" l="l"/>
              <a:pathLst>
                <a:path h="1445387" w="4410329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4169410" y="0"/>
                  </a:lnTo>
                  <a:cubicBezTo>
                    <a:pt x="4302506" y="0"/>
                    <a:pt x="4410329" y="107823"/>
                    <a:pt x="4410329" y="240919"/>
                  </a:cubicBezTo>
                  <a:lnTo>
                    <a:pt x="4410329" y="1204468"/>
                  </a:lnTo>
                  <a:cubicBezTo>
                    <a:pt x="4410329" y="1337564"/>
                    <a:pt x="4302506" y="1445387"/>
                    <a:pt x="4169410" y="1445387"/>
                  </a:cubicBezTo>
                  <a:lnTo>
                    <a:pt x="240919" y="1445387"/>
                  </a:lnTo>
                  <a:cubicBezTo>
                    <a:pt x="107823" y="1445387"/>
                    <a:pt x="0" y="1337564"/>
                    <a:pt x="0" y="120446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193131" y="4232634"/>
            <a:ext cx="3582295" cy="2003717"/>
            <a:chOff x="0" y="0"/>
            <a:chExt cx="4776394" cy="2671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76343" cy="2671572"/>
            </a:xfrm>
            <a:custGeom>
              <a:avLst/>
              <a:gdLst/>
              <a:ahLst/>
              <a:cxnLst/>
              <a:rect r="r" b="b" t="t" l="l"/>
              <a:pathLst>
                <a:path h="2671572" w="4776343">
                  <a:moveTo>
                    <a:pt x="0" y="445262"/>
                  </a:moveTo>
                  <a:cubicBezTo>
                    <a:pt x="0" y="199390"/>
                    <a:pt x="199390" y="0"/>
                    <a:pt x="445262" y="0"/>
                  </a:cubicBezTo>
                  <a:lnTo>
                    <a:pt x="4331081" y="0"/>
                  </a:lnTo>
                  <a:cubicBezTo>
                    <a:pt x="4576953" y="0"/>
                    <a:pt x="4776343" y="199390"/>
                    <a:pt x="4776343" y="445262"/>
                  </a:cubicBezTo>
                  <a:lnTo>
                    <a:pt x="4776343" y="2226310"/>
                  </a:lnTo>
                  <a:cubicBezTo>
                    <a:pt x="4776343" y="2472182"/>
                    <a:pt x="4576953" y="2671572"/>
                    <a:pt x="4331081" y="2671572"/>
                  </a:cubicBezTo>
                  <a:lnTo>
                    <a:pt x="445262" y="2671572"/>
                  </a:lnTo>
                  <a:cubicBezTo>
                    <a:pt x="199390" y="2671572"/>
                    <a:pt x="0" y="2472309"/>
                    <a:pt x="0" y="222631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399033" y="4479712"/>
            <a:ext cx="1042854" cy="1042854"/>
            <a:chOff x="0" y="0"/>
            <a:chExt cx="1390472" cy="13904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10732741" y="4815440"/>
            <a:ext cx="3617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"/>
              </a:lnSpc>
            </a:pPr>
            <a:r>
              <a:rPr lang="en-US" sz="10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1572475" y="5927693"/>
            <a:ext cx="1715843" cy="109814"/>
            <a:chOff x="0" y="0"/>
            <a:chExt cx="2287791" cy="14641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87778" cy="146431"/>
            </a:xfrm>
            <a:custGeom>
              <a:avLst/>
              <a:gdLst/>
              <a:ahLst/>
              <a:cxnLst/>
              <a:rect r="r" b="b" t="t" l="l"/>
              <a:pathLst>
                <a:path h="146431" w="2287778">
                  <a:moveTo>
                    <a:pt x="0" y="0"/>
                  </a:moveTo>
                  <a:lnTo>
                    <a:pt x="2287778" y="0"/>
                  </a:lnTo>
                  <a:lnTo>
                    <a:pt x="228777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572475" y="5927693"/>
            <a:ext cx="1715843" cy="109814"/>
            <a:chOff x="0" y="0"/>
            <a:chExt cx="2287791" cy="14641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87778" cy="146431"/>
            </a:xfrm>
            <a:custGeom>
              <a:avLst/>
              <a:gdLst/>
              <a:ahLst/>
              <a:cxnLst/>
              <a:rect r="r" b="b" t="t" l="l"/>
              <a:pathLst>
                <a:path h="146431" w="2287778">
                  <a:moveTo>
                    <a:pt x="0" y="0"/>
                  </a:moveTo>
                  <a:lnTo>
                    <a:pt x="2287778" y="0"/>
                  </a:lnTo>
                  <a:lnTo>
                    <a:pt x="228777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132700" y="4232634"/>
            <a:ext cx="3582295" cy="2003717"/>
            <a:chOff x="0" y="0"/>
            <a:chExt cx="4776394" cy="26716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776343" cy="2671572"/>
            </a:xfrm>
            <a:custGeom>
              <a:avLst/>
              <a:gdLst/>
              <a:ahLst/>
              <a:cxnLst/>
              <a:rect r="r" b="b" t="t" l="l"/>
              <a:pathLst>
                <a:path h="2671572" w="4776343">
                  <a:moveTo>
                    <a:pt x="0" y="445262"/>
                  </a:moveTo>
                  <a:cubicBezTo>
                    <a:pt x="0" y="199390"/>
                    <a:pt x="199390" y="0"/>
                    <a:pt x="445262" y="0"/>
                  </a:cubicBezTo>
                  <a:lnTo>
                    <a:pt x="4331081" y="0"/>
                  </a:lnTo>
                  <a:cubicBezTo>
                    <a:pt x="4576953" y="0"/>
                    <a:pt x="4776343" y="199390"/>
                    <a:pt x="4776343" y="445262"/>
                  </a:cubicBezTo>
                  <a:lnTo>
                    <a:pt x="4776343" y="2226310"/>
                  </a:lnTo>
                  <a:cubicBezTo>
                    <a:pt x="4776343" y="2472182"/>
                    <a:pt x="4576953" y="2671572"/>
                    <a:pt x="4331081" y="2671572"/>
                  </a:cubicBezTo>
                  <a:lnTo>
                    <a:pt x="445262" y="2671572"/>
                  </a:lnTo>
                  <a:cubicBezTo>
                    <a:pt x="199390" y="2671572"/>
                    <a:pt x="0" y="2472309"/>
                    <a:pt x="0" y="222631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4338602" y="4479712"/>
            <a:ext cx="1042854" cy="1042854"/>
            <a:chOff x="0" y="0"/>
            <a:chExt cx="1390472" cy="139047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93" id="93"/>
          <p:cNvSpPr txBox="true"/>
          <p:nvPr/>
        </p:nvSpPr>
        <p:spPr>
          <a:xfrm rot="0">
            <a:off x="14672310" y="4815440"/>
            <a:ext cx="3617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"/>
              </a:lnSpc>
            </a:pPr>
            <a:r>
              <a:rPr lang="en-US" sz="10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5512044" y="5927693"/>
            <a:ext cx="1715843" cy="109814"/>
            <a:chOff x="0" y="0"/>
            <a:chExt cx="2287791" cy="1464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7778" cy="146431"/>
            </a:xfrm>
            <a:custGeom>
              <a:avLst/>
              <a:gdLst/>
              <a:ahLst/>
              <a:cxnLst/>
              <a:rect r="r" b="b" t="t" l="l"/>
              <a:pathLst>
                <a:path h="146431" w="2287778">
                  <a:moveTo>
                    <a:pt x="0" y="0"/>
                  </a:moveTo>
                  <a:lnTo>
                    <a:pt x="2287778" y="0"/>
                  </a:lnTo>
                  <a:lnTo>
                    <a:pt x="228777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512044" y="5927693"/>
            <a:ext cx="1361427" cy="109814"/>
            <a:chOff x="0" y="0"/>
            <a:chExt cx="1815236" cy="14641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15211" cy="146431"/>
            </a:xfrm>
            <a:custGeom>
              <a:avLst/>
              <a:gdLst/>
              <a:ahLst/>
              <a:cxnLst/>
              <a:rect r="r" b="b" t="t" l="l"/>
              <a:pathLst>
                <a:path h="146431" w="1815211">
                  <a:moveTo>
                    <a:pt x="0" y="0"/>
                  </a:moveTo>
                  <a:lnTo>
                    <a:pt x="1815211" y="0"/>
                  </a:lnTo>
                  <a:lnTo>
                    <a:pt x="181521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193131" y="6634810"/>
            <a:ext cx="3582295" cy="2003717"/>
            <a:chOff x="0" y="0"/>
            <a:chExt cx="4776394" cy="267162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776343" cy="2671572"/>
            </a:xfrm>
            <a:custGeom>
              <a:avLst/>
              <a:gdLst/>
              <a:ahLst/>
              <a:cxnLst/>
              <a:rect r="r" b="b" t="t" l="l"/>
              <a:pathLst>
                <a:path h="2671572" w="4776343">
                  <a:moveTo>
                    <a:pt x="0" y="445262"/>
                  </a:moveTo>
                  <a:cubicBezTo>
                    <a:pt x="0" y="199390"/>
                    <a:pt x="199390" y="0"/>
                    <a:pt x="445262" y="0"/>
                  </a:cubicBezTo>
                  <a:lnTo>
                    <a:pt x="4331081" y="0"/>
                  </a:lnTo>
                  <a:cubicBezTo>
                    <a:pt x="4576953" y="0"/>
                    <a:pt x="4776343" y="199390"/>
                    <a:pt x="4776343" y="445262"/>
                  </a:cubicBezTo>
                  <a:lnTo>
                    <a:pt x="4776343" y="2226310"/>
                  </a:lnTo>
                  <a:cubicBezTo>
                    <a:pt x="4776343" y="2472182"/>
                    <a:pt x="4576953" y="2671572"/>
                    <a:pt x="4331081" y="2671572"/>
                  </a:cubicBezTo>
                  <a:lnTo>
                    <a:pt x="445262" y="2671572"/>
                  </a:lnTo>
                  <a:cubicBezTo>
                    <a:pt x="199390" y="2671572"/>
                    <a:pt x="0" y="2472309"/>
                    <a:pt x="0" y="222631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399033" y="6881889"/>
            <a:ext cx="1042854" cy="1042854"/>
            <a:chOff x="0" y="0"/>
            <a:chExt cx="1390472" cy="139047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102" id="102"/>
          <p:cNvSpPr txBox="true"/>
          <p:nvPr/>
        </p:nvSpPr>
        <p:spPr>
          <a:xfrm rot="0">
            <a:off x="10732741" y="7217626"/>
            <a:ext cx="3617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"/>
              </a:lnSpc>
            </a:pPr>
            <a:r>
              <a:rPr lang="en-US" sz="10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1572475" y="8329870"/>
            <a:ext cx="1715843" cy="109814"/>
            <a:chOff x="0" y="0"/>
            <a:chExt cx="2287791" cy="14641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87778" cy="146431"/>
            </a:xfrm>
            <a:custGeom>
              <a:avLst/>
              <a:gdLst/>
              <a:ahLst/>
              <a:cxnLst/>
              <a:rect r="r" b="b" t="t" l="l"/>
              <a:pathLst>
                <a:path h="146431" w="2287778">
                  <a:moveTo>
                    <a:pt x="0" y="0"/>
                  </a:moveTo>
                  <a:lnTo>
                    <a:pt x="2287778" y="0"/>
                  </a:lnTo>
                  <a:lnTo>
                    <a:pt x="228777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572475" y="8329870"/>
            <a:ext cx="1286456" cy="109814"/>
            <a:chOff x="0" y="0"/>
            <a:chExt cx="1715275" cy="14641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715262" cy="146431"/>
            </a:xfrm>
            <a:custGeom>
              <a:avLst/>
              <a:gdLst/>
              <a:ahLst/>
              <a:cxnLst/>
              <a:rect r="r" b="b" t="t" l="l"/>
              <a:pathLst>
                <a:path h="146431" w="1715262">
                  <a:moveTo>
                    <a:pt x="0" y="0"/>
                  </a:moveTo>
                  <a:lnTo>
                    <a:pt x="1715262" y="0"/>
                  </a:lnTo>
                  <a:lnTo>
                    <a:pt x="1715262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132700" y="6634810"/>
            <a:ext cx="3582295" cy="2003717"/>
            <a:chOff x="0" y="0"/>
            <a:chExt cx="4776394" cy="26716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76343" cy="2671572"/>
            </a:xfrm>
            <a:custGeom>
              <a:avLst/>
              <a:gdLst/>
              <a:ahLst/>
              <a:cxnLst/>
              <a:rect r="r" b="b" t="t" l="l"/>
              <a:pathLst>
                <a:path h="2671572" w="4776343">
                  <a:moveTo>
                    <a:pt x="0" y="445262"/>
                  </a:moveTo>
                  <a:cubicBezTo>
                    <a:pt x="0" y="199390"/>
                    <a:pt x="199390" y="0"/>
                    <a:pt x="445262" y="0"/>
                  </a:cubicBezTo>
                  <a:lnTo>
                    <a:pt x="4331081" y="0"/>
                  </a:lnTo>
                  <a:cubicBezTo>
                    <a:pt x="4576953" y="0"/>
                    <a:pt x="4776343" y="199390"/>
                    <a:pt x="4776343" y="445262"/>
                  </a:cubicBezTo>
                  <a:lnTo>
                    <a:pt x="4776343" y="2226310"/>
                  </a:lnTo>
                  <a:cubicBezTo>
                    <a:pt x="4776343" y="2472182"/>
                    <a:pt x="4576953" y="2671572"/>
                    <a:pt x="4331081" y="2671572"/>
                  </a:cubicBezTo>
                  <a:lnTo>
                    <a:pt x="445262" y="2671572"/>
                  </a:lnTo>
                  <a:cubicBezTo>
                    <a:pt x="199390" y="2671572"/>
                    <a:pt x="0" y="2472309"/>
                    <a:pt x="0" y="2226310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338602" y="6881889"/>
            <a:ext cx="1042854" cy="1042854"/>
            <a:chOff x="0" y="0"/>
            <a:chExt cx="1390472" cy="13904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111" id="111"/>
          <p:cNvSpPr txBox="true"/>
          <p:nvPr/>
        </p:nvSpPr>
        <p:spPr>
          <a:xfrm rot="0">
            <a:off x="14672310" y="7217626"/>
            <a:ext cx="3617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"/>
              </a:lnSpc>
            </a:pPr>
            <a:r>
              <a:rPr lang="en-US" sz="10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5512044" y="8329870"/>
            <a:ext cx="1715843" cy="109814"/>
            <a:chOff x="0" y="0"/>
            <a:chExt cx="2287791" cy="14641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87778" cy="146431"/>
            </a:xfrm>
            <a:custGeom>
              <a:avLst/>
              <a:gdLst/>
              <a:ahLst/>
              <a:cxnLst/>
              <a:rect r="r" b="b" t="t" l="l"/>
              <a:pathLst>
                <a:path h="146431" w="2287778">
                  <a:moveTo>
                    <a:pt x="0" y="0"/>
                  </a:moveTo>
                  <a:lnTo>
                    <a:pt x="2287778" y="0"/>
                  </a:lnTo>
                  <a:lnTo>
                    <a:pt x="228777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512044" y="8329870"/>
            <a:ext cx="647490" cy="109814"/>
            <a:chOff x="0" y="0"/>
            <a:chExt cx="863321" cy="14641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63346" cy="146431"/>
            </a:xfrm>
            <a:custGeom>
              <a:avLst/>
              <a:gdLst/>
              <a:ahLst/>
              <a:cxnLst/>
              <a:rect r="r" b="b" t="t" l="l"/>
              <a:pathLst>
                <a:path h="146431" w="863346">
                  <a:moveTo>
                    <a:pt x="0" y="0"/>
                  </a:moveTo>
                  <a:lnTo>
                    <a:pt x="863346" y="0"/>
                  </a:lnTo>
                  <a:lnTo>
                    <a:pt x="86334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Freeform 116" id="116"/>
          <p:cNvSpPr/>
          <p:nvPr/>
        </p:nvSpPr>
        <p:spPr>
          <a:xfrm flipH="true" flipV="true" rot="5093262">
            <a:off x="14014014" y="-2000145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7" id="117"/>
          <p:cNvGrpSpPr/>
          <p:nvPr/>
        </p:nvGrpSpPr>
        <p:grpSpPr>
          <a:xfrm rot="0">
            <a:off x="6790479" y="8126255"/>
            <a:ext cx="859571" cy="859571"/>
            <a:chOff x="0" y="0"/>
            <a:chExt cx="1390472" cy="139047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119" id="119"/>
          <p:cNvSpPr txBox="true"/>
          <p:nvPr/>
        </p:nvSpPr>
        <p:spPr>
          <a:xfrm rot="0">
            <a:off x="7065538" y="8391787"/>
            <a:ext cx="298141" cy="14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"/>
              </a:lnSpc>
            </a:pPr>
            <a:r>
              <a:rPr lang="en-US" sz="84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7557421" y="8940457"/>
            <a:ext cx="640443" cy="1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1"/>
              </a:lnSpc>
            </a:pPr>
            <a:r>
              <a:rPr lang="en-US" sz="109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325 votos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7910087" y="9369817"/>
            <a:ext cx="735424" cy="90514"/>
            <a:chOff x="0" y="0"/>
            <a:chExt cx="1189647" cy="14641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89609" cy="146431"/>
            </a:xfrm>
            <a:custGeom>
              <a:avLst/>
              <a:gdLst/>
              <a:ahLst/>
              <a:cxnLst/>
              <a:rect r="r" b="b" t="t" l="l"/>
              <a:pathLst>
                <a:path h="146431" w="1189609">
                  <a:moveTo>
                    <a:pt x="0" y="0"/>
                  </a:moveTo>
                  <a:lnTo>
                    <a:pt x="1189609" y="0"/>
                  </a:lnTo>
                  <a:lnTo>
                    <a:pt x="118960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7910087" y="9369817"/>
            <a:ext cx="437817" cy="90514"/>
            <a:chOff x="0" y="0"/>
            <a:chExt cx="708228" cy="14641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08279" cy="146431"/>
            </a:xfrm>
            <a:custGeom>
              <a:avLst/>
              <a:gdLst/>
              <a:ahLst/>
              <a:cxnLst/>
              <a:rect r="r" b="b" t="t" l="l"/>
              <a:pathLst>
                <a:path h="146431" w="708279">
                  <a:moveTo>
                    <a:pt x="0" y="0"/>
                  </a:moveTo>
                  <a:lnTo>
                    <a:pt x="708279" y="0"/>
                  </a:lnTo>
                  <a:lnTo>
                    <a:pt x="70827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642903" y="7997219"/>
            <a:ext cx="1078467" cy="1078467"/>
            <a:chOff x="0" y="0"/>
            <a:chExt cx="13716000" cy="137160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105" t="0" r="-105" b="0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3747900" y="4332230"/>
            <a:ext cx="1138163" cy="1138163"/>
            <a:chOff x="0" y="0"/>
            <a:chExt cx="13716000" cy="137160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2513" t="0" r="-12513" b="-36711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3792829" y="6383156"/>
            <a:ext cx="1138163" cy="1138163"/>
            <a:chOff x="0" y="0"/>
            <a:chExt cx="13716000" cy="137160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2513" t="0" r="-12513" b="-36711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81131" y="6317577"/>
            <a:ext cx="1138163" cy="1138163"/>
            <a:chOff x="0" y="0"/>
            <a:chExt cx="13716000" cy="137160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2513" t="0" r="-12513" b="-36711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848471" y="4364204"/>
            <a:ext cx="1138163" cy="1138163"/>
            <a:chOff x="0" y="0"/>
            <a:chExt cx="13716000" cy="137160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2513" t="0" r="-12513" b="-36711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6620765" y="4283551"/>
            <a:ext cx="1067202" cy="1067202"/>
            <a:chOff x="0" y="0"/>
            <a:chExt cx="13716000" cy="137160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2513" t="0" r="-12513" b="-36711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328677" y="4292188"/>
            <a:ext cx="1243798" cy="1243798"/>
            <a:chOff x="0" y="0"/>
            <a:chExt cx="13716000" cy="137160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29617" t="0" r="-29617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291698" y="6667533"/>
            <a:ext cx="1243798" cy="1243798"/>
            <a:chOff x="0" y="0"/>
            <a:chExt cx="13716000" cy="137160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-15811" t="0" r="-15811" b="0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4231267" y="4376415"/>
            <a:ext cx="1243798" cy="1243798"/>
            <a:chOff x="0" y="0"/>
            <a:chExt cx="13716000" cy="137160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-25329" t="0" r="-25329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4194526" y="6762816"/>
            <a:ext cx="1243798" cy="1243798"/>
            <a:chOff x="0" y="0"/>
            <a:chExt cx="13716000" cy="137160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6733927" y="6295213"/>
            <a:ext cx="927454" cy="927454"/>
            <a:chOff x="0" y="0"/>
            <a:chExt cx="13716000" cy="137160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0"/>
              <a:stretch>
                <a:fillRect l="-3454" t="0" r="-3454" b="-19314"/>
              </a:stretch>
            </a:blipFill>
          </p:spPr>
        </p:sp>
      </p:grpSp>
      <p:sp>
        <p:nvSpPr>
          <p:cNvPr name="TextBox 147" id="147"/>
          <p:cNvSpPr txBox="true"/>
          <p:nvPr/>
        </p:nvSpPr>
        <p:spPr>
          <a:xfrm rot="0">
            <a:off x="949181" y="2373316"/>
            <a:ext cx="325254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b="true" sz="18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Concejo municipal de Ortega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978768" y="3106426"/>
            <a:ext cx="241637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47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Conservador · total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069928" y="3475734"/>
            <a:ext cx="9173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4.441 votos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2736155" y="3475734"/>
            <a:ext cx="5712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34,42%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4200354" y="3106426"/>
            <a:ext cx="10309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47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MAIS · total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4089801" y="3475734"/>
            <a:ext cx="9173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1.472 votos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6726069" y="3106426"/>
            <a:ext cx="87475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47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ASI · total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6615516" y="3475734"/>
            <a:ext cx="9173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1.156 votos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2131233" y="4438552"/>
            <a:ext cx="1017476" cy="4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488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Víctor Leal Tapiero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2008153" y="5024601"/>
            <a:ext cx="1253476" cy="16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0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2648900" y="5446460"/>
            <a:ext cx="43700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3,98%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4983661" y="4438552"/>
            <a:ext cx="1017476" cy="68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488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Diego Armando Correcha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4702787" y="5465513"/>
            <a:ext cx="71101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485 votos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5501320" y="5446460"/>
            <a:ext cx="43700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3,75%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7744472" y="4412323"/>
            <a:ext cx="936414" cy="64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3"/>
              </a:lnSpc>
            </a:pPr>
            <a:r>
              <a:rPr lang="en-US" sz="1369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Alexander Capera Ducuara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7473180" y="5367735"/>
            <a:ext cx="654365" cy="17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0"/>
              </a:lnSpc>
            </a:pPr>
            <a:r>
              <a:rPr lang="en-US" sz="111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459 votos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8220897" y="5358221"/>
            <a:ext cx="402185" cy="17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0"/>
              </a:lnSpc>
            </a:pPr>
            <a:r>
              <a:rPr lang="en-US" sz="1116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3,55%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2178243" y="6402835"/>
            <a:ext cx="1017476" cy="68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488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Adolfo Tapiero Lozano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2695910" y="7410751"/>
            <a:ext cx="43700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3,55%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5030671" y="6402835"/>
            <a:ext cx="1017476" cy="68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488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Carlos Eduardo Mendoza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4960250" y="7163205"/>
            <a:ext cx="1253476" cy="16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1"/>
              </a:lnSpc>
            </a:pPr>
            <a:r>
              <a:rPr lang="en-US" sz="10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Partido Conservador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5548330" y="7410751"/>
            <a:ext cx="437001" cy="2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6"/>
              </a:lnSpc>
            </a:pPr>
            <a:r>
              <a:rPr lang="en-US" sz="1213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2,97%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7770044" y="6181955"/>
            <a:ext cx="916491" cy="6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34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Miguel Ángel Ducuara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7757687" y="6911391"/>
            <a:ext cx="300986" cy="1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"/>
              </a:lnSpc>
            </a:pPr>
            <a:r>
              <a:rPr lang="en-US" sz="969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MAIS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8294941" y="7186369"/>
            <a:ext cx="393628" cy="1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1"/>
              </a:lnSpc>
            </a:pPr>
            <a:r>
              <a:rPr lang="en-US" sz="109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1,44%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8294941" y="8959336"/>
            <a:ext cx="477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2,51%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9720563" y="2373316"/>
            <a:ext cx="280904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b="true" sz="18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Asamblea Departamental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0599068" y="3100540"/>
            <a:ext cx="241637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47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Conservador · total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0599068" y="3475358"/>
            <a:ext cx="9173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5.188 votos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2745736" y="3475358"/>
            <a:ext cx="5712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50,69%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1572475" y="4572848"/>
            <a:ext cx="193550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Abel Otálora Arias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11603812" y="5038725"/>
            <a:ext cx="202572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1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2023 · Conservador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1599907" y="5602072"/>
            <a:ext cx="91737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1.007 votos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2989228" y="5602072"/>
            <a:ext cx="477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9,84%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5539476" y="4449023"/>
            <a:ext cx="193550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Milton Gernando Reyes Giraldo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5539476" y="5097132"/>
            <a:ext cx="202572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1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2023 · Conservador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15539476" y="5602072"/>
            <a:ext cx="7770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799 votos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6928797" y="5602072"/>
            <a:ext cx="477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7,80%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11599907" y="6851199"/>
            <a:ext cx="193550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Giovanny Eduardo Molina Correcha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11599907" y="7512282"/>
            <a:ext cx="202572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1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2023 · Conservador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11599907" y="8004248"/>
            <a:ext cx="7770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755 votos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12989228" y="8004248"/>
            <a:ext cx="477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7,37%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15539476" y="6851199"/>
            <a:ext cx="193550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Brayam Alfonso Escandón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5539476" y="7512282"/>
            <a:ext cx="202572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176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Asamblea 2023 · Conservador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15539476" y="8004248"/>
            <a:ext cx="77700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380 votos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16928797" y="8004248"/>
            <a:ext cx="477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3,71%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7792655" y="7990077"/>
            <a:ext cx="916491" cy="6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340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Gloria Mercedes Monroy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7792655" y="8647238"/>
            <a:ext cx="198433" cy="15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"/>
              </a:lnSpc>
            </a:pPr>
            <a:r>
              <a:rPr lang="en-US" sz="969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ASI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1955626" y="10197756"/>
            <a:ext cx="393628" cy="1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1"/>
              </a:lnSpc>
            </a:pPr>
            <a:r>
              <a:rPr lang="en-US" sz="1093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1,44%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5823"/>
            <a:ext cx="18301840" cy="9688350"/>
            <a:chOff x="0" y="0"/>
            <a:chExt cx="24402453" cy="1291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917752"/>
            </a:xfrm>
            <a:custGeom>
              <a:avLst/>
              <a:gdLst/>
              <a:ahLst/>
              <a:cxnLst/>
              <a:rect r="r" b="b" t="t" l="l"/>
              <a:pathLst>
                <a:path h="1291775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917752"/>
                  </a:lnTo>
                  <a:lnTo>
                    <a:pt x="0" y="12917752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4654" y="2053042"/>
            <a:ext cx="319539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Cámara de Representantes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7222" y="2364938"/>
            <a:ext cx="8071314" cy="16469"/>
            <a:chOff x="0" y="0"/>
            <a:chExt cx="10761751" cy="219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1726" cy="21971"/>
            </a:xfrm>
            <a:custGeom>
              <a:avLst/>
              <a:gdLst/>
              <a:ahLst/>
              <a:cxnLst/>
              <a:rect r="r" b="b" t="t" l="l"/>
              <a:pathLst>
                <a:path h="21971" w="10761726">
                  <a:moveTo>
                    <a:pt x="0" y="0"/>
                  </a:moveTo>
                  <a:lnTo>
                    <a:pt x="10761726" y="0"/>
                  </a:lnTo>
                  <a:lnTo>
                    <a:pt x="10761726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7222" y="2788003"/>
            <a:ext cx="8084658" cy="1317384"/>
            <a:chOff x="0" y="0"/>
            <a:chExt cx="10779544" cy="1756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79506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779506">
                  <a:moveTo>
                    <a:pt x="0" y="292735"/>
                  </a:moveTo>
                  <a:cubicBezTo>
                    <a:pt x="0" y="131064"/>
                    <a:pt x="131064" y="0"/>
                    <a:pt x="292735" y="0"/>
                  </a:cubicBezTo>
                  <a:lnTo>
                    <a:pt x="10486771" y="0"/>
                  </a:lnTo>
                  <a:cubicBezTo>
                    <a:pt x="10648442" y="0"/>
                    <a:pt x="10779506" y="131064"/>
                    <a:pt x="10779506" y="292735"/>
                  </a:cubicBezTo>
                  <a:lnTo>
                    <a:pt x="10779506" y="1463675"/>
                  </a:lnTo>
                  <a:cubicBezTo>
                    <a:pt x="10779506" y="1625346"/>
                    <a:pt x="10648442" y="1756410"/>
                    <a:pt x="10486771" y="1756410"/>
                  </a:cubicBezTo>
                  <a:lnTo>
                    <a:pt x="292735" y="1756410"/>
                  </a:lnTo>
                  <a:cubicBezTo>
                    <a:pt x="131064" y="1756537"/>
                    <a:pt x="0" y="1625473"/>
                    <a:pt x="0" y="146380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93124" y="3035082"/>
            <a:ext cx="1042854" cy="1042854"/>
            <a:chOff x="0" y="0"/>
            <a:chExt cx="1390472" cy="1390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09142" y="3370819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66566" y="3796720"/>
            <a:ext cx="6218206" cy="109814"/>
            <a:chOff x="0" y="0"/>
            <a:chExt cx="8290941" cy="146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66566" y="3796720"/>
            <a:ext cx="6218206" cy="109814"/>
            <a:chOff x="0" y="0"/>
            <a:chExt cx="8290941" cy="146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7222" y="4229307"/>
            <a:ext cx="8084658" cy="1317384"/>
            <a:chOff x="0" y="0"/>
            <a:chExt cx="10779544" cy="17565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79506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779506">
                  <a:moveTo>
                    <a:pt x="0" y="292735"/>
                  </a:moveTo>
                  <a:cubicBezTo>
                    <a:pt x="0" y="131064"/>
                    <a:pt x="131064" y="0"/>
                    <a:pt x="292735" y="0"/>
                  </a:cubicBezTo>
                  <a:lnTo>
                    <a:pt x="10486771" y="0"/>
                  </a:lnTo>
                  <a:cubicBezTo>
                    <a:pt x="10648442" y="0"/>
                    <a:pt x="10779506" y="131064"/>
                    <a:pt x="10779506" y="292735"/>
                  </a:cubicBezTo>
                  <a:lnTo>
                    <a:pt x="10779506" y="1463675"/>
                  </a:lnTo>
                  <a:cubicBezTo>
                    <a:pt x="10779506" y="1625346"/>
                    <a:pt x="10648442" y="1756410"/>
                    <a:pt x="10486771" y="1756410"/>
                  </a:cubicBezTo>
                  <a:lnTo>
                    <a:pt x="292735" y="1756410"/>
                  </a:lnTo>
                  <a:cubicBezTo>
                    <a:pt x="131064" y="1756537"/>
                    <a:pt x="0" y="1625473"/>
                    <a:pt x="0" y="146380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93124" y="4476386"/>
            <a:ext cx="1042854" cy="1042854"/>
            <a:chOff x="0" y="0"/>
            <a:chExt cx="1390472" cy="1390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09142" y="4812123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166566" y="5238033"/>
            <a:ext cx="6218206" cy="109814"/>
            <a:chOff x="0" y="0"/>
            <a:chExt cx="8290941" cy="1464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66566" y="5238033"/>
            <a:ext cx="1647892" cy="109814"/>
            <a:chOff x="0" y="0"/>
            <a:chExt cx="2197189" cy="1464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227" cy="146431"/>
            </a:xfrm>
            <a:custGeom>
              <a:avLst/>
              <a:gdLst/>
              <a:ahLst/>
              <a:cxnLst/>
              <a:rect r="r" b="b" t="t" l="l"/>
              <a:pathLst>
                <a:path h="146431" w="2197227">
                  <a:moveTo>
                    <a:pt x="0" y="0"/>
                  </a:moveTo>
                  <a:lnTo>
                    <a:pt x="2197227" y="0"/>
                  </a:lnTo>
                  <a:lnTo>
                    <a:pt x="219722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87222" y="5670611"/>
            <a:ext cx="8084658" cy="1317384"/>
            <a:chOff x="0" y="0"/>
            <a:chExt cx="10779544" cy="17565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9506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779506">
                  <a:moveTo>
                    <a:pt x="0" y="292735"/>
                  </a:moveTo>
                  <a:cubicBezTo>
                    <a:pt x="0" y="131064"/>
                    <a:pt x="131064" y="0"/>
                    <a:pt x="292735" y="0"/>
                  </a:cubicBezTo>
                  <a:lnTo>
                    <a:pt x="10486771" y="0"/>
                  </a:lnTo>
                  <a:cubicBezTo>
                    <a:pt x="10648442" y="0"/>
                    <a:pt x="10779506" y="131064"/>
                    <a:pt x="10779506" y="292735"/>
                  </a:cubicBezTo>
                  <a:lnTo>
                    <a:pt x="10779506" y="1463675"/>
                  </a:lnTo>
                  <a:cubicBezTo>
                    <a:pt x="10779506" y="1625346"/>
                    <a:pt x="10648442" y="1756410"/>
                    <a:pt x="10486771" y="1756410"/>
                  </a:cubicBezTo>
                  <a:lnTo>
                    <a:pt x="292735" y="1756410"/>
                  </a:lnTo>
                  <a:cubicBezTo>
                    <a:pt x="131064" y="1756537"/>
                    <a:pt x="0" y="1625473"/>
                    <a:pt x="0" y="146380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93124" y="5917690"/>
            <a:ext cx="1042854" cy="1042854"/>
            <a:chOff x="0" y="0"/>
            <a:chExt cx="1390472" cy="1390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09142" y="6253427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166566" y="6679337"/>
            <a:ext cx="6218206" cy="109814"/>
            <a:chOff x="0" y="0"/>
            <a:chExt cx="8290941" cy="1464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66566" y="6679337"/>
            <a:ext cx="1326509" cy="109814"/>
            <a:chOff x="0" y="0"/>
            <a:chExt cx="1768678" cy="1464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68729" cy="146431"/>
            </a:xfrm>
            <a:custGeom>
              <a:avLst/>
              <a:gdLst/>
              <a:ahLst/>
              <a:cxnLst/>
              <a:rect r="r" b="b" t="t" l="l"/>
              <a:pathLst>
                <a:path h="146431" w="1768729">
                  <a:moveTo>
                    <a:pt x="0" y="0"/>
                  </a:moveTo>
                  <a:lnTo>
                    <a:pt x="1768729" y="0"/>
                  </a:lnTo>
                  <a:lnTo>
                    <a:pt x="176872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87222" y="7111915"/>
            <a:ext cx="8084658" cy="1317384"/>
            <a:chOff x="0" y="0"/>
            <a:chExt cx="10779544" cy="17565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79506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779506">
                  <a:moveTo>
                    <a:pt x="0" y="292735"/>
                  </a:moveTo>
                  <a:cubicBezTo>
                    <a:pt x="0" y="131064"/>
                    <a:pt x="131064" y="0"/>
                    <a:pt x="292735" y="0"/>
                  </a:cubicBezTo>
                  <a:lnTo>
                    <a:pt x="10486771" y="0"/>
                  </a:lnTo>
                  <a:cubicBezTo>
                    <a:pt x="10648442" y="0"/>
                    <a:pt x="10779506" y="131064"/>
                    <a:pt x="10779506" y="292735"/>
                  </a:cubicBezTo>
                  <a:lnTo>
                    <a:pt x="10779506" y="1463675"/>
                  </a:lnTo>
                  <a:cubicBezTo>
                    <a:pt x="10779506" y="1625346"/>
                    <a:pt x="10648442" y="1756410"/>
                    <a:pt x="10486771" y="1756410"/>
                  </a:cubicBezTo>
                  <a:lnTo>
                    <a:pt x="292735" y="1756410"/>
                  </a:lnTo>
                  <a:cubicBezTo>
                    <a:pt x="131064" y="1756537"/>
                    <a:pt x="0" y="1625473"/>
                    <a:pt x="0" y="1463802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3124" y="7358994"/>
            <a:ext cx="1042854" cy="1042854"/>
            <a:chOff x="0" y="0"/>
            <a:chExt cx="1390472" cy="13904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309142" y="7694731"/>
            <a:ext cx="39707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FOTO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166566" y="8120641"/>
            <a:ext cx="6218206" cy="109814"/>
            <a:chOff x="0" y="0"/>
            <a:chExt cx="8290941" cy="1464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90941" cy="146431"/>
            </a:xfrm>
            <a:custGeom>
              <a:avLst/>
              <a:gdLst/>
              <a:ahLst/>
              <a:cxnLst/>
              <a:rect r="r" b="b" t="t" l="l"/>
              <a:pathLst>
                <a:path h="146431" w="8290941">
                  <a:moveTo>
                    <a:pt x="0" y="0"/>
                  </a:moveTo>
                  <a:lnTo>
                    <a:pt x="8290941" y="0"/>
                  </a:lnTo>
                  <a:lnTo>
                    <a:pt x="829094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166566" y="8120641"/>
            <a:ext cx="612838" cy="109814"/>
            <a:chOff x="0" y="0"/>
            <a:chExt cx="817118" cy="1464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7118" cy="146431"/>
            </a:xfrm>
            <a:custGeom>
              <a:avLst/>
              <a:gdLst/>
              <a:ahLst/>
              <a:cxnLst/>
              <a:rect r="r" b="b" t="t" l="l"/>
              <a:pathLst>
                <a:path h="146431" w="817118">
                  <a:moveTo>
                    <a:pt x="0" y="0"/>
                  </a:moveTo>
                  <a:lnTo>
                    <a:pt x="817118" y="0"/>
                  </a:lnTo>
                  <a:lnTo>
                    <a:pt x="81711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270321" y="2053042"/>
            <a:ext cx="8951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Senado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42889" y="2364938"/>
            <a:ext cx="8016411" cy="16469"/>
            <a:chOff x="0" y="0"/>
            <a:chExt cx="10688549" cy="219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88574" cy="21971"/>
            </a:xfrm>
            <a:custGeom>
              <a:avLst/>
              <a:gdLst/>
              <a:ahLst/>
              <a:cxnLst/>
              <a:rect r="r" b="b" t="t" l="l"/>
              <a:pathLst>
                <a:path h="21971" w="10688574">
                  <a:moveTo>
                    <a:pt x="0" y="0"/>
                  </a:moveTo>
                  <a:lnTo>
                    <a:pt x="10688574" y="0"/>
                  </a:lnTo>
                  <a:lnTo>
                    <a:pt x="1068857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98251" y="2774797"/>
            <a:ext cx="8029756" cy="1111482"/>
            <a:chOff x="0" y="0"/>
            <a:chExt cx="10706341" cy="14819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06354" cy="1481963"/>
            </a:xfrm>
            <a:custGeom>
              <a:avLst/>
              <a:gdLst/>
              <a:ahLst/>
              <a:cxnLst/>
              <a:rect r="r" b="b" t="t" l="l"/>
              <a:pathLst>
                <a:path h="1481963" w="10706354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459339" y="0"/>
                  </a:lnTo>
                  <a:cubicBezTo>
                    <a:pt x="10595737" y="0"/>
                    <a:pt x="10706354" y="110617"/>
                    <a:pt x="10706354" y="247015"/>
                  </a:cubicBezTo>
                  <a:lnTo>
                    <a:pt x="10706354" y="1234948"/>
                  </a:lnTo>
                  <a:cubicBezTo>
                    <a:pt x="10706354" y="1371346"/>
                    <a:pt x="10595737" y="1481963"/>
                    <a:pt x="10459339" y="1481963"/>
                  </a:cubicBezTo>
                  <a:lnTo>
                    <a:pt x="247015" y="1481963"/>
                  </a:lnTo>
                  <a:cubicBezTo>
                    <a:pt x="110617" y="1481963"/>
                    <a:pt x="0" y="1371346"/>
                    <a:pt x="0" y="1234948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31134" y="2826937"/>
            <a:ext cx="1042854" cy="1042854"/>
            <a:chOff x="0" y="0"/>
            <a:chExt cx="1390472" cy="13904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862224" y="3693302"/>
            <a:ext cx="6163304" cy="109814"/>
            <a:chOff x="0" y="0"/>
            <a:chExt cx="8217738" cy="1464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862224" y="3686906"/>
            <a:ext cx="6163304" cy="109814"/>
            <a:chOff x="0" y="0"/>
            <a:chExt cx="8217738" cy="1464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64147" y="4176681"/>
            <a:ext cx="8029756" cy="1111482"/>
            <a:chOff x="0" y="0"/>
            <a:chExt cx="10706341" cy="1481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06354" cy="1481963"/>
            </a:xfrm>
            <a:custGeom>
              <a:avLst/>
              <a:gdLst/>
              <a:ahLst/>
              <a:cxnLst/>
              <a:rect r="r" b="b" t="t" l="l"/>
              <a:pathLst>
                <a:path h="1481963" w="10706354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459339" y="0"/>
                  </a:lnTo>
                  <a:cubicBezTo>
                    <a:pt x="10595737" y="0"/>
                    <a:pt x="10706354" y="110617"/>
                    <a:pt x="10706354" y="247015"/>
                  </a:cubicBezTo>
                  <a:lnTo>
                    <a:pt x="10706354" y="1234948"/>
                  </a:lnTo>
                  <a:cubicBezTo>
                    <a:pt x="10706354" y="1371346"/>
                    <a:pt x="10595737" y="1481963"/>
                    <a:pt x="10459339" y="1481963"/>
                  </a:cubicBezTo>
                  <a:lnTo>
                    <a:pt x="247015" y="1481963"/>
                  </a:lnTo>
                  <a:cubicBezTo>
                    <a:pt x="110617" y="1481963"/>
                    <a:pt x="0" y="1371346"/>
                    <a:pt x="0" y="1234948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482880" y="4176681"/>
            <a:ext cx="1042854" cy="1042854"/>
            <a:chOff x="0" y="0"/>
            <a:chExt cx="1390472" cy="13904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743490" y="4979506"/>
            <a:ext cx="6163304" cy="109814"/>
            <a:chOff x="0" y="0"/>
            <a:chExt cx="8217738" cy="14641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743490" y="4979506"/>
            <a:ext cx="2596677" cy="109814"/>
            <a:chOff x="0" y="0"/>
            <a:chExt cx="3462236" cy="146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62274" cy="146431"/>
            </a:xfrm>
            <a:custGeom>
              <a:avLst/>
              <a:gdLst/>
              <a:ahLst/>
              <a:cxnLst/>
              <a:rect r="r" b="b" t="t" l="l"/>
              <a:pathLst>
                <a:path h="146431" w="3462274">
                  <a:moveTo>
                    <a:pt x="0" y="0"/>
                  </a:moveTo>
                  <a:lnTo>
                    <a:pt x="3462274" y="0"/>
                  </a:lnTo>
                  <a:lnTo>
                    <a:pt x="346227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57474" y="5554863"/>
            <a:ext cx="8029756" cy="1111482"/>
            <a:chOff x="0" y="0"/>
            <a:chExt cx="10706341" cy="14819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06354" cy="1481963"/>
            </a:xfrm>
            <a:custGeom>
              <a:avLst/>
              <a:gdLst/>
              <a:ahLst/>
              <a:cxnLst/>
              <a:rect r="r" b="b" t="t" l="l"/>
              <a:pathLst>
                <a:path h="1481963" w="10706354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459339" y="0"/>
                  </a:lnTo>
                  <a:cubicBezTo>
                    <a:pt x="10595737" y="0"/>
                    <a:pt x="10706354" y="110617"/>
                    <a:pt x="10706354" y="247015"/>
                  </a:cubicBezTo>
                  <a:lnTo>
                    <a:pt x="10706354" y="1234948"/>
                  </a:lnTo>
                  <a:cubicBezTo>
                    <a:pt x="10706354" y="1371346"/>
                    <a:pt x="10595737" y="1481963"/>
                    <a:pt x="10459339" y="1481963"/>
                  </a:cubicBezTo>
                  <a:lnTo>
                    <a:pt x="247015" y="1481963"/>
                  </a:lnTo>
                  <a:cubicBezTo>
                    <a:pt x="110617" y="1481963"/>
                    <a:pt x="0" y="1371346"/>
                    <a:pt x="0" y="1234948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482880" y="5566689"/>
            <a:ext cx="1042854" cy="1042854"/>
            <a:chOff x="0" y="0"/>
            <a:chExt cx="1390472" cy="13904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0764250" y="6147795"/>
            <a:ext cx="11076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Solo por la lista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0736818" y="6357687"/>
            <a:ext cx="6163304" cy="109814"/>
            <a:chOff x="0" y="0"/>
            <a:chExt cx="8217738" cy="14641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736818" y="6357687"/>
            <a:ext cx="2472642" cy="109814"/>
            <a:chOff x="0" y="0"/>
            <a:chExt cx="3296857" cy="14641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96793" cy="146431"/>
            </a:xfrm>
            <a:custGeom>
              <a:avLst/>
              <a:gdLst/>
              <a:ahLst/>
              <a:cxnLst/>
              <a:rect r="r" b="b" t="t" l="l"/>
              <a:pathLst>
                <a:path h="146431" w="3296793">
                  <a:moveTo>
                    <a:pt x="0" y="0"/>
                  </a:moveTo>
                  <a:lnTo>
                    <a:pt x="3296793" y="0"/>
                  </a:lnTo>
                  <a:lnTo>
                    <a:pt x="3296793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98251" y="6875895"/>
            <a:ext cx="8029756" cy="1111482"/>
            <a:chOff x="0" y="0"/>
            <a:chExt cx="10706341" cy="148197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06354" cy="1481963"/>
            </a:xfrm>
            <a:custGeom>
              <a:avLst/>
              <a:gdLst/>
              <a:ahLst/>
              <a:cxnLst/>
              <a:rect r="r" b="b" t="t" l="l"/>
              <a:pathLst>
                <a:path h="1481963" w="10706354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459339" y="0"/>
                  </a:lnTo>
                  <a:cubicBezTo>
                    <a:pt x="10595737" y="0"/>
                    <a:pt x="10706354" y="110617"/>
                    <a:pt x="10706354" y="247015"/>
                  </a:cubicBezTo>
                  <a:lnTo>
                    <a:pt x="10706354" y="1234948"/>
                  </a:lnTo>
                  <a:cubicBezTo>
                    <a:pt x="10706354" y="1371346"/>
                    <a:pt x="10595737" y="1481963"/>
                    <a:pt x="10459339" y="1481963"/>
                  </a:cubicBezTo>
                  <a:lnTo>
                    <a:pt x="247015" y="1481963"/>
                  </a:lnTo>
                  <a:cubicBezTo>
                    <a:pt x="110617" y="1481963"/>
                    <a:pt x="0" y="1371346"/>
                    <a:pt x="0" y="1234948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82880" y="6900100"/>
            <a:ext cx="1042854" cy="1042854"/>
            <a:chOff x="0" y="0"/>
            <a:chExt cx="1390472" cy="139047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777595" y="7678719"/>
            <a:ext cx="6163304" cy="109814"/>
            <a:chOff x="0" y="0"/>
            <a:chExt cx="8217738" cy="14641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777595" y="7678719"/>
            <a:ext cx="2094424" cy="109814"/>
            <a:chOff x="0" y="0"/>
            <a:chExt cx="2792565" cy="1464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792603" cy="146431"/>
            </a:xfrm>
            <a:custGeom>
              <a:avLst/>
              <a:gdLst/>
              <a:ahLst/>
              <a:cxnLst/>
              <a:rect r="r" b="b" t="t" l="l"/>
              <a:pathLst>
                <a:path h="146431" w="2792603">
                  <a:moveTo>
                    <a:pt x="0" y="0"/>
                  </a:moveTo>
                  <a:lnTo>
                    <a:pt x="2792603" y="0"/>
                  </a:lnTo>
                  <a:lnTo>
                    <a:pt x="2792603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357474" y="8175548"/>
            <a:ext cx="8029756" cy="1111482"/>
            <a:chOff x="0" y="0"/>
            <a:chExt cx="10706341" cy="148197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06354" cy="1481963"/>
            </a:xfrm>
            <a:custGeom>
              <a:avLst/>
              <a:gdLst/>
              <a:ahLst/>
              <a:cxnLst/>
              <a:rect r="r" b="b" t="t" l="l"/>
              <a:pathLst>
                <a:path h="1481963" w="10706354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459339" y="0"/>
                  </a:lnTo>
                  <a:cubicBezTo>
                    <a:pt x="10595737" y="0"/>
                    <a:pt x="10706354" y="110617"/>
                    <a:pt x="10706354" y="247015"/>
                  </a:cubicBezTo>
                  <a:lnTo>
                    <a:pt x="10706354" y="1234948"/>
                  </a:lnTo>
                  <a:cubicBezTo>
                    <a:pt x="10706354" y="1371346"/>
                    <a:pt x="10595737" y="1481963"/>
                    <a:pt x="10459339" y="1481963"/>
                  </a:cubicBezTo>
                  <a:lnTo>
                    <a:pt x="247015" y="1481963"/>
                  </a:lnTo>
                  <a:cubicBezTo>
                    <a:pt x="110617" y="1481963"/>
                    <a:pt x="0" y="1371346"/>
                    <a:pt x="0" y="1234948"/>
                  </a:cubicBezTo>
                  <a:close/>
                </a:path>
              </a:pathLst>
            </a:custGeom>
            <a:solidFill>
              <a:srgbClr val="FFFFFF"/>
            </a:solidFill>
            <a:ln w="13345" cap="sq">
              <a:solidFill>
                <a:srgbClr val="E2DAE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31134" y="8196927"/>
            <a:ext cx="1042854" cy="1042854"/>
            <a:chOff x="0" y="0"/>
            <a:chExt cx="1390472" cy="13904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90396" cy="1390396"/>
            </a:xfrm>
            <a:custGeom>
              <a:avLst/>
              <a:gdLst/>
              <a:ahLst/>
              <a:cxnLst/>
              <a:rect r="r" b="b" t="t" l="l"/>
              <a:pathLst>
                <a:path h="1390396" w="1390396">
                  <a:moveTo>
                    <a:pt x="0" y="695198"/>
                  </a:moveTo>
                  <a:cubicBezTo>
                    <a:pt x="0" y="311277"/>
                    <a:pt x="311277" y="0"/>
                    <a:pt x="695198" y="0"/>
                  </a:cubicBezTo>
                  <a:cubicBezTo>
                    <a:pt x="1079119" y="0"/>
                    <a:pt x="1390396" y="311277"/>
                    <a:pt x="1390396" y="695198"/>
                  </a:cubicBezTo>
                  <a:cubicBezTo>
                    <a:pt x="1390396" y="1079119"/>
                    <a:pt x="1079119" y="1390396"/>
                    <a:pt x="695198" y="1390396"/>
                  </a:cubicBezTo>
                  <a:cubicBezTo>
                    <a:pt x="311277" y="1390396"/>
                    <a:pt x="0" y="1079246"/>
                    <a:pt x="0" y="695198"/>
                  </a:cubicBezTo>
                  <a:close/>
                </a:path>
              </a:pathLst>
            </a:custGeom>
            <a:solidFill>
              <a:srgbClr val="F5F0FA"/>
            </a:solidFill>
            <a:ln w="13345" cap="sq">
              <a:solidFill>
                <a:srgbClr val="582491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608888" y="9196911"/>
            <a:ext cx="6163304" cy="109814"/>
            <a:chOff x="0" y="0"/>
            <a:chExt cx="8217738" cy="14641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17789" cy="146431"/>
            </a:xfrm>
            <a:custGeom>
              <a:avLst/>
              <a:gdLst/>
              <a:ahLst/>
              <a:cxnLst/>
              <a:rect r="r" b="b" t="t" l="l"/>
              <a:pathLst>
                <a:path h="146431" w="8217789">
                  <a:moveTo>
                    <a:pt x="0" y="0"/>
                  </a:moveTo>
                  <a:lnTo>
                    <a:pt x="8217789" y="0"/>
                  </a:lnTo>
                  <a:lnTo>
                    <a:pt x="8217789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AE0F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608888" y="9196911"/>
            <a:ext cx="1183453" cy="109814"/>
            <a:chOff x="0" y="0"/>
            <a:chExt cx="1577937" cy="14641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77975" cy="146431"/>
            </a:xfrm>
            <a:custGeom>
              <a:avLst/>
              <a:gdLst/>
              <a:ahLst/>
              <a:cxnLst/>
              <a:rect r="r" b="b" t="t" l="l"/>
              <a:pathLst>
                <a:path h="146431" w="1577975">
                  <a:moveTo>
                    <a:pt x="0" y="0"/>
                  </a:moveTo>
                  <a:lnTo>
                    <a:pt x="1577975" y="0"/>
                  </a:lnTo>
                  <a:lnTo>
                    <a:pt x="157797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79655" y="7192170"/>
            <a:ext cx="1243798" cy="1243798"/>
            <a:chOff x="0" y="0"/>
            <a:chExt cx="13716000" cy="13716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39097" t="0" r="-39097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92652" y="5750914"/>
            <a:ext cx="1243798" cy="1243798"/>
            <a:chOff x="0" y="0"/>
            <a:chExt cx="13716000" cy="13716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39097" t="0" r="-39097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79655" y="4322890"/>
            <a:ext cx="1243798" cy="1243798"/>
            <a:chOff x="0" y="0"/>
            <a:chExt cx="13716000" cy="13716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24294" t="0" r="-24294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79655" y="2827591"/>
            <a:ext cx="1243798" cy="1243798"/>
            <a:chOff x="0" y="0"/>
            <a:chExt cx="13716000" cy="13716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25238" t="0" r="-25238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445409" y="2756268"/>
            <a:ext cx="1167598" cy="1167598"/>
            <a:chOff x="0" y="0"/>
            <a:chExt cx="13716000" cy="13716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28418" t="0" r="-28418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457144" y="4159144"/>
            <a:ext cx="1155864" cy="1155864"/>
            <a:chOff x="0" y="0"/>
            <a:chExt cx="13716000" cy="13716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-25964" t="0" r="-25964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435171" y="5528072"/>
            <a:ext cx="1138273" cy="1138273"/>
            <a:chOff x="0" y="0"/>
            <a:chExt cx="13716000" cy="13716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-34388" t="0" r="-34388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398251" y="6900100"/>
            <a:ext cx="1153435" cy="1153435"/>
            <a:chOff x="0" y="0"/>
            <a:chExt cx="13716000" cy="13716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482880" y="8196927"/>
            <a:ext cx="1109798" cy="1109798"/>
            <a:chOff x="0" y="0"/>
            <a:chExt cx="13716000" cy="137160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0"/>
              <a:stretch>
                <a:fillRect l="-13910" t="0" r="-13910" b="-39766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879655" y="738592"/>
            <a:ext cx="1474065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Elecciones 2026: Cámara y Senado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193998" y="3004392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Guillermo Ignacio Alvira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193998" y="3443647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2026 · Conservador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193998" y="3251999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3.947 votos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7968763" y="3471108"/>
            <a:ext cx="5944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39.25 %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193998" y="4445696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Linda Perdomo Ramírez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2193998" y="4884960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2026 · Conservador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193998" y="4692775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1.046 votos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968763" y="4912412"/>
            <a:ext cx="5944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10.40 %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193998" y="5887010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Delcy Esperanza Isaza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2193998" y="6326264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2026 · Conservador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2193998" y="6104351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842 votos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058774" y="6353715"/>
            <a:ext cx="50446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8.37 %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2193998" y="7328313"/>
            <a:ext cx="64378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Alejandro Martínez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193998" y="7767568"/>
            <a:ext cx="205311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Cámara 2026 · Conservador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193998" y="7578545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389 votos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8058774" y="7795019"/>
            <a:ext cx="50446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3.86 %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0805027" y="2991186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Santiago Barreto Triana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0805027" y="3430441"/>
            <a:ext cx="9640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Senado 2026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805027" y="3251999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3.031 votos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6441965" y="3470539"/>
            <a:ext cx="54947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29.61%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0770922" y="4301530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Miguel Barreto Castillo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770922" y="4758716"/>
            <a:ext cx="9640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Senado 2026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805027" y="4553262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1.277 votos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6441965" y="4678449"/>
            <a:ext cx="54947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12.47%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752391" y="5674840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Pacto Histórico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764250" y="5964843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1.216 votos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6401188" y="6033837"/>
            <a:ext cx="54947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11.88%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752391" y="7005406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Centro Democrático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805027" y="7453570"/>
            <a:ext cx="11076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Solo por la lista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0805027" y="7269756"/>
            <a:ext cx="98631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1.030 votos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6396959" y="7374531"/>
            <a:ext cx="5944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10.06 %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0764250" y="8323290"/>
            <a:ext cx="63829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281B3D"/>
                </a:solidFill>
                <a:latin typeface="Arimo Bold"/>
                <a:ea typeface="Arimo Bold"/>
                <a:cs typeface="Arimo Bold"/>
                <a:sym typeface="Arimo Bold"/>
              </a:rPr>
              <a:t>Partido Conservador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0624461" y="8985647"/>
            <a:ext cx="11076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706584"/>
                </a:solidFill>
                <a:latin typeface="Arimo"/>
                <a:ea typeface="Arimo"/>
                <a:cs typeface="Arimo"/>
                <a:sym typeface="Arimo"/>
              </a:rPr>
              <a:t>Solo por la lista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0764250" y="8587452"/>
            <a:ext cx="8353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582 votos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6626454" y="8685240"/>
            <a:ext cx="3242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 b="true">
                <a:solidFill>
                  <a:srgbClr val="706584"/>
                </a:solidFill>
                <a:latin typeface="Arimo Bold"/>
                <a:ea typeface="Arimo Bold"/>
                <a:cs typeface="Arimo Bold"/>
                <a:sym typeface="Arimo Bold"/>
              </a:rPr>
              <a:t>5. %</a:t>
            </a:r>
          </a:p>
        </p:txBody>
      </p:sp>
      <p:sp>
        <p:nvSpPr>
          <p:cNvPr name="Freeform 141" id="141"/>
          <p:cNvSpPr/>
          <p:nvPr/>
        </p:nvSpPr>
        <p:spPr>
          <a:xfrm flipH="true" flipV="true" rot="5093262">
            <a:off x="14014014" y="-2000145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1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1" y="0"/>
                </a:lnTo>
                <a:lnTo>
                  <a:pt x="5052321" y="447360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982" y="346299"/>
            <a:ext cx="18707963" cy="9564017"/>
            <a:chOff x="0" y="0"/>
            <a:chExt cx="24943951" cy="12752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3912" cy="12751974"/>
            </a:xfrm>
            <a:custGeom>
              <a:avLst/>
              <a:gdLst/>
              <a:ahLst/>
              <a:cxnLst/>
              <a:rect r="r" b="b" t="t" l="l"/>
              <a:pathLst>
                <a:path h="12751974" w="24943912">
                  <a:moveTo>
                    <a:pt x="0" y="0"/>
                  </a:moveTo>
                  <a:lnTo>
                    <a:pt x="24943912" y="0"/>
                  </a:lnTo>
                  <a:lnTo>
                    <a:pt x="24943912" y="12751974"/>
                  </a:lnTo>
                  <a:lnTo>
                    <a:pt x="0" y="12751974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926017" y="2559239"/>
            <a:ext cx="3567010" cy="2066731"/>
            <a:chOff x="0" y="0"/>
            <a:chExt cx="4756014" cy="27556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55997" cy="2755561"/>
            </a:xfrm>
            <a:custGeom>
              <a:avLst/>
              <a:gdLst/>
              <a:ahLst/>
              <a:cxnLst/>
              <a:rect r="r" b="b" t="t" l="l"/>
              <a:pathLst>
                <a:path h="2755561" w="4755997">
                  <a:moveTo>
                    <a:pt x="0" y="459260"/>
                  </a:moveTo>
                  <a:cubicBezTo>
                    <a:pt x="0" y="205613"/>
                    <a:pt x="98510" y="0"/>
                    <a:pt x="220032" y="0"/>
                  </a:cubicBezTo>
                  <a:lnTo>
                    <a:pt x="4535965" y="0"/>
                  </a:lnTo>
                  <a:cubicBezTo>
                    <a:pt x="4657487" y="0"/>
                    <a:pt x="4755997" y="205613"/>
                    <a:pt x="4755997" y="459260"/>
                  </a:cubicBezTo>
                  <a:lnTo>
                    <a:pt x="4755997" y="2296301"/>
                  </a:lnTo>
                  <a:cubicBezTo>
                    <a:pt x="4755997" y="2549947"/>
                    <a:pt x="4657487" y="2755560"/>
                    <a:pt x="4535965" y="2755560"/>
                  </a:cubicBezTo>
                  <a:lnTo>
                    <a:pt x="220032" y="2755560"/>
                  </a:lnTo>
                  <a:cubicBezTo>
                    <a:pt x="98510" y="2755679"/>
                    <a:pt x="0" y="2550063"/>
                    <a:pt x="0" y="22963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30301" y="2744668"/>
            <a:ext cx="27081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2C99"/>
                </a:solidFill>
                <a:latin typeface="Arimo Bold"/>
                <a:ea typeface="Arimo Bold"/>
                <a:cs typeface="Arimo Bold"/>
                <a:sym typeface="Arimo Bold"/>
              </a:rPr>
              <a:t>Aliados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7472" y="2982612"/>
            <a:ext cx="2793803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Omar Carrillo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Gloria Monroy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Paulo Morales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Jorge Vaquiro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Gustavo Adolfo Collazos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99588" y="2559239"/>
            <a:ext cx="3253870" cy="2114537"/>
            <a:chOff x="0" y="0"/>
            <a:chExt cx="4338494" cy="28193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38479" cy="2819300"/>
            </a:xfrm>
            <a:custGeom>
              <a:avLst/>
              <a:gdLst/>
              <a:ahLst/>
              <a:cxnLst/>
              <a:rect r="r" b="b" t="t" l="l"/>
              <a:pathLst>
                <a:path h="2819300" w="4338479">
                  <a:moveTo>
                    <a:pt x="0" y="469883"/>
                  </a:moveTo>
                  <a:cubicBezTo>
                    <a:pt x="0" y="210369"/>
                    <a:pt x="89862" y="0"/>
                    <a:pt x="200716" y="0"/>
                  </a:cubicBezTo>
                  <a:lnTo>
                    <a:pt x="4137762" y="0"/>
                  </a:lnTo>
                  <a:cubicBezTo>
                    <a:pt x="4248617" y="0"/>
                    <a:pt x="4338479" y="210369"/>
                    <a:pt x="4338479" y="469883"/>
                  </a:cubicBezTo>
                  <a:lnTo>
                    <a:pt x="4338479" y="2349417"/>
                  </a:lnTo>
                  <a:cubicBezTo>
                    <a:pt x="4338479" y="2608931"/>
                    <a:pt x="4248617" y="2819300"/>
                    <a:pt x="4137762" y="2819300"/>
                  </a:cubicBezTo>
                  <a:lnTo>
                    <a:pt x="200716" y="2819300"/>
                  </a:lnTo>
                  <a:cubicBezTo>
                    <a:pt x="89862" y="2819421"/>
                    <a:pt x="0" y="2609049"/>
                    <a:pt x="0" y="23494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61043" y="2744668"/>
            <a:ext cx="2468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2C99"/>
                </a:solidFill>
                <a:latin typeface="Arimo Bold"/>
                <a:ea typeface="Arimo Bold"/>
                <a:cs typeface="Arimo Bold"/>
                <a:sym typeface="Arimo Bold"/>
              </a:rPr>
              <a:t>Organización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61043" y="3030418"/>
            <a:ext cx="2468904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Delcy Isaza 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Alejandro Martínez 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Santiago Barreto  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Brayam Escandón 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Carolina Mora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79625" y="5775887"/>
            <a:ext cx="4435116" cy="2278637"/>
            <a:chOff x="0" y="0"/>
            <a:chExt cx="5913488" cy="30381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13468" cy="3038094"/>
            </a:xfrm>
            <a:custGeom>
              <a:avLst/>
              <a:gdLst/>
              <a:ahLst/>
              <a:cxnLst/>
              <a:rect r="r" b="b" t="t" l="l"/>
              <a:pathLst>
                <a:path h="3038094" w="5913468">
                  <a:moveTo>
                    <a:pt x="0" y="506349"/>
                  </a:moveTo>
                  <a:cubicBezTo>
                    <a:pt x="0" y="226695"/>
                    <a:pt x="122484" y="0"/>
                    <a:pt x="273582" y="0"/>
                  </a:cubicBezTo>
                  <a:lnTo>
                    <a:pt x="5639886" y="0"/>
                  </a:lnTo>
                  <a:cubicBezTo>
                    <a:pt x="5790984" y="0"/>
                    <a:pt x="5913468" y="226695"/>
                    <a:pt x="5913468" y="506349"/>
                  </a:cubicBezTo>
                  <a:lnTo>
                    <a:pt x="5913468" y="2531745"/>
                  </a:lnTo>
                  <a:cubicBezTo>
                    <a:pt x="5913468" y="2811399"/>
                    <a:pt x="5790984" y="3038094"/>
                    <a:pt x="5639886" y="3038094"/>
                  </a:cubicBezTo>
                  <a:lnTo>
                    <a:pt x="273582" y="3038094"/>
                  </a:lnTo>
                  <a:cubicBezTo>
                    <a:pt x="122484" y="3038221"/>
                    <a:pt x="0" y="2811526"/>
                    <a:pt x="0" y="25317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641080" y="6064314"/>
            <a:ext cx="33245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2C99"/>
                </a:solidFill>
                <a:latin typeface="Arimo Bold"/>
                <a:ea typeface="Arimo Bold"/>
                <a:cs typeface="Arimo Bold"/>
                <a:sym typeface="Arimo Bold"/>
              </a:rPr>
              <a:t>Partidos/ Posible Alianzas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82261" y="6445538"/>
            <a:ext cx="403248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Conservador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Centro Democrático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MIRA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Posibles alianzas: ASI · ADA · AICO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33518" y="5226226"/>
            <a:ext cx="7168311" cy="3640374"/>
            <a:chOff x="0" y="0"/>
            <a:chExt cx="9557748" cy="48538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57714" cy="4853691"/>
            </a:xfrm>
            <a:custGeom>
              <a:avLst/>
              <a:gdLst/>
              <a:ahLst/>
              <a:cxnLst/>
              <a:rect r="r" b="b" t="t" l="l"/>
              <a:pathLst>
                <a:path h="4853691" w="9557714">
                  <a:moveTo>
                    <a:pt x="0" y="808948"/>
                  </a:moveTo>
                  <a:cubicBezTo>
                    <a:pt x="0" y="362170"/>
                    <a:pt x="197966" y="0"/>
                    <a:pt x="442180" y="0"/>
                  </a:cubicBezTo>
                  <a:lnTo>
                    <a:pt x="9115534" y="0"/>
                  </a:lnTo>
                  <a:cubicBezTo>
                    <a:pt x="9359748" y="0"/>
                    <a:pt x="9557714" y="362170"/>
                    <a:pt x="9557714" y="808948"/>
                  </a:cubicBezTo>
                  <a:lnTo>
                    <a:pt x="9557714" y="4044742"/>
                  </a:lnTo>
                  <a:cubicBezTo>
                    <a:pt x="9557714" y="4491520"/>
                    <a:pt x="9359748" y="4853691"/>
                    <a:pt x="9115534" y="4853691"/>
                  </a:cubicBezTo>
                  <a:lnTo>
                    <a:pt x="442180" y="4853691"/>
                  </a:lnTo>
                  <a:cubicBezTo>
                    <a:pt x="197966" y="4853871"/>
                    <a:pt x="0" y="4491723"/>
                    <a:pt x="0" y="40447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966453" y="5609200"/>
            <a:ext cx="315122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2C99"/>
                </a:solidFill>
                <a:latin typeface="Arimo Bold"/>
                <a:ea typeface="Arimo Bold"/>
                <a:cs typeface="Arimo Bold"/>
                <a:sym typeface="Arimo Bold"/>
              </a:rPr>
              <a:t>¿Qué es lo que nos falta?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49166" y="6103783"/>
            <a:ext cx="646509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ayor respaldo público del jefe OB.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ntregables que ofrezcan soluciones puntuales. 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  <a:r>
              <a:rPr lang="en-US" sz="1876" b="true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lindaje electoral:  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cambio de registrador.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Solicitar alcalde encargado en la jornada electoral.</a:t>
            </a:r>
          </a:p>
          <a:p>
            <a:pPr algn="l" marL="0" indent="0" lvl="0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Comisión especial de la MOE para elecciones.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Mayor cantidad de testigos electorales en mesa a votación.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71772" y="2559239"/>
            <a:ext cx="4435116" cy="2114537"/>
            <a:chOff x="0" y="0"/>
            <a:chExt cx="5913488" cy="28193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13468" cy="2819300"/>
            </a:xfrm>
            <a:custGeom>
              <a:avLst/>
              <a:gdLst/>
              <a:ahLst/>
              <a:cxnLst/>
              <a:rect r="r" b="b" t="t" l="l"/>
              <a:pathLst>
                <a:path h="2819300" w="5913468">
                  <a:moveTo>
                    <a:pt x="0" y="469883"/>
                  </a:moveTo>
                  <a:cubicBezTo>
                    <a:pt x="0" y="210369"/>
                    <a:pt x="122484" y="0"/>
                    <a:pt x="273582" y="0"/>
                  </a:cubicBezTo>
                  <a:lnTo>
                    <a:pt x="5639886" y="0"/>
                  </a:lnTo>
                  <a:cubicBezTo>
                    <a:pt x="5790984" y="0"/>
                    <a:pt x="5913468" y="210369"/>
                    <a:pt x="5913468" y="469883"/>
                  </a:cubicBezTo>
                  <a:lnTo>
                    <a:pt x="5913468" y="2349417"/>
                  </a:lnTo>
                  <a:cubicBezTo>
                    <a:pt x="5913468" y="2608931"/>
                    <a:pt x="5790984" y="2819300"/>
                    <a:pt x="5639886" y="2819300"/>
                  </a:cubicBezTo>
                  <a:lnTo>
                    <a:pt x="273582" y="2819300"/>
                  </a:lnTo>
                  <a:cubicBezTo>
                    <a:pt x="122484" y="2819421"/>
                    <a:pt x="0" y="2609049"/>
                    <a:pt x="0" y="23494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934659" y="2744668"/>
            <a:ext cx="36135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B2C99"/>
                </a:solidFill>
                <a:latin typeface="Arimo Bold"/>
                <a:ea typeface="Arimo Bold"/>
                <a:cs typeface="Arimo Bold"/>
                <a:sym typeface="Arimo Bold"/>
              </a:rPr>
              <a:t>Partidos/ Posible Alianzas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3090" y="3125487"/>
            <a:ext cx="403248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Conservador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Centro Democrático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MIRA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Posibles alianzas: ASI · ADA · AICO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9433" y="1070983"/>
            <a:ext cx="1592913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Proyección electoral: Mapa de Líderes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982" y="346299"/>
            <a:ext cx="18707963" cy="9564017"/>
            <a:chOff x="0" y="0"/>
            <a:chExt cx="24943951" cy="12752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3912" cy="12751974"/>
            </a:xfrm>
            <a:custGeom>
              <a:avLst/>
              <a:gdLst/>
              <a:ahLst/>
              <a:cxnLst/>
              <a:rect r="r" b="b" t="t" l="l"/>
              <a:pathLst>
                <a:path h="12751974" w="24943912">
                  <a:moveTo>
                    <a:pt x="0" y="0"/>
                  </a:moveTo>
                  <a:lnTo>
                    <a:pt x="24943912" y="0"/>
                  </a:lnTo>
                  <a:lnTo>
                    <a:pt x="24943912" y="12751974"/>
                  </a:lnTo>
                  <a:lnTo>
                    <a:pt x="0" y="12751974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767741" y="1026604"/>
            <a:ext cx="3447009" cy="1644332"/>
            <a:chOff x="0" y="0"/>
            <a:chExt cx="5179555" cy="2470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956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179568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4767707" y="0"/>
                  </a:lnTo>
                  <a:cubicBezTo>
                    <a:pt x="4995164" y="0"/>
                    <a:pt x="5179568" y="184404"/>
                    <a:pt x="5179568" y="411861"/>
                  </a:cubicBezTo>
                  <a:lnTo>
                    <a:pt x="5179568" y="2059051"/>
                  </a:lnTo>
                  <a:cubicBezTo>
                    <a:pt x="5179568" y="2286508"/>
                    <a:pt x="4995164" y="2470912"/>
                    <a:pt x="4767707" y="2470912"/>
                  </a:cubicBezTo>
                  <a:lnTo>
                    <a:pt x="411861" y="2470912"/>
                  </a:lnTo>
                  <a:cubicBezTo>
                    <a:pt x="184404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7293" y="2890011"/>
            <a:ext cx="3447009" cy="1644332"/>
            <a:chOff x="0" y="0"/>
            <a:chExt cx="5179555" cy="2470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7956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179568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4767707" y="0"/>
                  </a:lnTo>
                  <a:cubicBezTo>
                    <a:pt x="4995164" y="0"/>
                    <a:pt x="5179568" y="184404"/>
                    <a:pt x="5179568" y="411861"/>
                  </a:cubicBezTo>
                  <a:lnTo>
                    <a:pt x="5179568" y="2059051"/>
                  </a:lnTo>
                  <a:cubicBezTo>
                    <a:pt x="5179568" y="2286508"/>
                    <a:pt x="4995164" y="2470912"/>
                    <a:pt x="4767707" y="2470912"/>
                  </a:cubicBezTo>
                  <a:lnTo>
                    <a:pt x="411861" y="2470912"/>
                  </a:lnTo>
                  <a:cubicBezTo>
                    <a:pt x="184404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7293" y="4915342"/>
            <a:ext cx="3447009" cy="1644332"/>
            <a:chOff x="0" y="0"/>
            <a:chExt cx="5179555" cy="2470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7956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179568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4767707" y="0"/>
                  </a:lnTo>
                  <a:cubicBezTo>
                    <a:pt x="4995164" y="0"/>
                    <a:pt x="5179568" y="184404"/>
                    <a:pt x="5179568" y="411861"/>
                  </a:cubicBezTo>
                  <a:lnTo>
                    <a:pt x="5179568" y="2059051"/>
                  </a:lnTo>
                  <a:cubicBezTo>
                    <a:pt x="5179568" y="2286508"/>
                    <a:pt x="4995164" y="2470912"/>
                    <a:pt x="4767707" y="2470912"/>
                  </a:cubicBezTo>
                  <a:lnTo>
                    <a:pt x="411861" y="2470912"/>
                  </a:lnTo>
                  <a:cubicBezTo>
                    <a:pt x="184404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1630" y="6747079"/>
            <a:ext cx="3447009" cy="1644332"/>
            <a:chOff x="0" y="0"/>
            <a:chExt cx="5179555" cy="2470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7956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179568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4767707" y="0"/>
                  </a:lnTo>
                  <a:cubicBezTo>
                    <a:pt x="4995164" y="0"/>
                    <a:pt x="5179568" y="184404"/>
                    <a:pt x="5179568" y="411861"/>
                  </a:cubicBezTo>
                  <a:lnTo>
                    <a:pt x="5179568" y="2059051"/>
                  </a:lnTo>
                  <a:cubicBezTo>
                    <a:pt x="5179568" y="2286508"/>
                    <a:pt x="4995164" y="2470912"/>
                    <a:pt x="4767707" y="2470912"/>
                  </a:cubicBezTo>
                  <a:lnTo>
                    <a:pt x="411861" y="2470912"/>
                  </a:lnTo>
                  <a:cubicBezTo>
                    <a:pt x="184404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750098" y="2817057"/>
            <a:ext cx="8533888" cy="6087692"/>
          </a:xfrm>
          <a:custGeom>
            <a:avLst/>
            <a:gdLst/>
            <a:ahLst/>
            <a:cxnLst/>
            <a:rect r="r" b="b" t="t" l="l"/>
            <a:pathLst>
              <a:path h="6087692" w="8533888">
                <a:moveTo>
                  <a:pt x="0" y="0"/>
                </a:moveTo>
                <a:lnTo>
                  <a:pt x="8533887" y="0"/>
                </a:lnTo>
                <a:lnTo>
                  <a:pt x="8533887" y="6087692"/>
                </a:lnTo>
                <a:lnTo>
                  <a:pt x="0" y="608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11703" y="1056142"/>
            <a:ext cx="1155442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sz="7003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¿C</a:t>
            </a:r>
            <a:r>
              <a:rPr lang="en-US" sz="7003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ómo se hizo la encuesta?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796" y="1202429"/>
            <a:ext cx="1917628" cy="2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598" b="true">
                <a:solidFill>
                  <a:srgbClr val="6D6383"/>
                </a:solidFill>
                <a:latin typeface="Arimo Bold"/>
                <a:ea typeface="Arimo Bold"/>
                <a:cs typeface="Arimo Bold"/>
                <a:sym typeface="Arimo Bold"/>
              </a:rPr>
              <a:t>Tamaño de muestra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1617" y="1580017"/>
            <a:ext cx="931398" cy="68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DE3A9A"/>
                </a:solidFill>
                <a:latin typeface="Arimo Bold"/>
                <a:ea typeface="Arimo Bold"/>
                <a:cs typeface="Arimo Bold"/>
                <a:sym typeface="Arimo Bold"/>
              </a:rPr>
              <a:t>100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796" y="2356898"/>
            <a:ext cx="1588744" cy="2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332">
                <a:solidFill>
                  <a:srgbClr val="6D6383"/>
                </a:solidFill>
                <a:latin typeface="Arimo"/>
                <a:ea typeface="Arimo"/>
                <a:cs typeface="Arimo"/>
                <a:sym typeface="Arimo"/>
              </a:rPr>
              <a:t>encuestas realizadas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357" y="3065836"/>
            <a:ext cx="992674" cy="2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598" b="true">
                <a:solidFill>
                  <a:srgbClr val="6D6383"/>
                </a:solidFill>
                <a:latin typeface="Arimo Bold"/>
                <a:ea typeface="Arimo Bold"/>
                <a:cs typeface="Arimo Bold"/>
                <a:sym typeface="Arimo Bold"/>
              </a:rPr>
              <a:t>Preguntas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1177" y="3443424"/>
            <a:ext cx="621002" cy="68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27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3357" y="4220304"/>
            <a:ext cx="1880017" cy="2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332">
                <a:solidFill>
                  <a:srgbClr val="6D6383"/>
                </a:solidFill>
                <a:latin typeface="Arimo"/>
                <a:ea typeface="Arimo"/>
                <a:cs typeface="Arimo"/>
                <a:sym typeface="Arimo"/>
              </a:rPr>
              <a:t>15 cerradas · 12 abiertas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3348" y="5091167"/>
            <a:ext cx="721580" cy="2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598" b="true">
                <a:solidFill>
                  <a:srgbClr val="6D6383"/>
                </a:solidFill>
                <a:latin typeface="Arimo Bold"/>
                <a:ea typeface="Arimo Bold"/>
                <a:cs typeface="Arimo Bold"/>
                <a:sym typeface="Arimo Bold"/>
              </a:rPr>
              <a:t>Método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1169" y="5468755"/>
            <a:ext cx="1457528" cy="68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19818F"/>
                </a:solidFill>
                <a:latin typeface="Arimo Bold"/>
                <a:ea typeface="Arimo Bold"/>
                <a:cs typeface="Arimo Bold"/>
                <a:sym typeface="Arimo Bold"/>
              </a:rPr>
              <a:t>Mixto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348" y="6245636"/>
            <a:ext cx="1785989" cy="2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332">
                <a:solidFill>
                  <a:srgbClr val="6D6383"/>
                </a:solidFill>
                <a:latin typeface="Arimo"/>
                <a:ea typeface="Arimo"/>
                <a:cs typeface="Arimo"/>
                <a:sym typeface="Arimo"/>
              </a:rPr>
              <a:t>cuantitativo y cualitativo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694" y="6922904"/>
            <a:ext cx="969960" cy="2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598" b="true">
                <a:solidFill>
                  <a:srgbClr val="6D6383"/>
                </a:solidFill>
                <a:latin typeface="Arimo Bold"/>
                <a:ea typeface="Arimo Bold"/>
                <a:cs typeface="Arimo Bold"/>
                <a:sym typeface="Arimo Bold"/>
              </a:rPr>
              <a:t>Población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5515" y="7300492"/>
            <a:ext cx="946928" cy="68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582491"/>
                </a:solidFill>
                <a:latin typeface="Arimo Bold"/>
                <a:ea typeface="Arimo Bold"/>
                <a:cs typeface="Arimo Bold"/>
                <a:sym typeface="Arimo Bold"/>
              </a:rPr>
              <a:t>18+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7246" y="7939695"/>
            <a:ext cx="2049371" cy="2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332">
                <a:solidFill>
                  <a:srgbClr val="6D6383"/>
                </a:solidFill>
                <a:latin typeface="Arimo"/>
                <a:ea typeface="Arimo"/>
                <a:cs typeface="Arimo"/>
                <a:sym typeface="Arimo"/>
              </a:rPr>
              <a:t>personas mayores de edad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23012" y="3695350"/>
            <a:ext cx="3922214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Fluj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entre mención y prioridad. Cada ci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nta une un problema mencionado (izqu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er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 l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</a:t>
            </a: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ioridad #1 que esa misma persona eligió (derecha). Cada persona pesa lo mismo: su unidad se reparte entre los temas que mencionó. Los números son personas. Las cintas moradas son quienes mantuvieron el tema; las grises, quienes lo mencionaron pero eligieron otro como prioridad.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3309"/>
            <a:ext cx="18301840" cy="9908841"/>
            <a:chOff x="0" y="0"/>
            <a:chExt cx="24402453" cy="132117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211739"/>
            </a:xfrm>
            <a:custGeom>
              <a:avLst/>
              <a:gdLst/>
              <a:ahLst/>
              <a:cxnLst/>
              <a:rect r="r" b="b" t="t" l="l"/>
              <a:pathLst>
                <a:path h="1321173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211739"/>
                  </a:lnTo>
                  <a:lnTo>
                    <a:pt x="0" y="13211739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3115" y="3552075"/>
            <a:ext cx="6337507" cy="6433843"/>
          </a:xfrm>
          <a:custGeom>
            <a:avLst/>
            <a:gdLst/>
            <a:ahLst/>
            <a:cxnLst/>
            <a:rect r="r" b="b" t="t" l="l"/>
            <a:pathLst>
              <a:path h="6433843" w="6337507">
                <a:moveTo>
                  <a:pt x="0" y="0"/>
                </a:moveTo>
                <a:lnTo>
                  <a:pt x="6337507" y="0"/>
                </a:lnTo>
                <a:lnTo>
                  <a:pt x="6337507" y="6433843"/>
                </a:lnTo>
                <a:lnTo>
                  <a:pt x="0" y="6433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0435" y="3667661"/>
            <a:ext cx="9400772" cy="5930346"/>
          </a:xfrm>
          <a:custGeom>
            <a:avLst/>
            <a:gdLst/>
            <a:ahLst/>
            <a:cxnLst/>
            <a:rect r="r" b="b" t="t" l="l"/>
            <a:pathLst>
              <a:path h="5930346" w="9400772">
                <a:moveTo>
                  <a:pt x="0" y="0"/>
                </a:moveTo>
                <a:lnTo>
                  <a:pt x="9400771" y="0"/>
                </a:lnTo>
                <a:lnTo>
                  <a:pt x="9400771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39352"/>
            <a:ext cx="7184493" cy="2706861"/>
          </a:xfrm>
          <a:custGeom>
            <a:avLst/>
            <a:gdLst/>
            <a:ahLst/>
            <a:cxnLst/>
            <a:rect r="r" b="b" t="t" l="l"/>
            <a:pathLst>
              <a:path h="2706861" w="7184493">
                <a:moveTo>
                  <a:pt x="0" y="0"/>
                </a:moveTo>
                <a:lnTo>
                  <a:pt x="7184493" y="0"/>
                </a:lnTo>
                <a:lnTo>
                  <a:pt x="7184493" y="2706861"/>
                </a:lnTo>
                <a:lnTo>
                  <a:pt x="0" y="270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1210710"/>
            <a:ext cx="7350602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Menci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ones entre los 3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problemas (pers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s)</a:t>
            </a:r>
          </a:p>
          <a:p>
            <a:pPr algn="just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Matriz saliencia–prioridad. El tamaño del punto es el número de personas que eligieron ese tema como prioridad #1.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7423"/>
            <a:ext cx="18301840" cy="9602361"/>
            <a:chOff x="0" y="0"/>
            <a:chExt cx="24402453" cy="12803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03100"/>
            </a:xfrm>
            <a:custGeom>
              <a:avLst/>
              <a:gdLst/>
              <a:ahLst/>
              <a:cxnLst/>
              <a:rect r="r" b="b" t="t" l="l"/>
              <a:pathLst>
                <a:path h="128031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03100"/>
                  </a:lnTo>
                  <a:lnTo>
                    <a:pt x="0" y="12803100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3259" y="2246605"/>
            <a:ext cx="16362340" cy="32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Fortalezas y aspectos por mejorar identificados en la encuesta de percepción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4971" y="2800255"/>
            <a:ext cx="8332118" cy="6259382"/>
            <a:chOff x="0" y="0"/>
            <a:chExt cx="11109490" cy="83458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09579" cy="8345932"/>
            </a:xfrm>
            <a:custGeom>
              <a:avLst/>
              <a:gdLst/>
              <a:ahLst/>
              <a:cxnLst/>
              <a:rect r="r" b="b" t="t" l="l"/>
              <a:pathLst>
                <a:path h="8345932" w="11109579">
                  <a:moveTo>
                    <a:pt x="0" y="1391031"/>
                  </a:moveTo>
                  <a:cubicBezTo>
                    <a:pt x="0" y="622808"/>
                    <a:pt x="622808" y="0"/>
                    <a:pt x="1391031" y="0"/>
                  </a:cubicBezTo>
                  <a:lnTo>
                    <a:pt x="9718548" y="0"/>
                  </a:lnTo>
                  <a:cubicBezTo>
                    <a:pt x="10486771" y="0"/>
                    <a:pt x="11109579" y="622808"/>
                    <a:pt x="11109579" y="1391031"/>
                  </a:cubicBezTo>
                  <a:lnTo>
                    <a:pt x="11109579" y="6954901"/>
                  </a:lnTo>
                  <a:cubicBezTo>
                    <a:pt x="11109579" y="7723124"/>
                    <a:pt x="10486771" y="8345932"/>
                    <a:pt x="9718548" y="8345932"/>
                  </a:cubicBezTo>
                  <a:lnTo>
                    <a:pt x="1391031" y="8345932"/>
                  </a:lnTo>
                  <a:cubicBezTo>
                    <a:pt x="622808" y="8345805"/>
                    <a:pt x="0" y="7723124"/>
                    <a:pt x="0" y="69549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2990" y="2800255"/>
            <a:ext cx="8263490" cy="6259382"/>
            <a:chOff x="0" y="0"/>
            <a:chExt cx="11017987" cy="83458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18012" cy="8345932"/>
            </a:xfrm>
            <a:custGeom>
              <a:avLst/>
              <a:gdLst/>
              <a:ahLst/>
              <a:cxnLst/>
              <a:rect r="r" b="b" t="t" l="l"/>
              <a:pathLst>
                <a:path h="8345932" w="11018012">
                  <a:moveTo>
                    <a:pt x="0" y="1391031"/>
                  </a:moveTo>
                  <a:cubicBezTo>
                    <a:pt x="0" y="622808"/>
                    <a:pt x="622808" y="0"/>
                    <a:pt x="1391031" y="0"/>
                  </a:cubicBezTo>
                  <a:lnTo>
                    <a:pt x="9626981" y="0"/>
                  </a:lnTo>
                  <a:cubicBezTo>
                    <a:pt x="10395204" y="0"/>
                    <a:pt x="11018012" y="622808"/>
                    <a:pt x="11018012" y="1391031"/>
                  </a:cubicBezTo>
                  <a:lnTo>
                    <a:pt x="11018012" y="6954901"/>
                  </a:lnTo>
                  <a:cubicBezTo>
                    <a:pt x="11018012" y="7723124"/>
                    <a:pt x="10395204" y="8345932"/>
                    <a:pt x="9626981" y="8345932"/>
                  </a:cubicBezTo>
                  <a:lnTo>
                    <a:pt x="1391031" y="8345932"/>
                  </a:lnTo>
                  <a:cubicBezTo>
                    <a:pt x="622808" y="8345805"/>
                    <a:pt x="0" y="7723124"/>
                    <a:pt x="0" y="69549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8974" y="3056477"/>
            <a:ext cx="730270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FORTALEZAS ATRIBUIDAS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9543" y="3056477"/>
            <a:ext cx="7439968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ASPECTOS POR MEJORAR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8974" y="3797722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Liderazgo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59196" y="3843480"/>
            <a:ext cx="3651304" cy="178451"/>
            <a:chOff x="0" y="0"/>
            <a:chExt cx="4868405" cy="237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9196" y="3843480"/>
            <a:ext cx="3651304" cy="178451"/>
            <a:chOff x="0" y="0"/>
            <a:chExt cx="4868405" cy="2379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20964" y="3783997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46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8974" y="4429154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Honestidad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159196" y="4474912"/>
            <a:ext cx="3651304" cy="178451"/>
            <a:chOff x="0" y="0"/>
            <a:chExt cx="4868405" cy="237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159196" y="4474912"/>
            <a:ext cx="2778166" cy="178451"/>
            <a:chOff x="0" y="0"/>
            <a:chExt cx="3704222" cy="2379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04209" cy="237871"/>
            </a:xfrm>
            <a:custGeom>
              <a:avLst/>
              <a:gdLst/>
              <a:ahLst/>
              <a:cxnLst/>
              <a:rect r="r" b="b" t="t" l="l"/>
              <a:pathLst>
                <a:path h="237871" w="3704209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664585" y="0"/>
                  </a:lnTo>
                  <a:cubicBezTo>
                    <a:pt x="3686429" y="0"/>
                    <a:pt x="3704209" y="17780"/>
                    <a:pt x="3704209" y="39624"/>
                  </a:cubicBezTo>
                  <a:lnTo>
                    <a:pt x="3704209" y="198247"/>
                  </a:lnTo>
                  <a:cubicBezTo>
                    <a:pt x="3704209" y="220091"/>
                    <a:pt x="3686429" y="237871"/>
                    <a:pt x="3664585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020964" y="4415419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35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8974" y="5060575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Gestión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159196" y="5106343"/>
            <a:ext cx="3651304" cy="178451"/>
            <a:chOff x="0" y="0"/>
            <a:chExt cx="4868405" cy="2379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159196" y="5106343"/>
            <a:ext cx="2222535" cy="178451"/>
            <a:chOff x="0" y="0"/>
            <a:chExt cx="2963380" cy="2379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63291" cy="237871"/>
            </a:xfrm>
            <a:custGeom>
              <a:avLst/>
              <a:gdLst/>
              <a:ahLst/>
              <a:cxnLst/>
              <a:rect r="r" b="b" t="t" l="l"/>
              <a:pathLst>
                <a:path h="237871" w="296329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2923667" y="0"/>
                  </a:lnTo>
                  <a:cubicBezTo>
                    <a:pt x="2945511" y="0"/>
                    <a:pt x="2963291" y="17780"/>
                    <a:pt x="2963291" y="39624"/>
                  </a:cubicBezTo>
                  <a:lnTo>
                    <a:pt x="2963291" y="198247"/>
                  </a:lnTo>
                  <a:cubicBezTo>
                    <a:pt x="2963291" y="220091"/>
                    <a:pt x="2945511" y="237871"/>
                    <a:pt x="2923667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020964" y="5046850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28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8974" y="5692007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Sensibilidad social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159196" y="5737765"/>
            <a:ext cx="3651304" cy="178451"/>
            <a:chOff x="0" y="0"/>
            <a:chExt cx="4868405" cy="2379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59196" y="5737765"/>
            <a:ext cx="1984410" cy="178451"/>
            <a:chOff x="0" y="0"/>
            <a:chExt cx="2645880" cy="2379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45791" cy="237871"/>
            </a:xfrm>
            <a:custGeom>
              <a:avLst/>
              <a:gdLst/>
              <a:ahLst/>
              <a:cxnLst/>
              <a:rect r="r" b="b" t="t" l="l"/>
              <a:pathLst>
                <a:path h="237871" w="264579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2606167" y="0"/>
                  </a:lnTo>
                  <a:cubicBezTo>
                    <a:pt x="2628011" y="0"/>
                    <a:pt x="2645791" y="17780"/>
                    <a:pt x="2645791" y="39624"/>
                  </a:cubicBezTo>
                  <a:lnTo>
                    <a:pt x="2645791" y="198247"/>
                  </a:lnTo>
                  <a:cubicBezTo>
                    <a:pt x="2645791" y="220091"/>
                    <a:pt x="2628011" y="237871"/>
                    <a:pt x="2606167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020964" y="5678281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25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8974" y="6323438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Preparación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159196" y="6369196"/>
            <a:ext cx="3651304" cy="178451"/>
            <a:chOff x="0" y="0"/>
            <a:chExt cx="4868405" cy="2379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159196" y="6369196"/>
            <a:ext cx="793766" cy="178451"/>
            <a:chOff x="0" y="0"/>
            <a:chExt cx="1058354" cy="2379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8291" cy="237871"/>
            </a:xfrm>
            <a:custGeom>
              <a:avLst/>
              <a:gdLst/>
              <a:ahLst/>
              <a:cxnLst/>
              <a:rect r="r" b="b" t="t" l="l"/>
              <a:pathLst>
                <a:path h="237871" w="105829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018667" y="0"/>
                  </a:lnTo>
                  <a:cubicBezTo>
                    <a:pt x="1040511" y="0"/>
                    <a:pt x="1058291" y="17780"/>
                    <a:pt x="1058291" y="39624"/>
                  </a:cubicBezTo>
                  <a:lnTo>
                    <a:pt x="1058291" y="198247"/>
                  </a:lnTo>
                  <a:cubicBezTo>
                    <a:pt x="1058291" y="220091"/>
                    <a:pt x="1040511" y="237871"/>
                    <a:pt x="1018667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020964" y="6309712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8974" y="6954869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Conseguir recursos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159196" y="7000627"/>
            <a:ext cx="3651304" cy="178451"/>
            <a:chOff x="0" y="0"/>
            <a:chExt cx="4868405" cy="2379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159196" y="7000627"/>
            <a:ext cx="714385" cy="178451"/>
            <a:chOff x="0" y="0"/>
            <a:chExt cx="952513" cy="2379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2500" cy="237871"/>
            </a:xfrm>
            <a:custGeom>
              <a:avLst/>
              <a:gdLst/>
              <a:ahLst/>
              <a:cxnLst/>
              <a:rect r="r" b="b" t="t" l="l"/>
              <a:pathLst>
                <a:path h="237871" w="952500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12876" y="0"/>
                  </a:lnTo>
                  <a:cubicBezTo>
                    <a:pt x="934720" y="0"/>
                    <a:pt x="952500" y="17780"/>
                    <a:pt x="952500" y="39624"/>
                  </a:cubicBezTo>
                  <a:lnTo>
                    <a:pt x="952500" y="198247"/>
                  </a:lnTo>
                  <a:cubicBezTo>
                    <a:pt x="952500" y="220091"/>
                    <a:pt x="934720" y="237871"/>
                    <a:pt x="912876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8020964" y="6941144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88974" y="7586291"/>
            <a:ext cx="2937605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Experiencia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159196" y="7632059"/>
            <a:ext cx="3651304" cy="178451"/>
            <a:chOff x="0" y="0"/>
            <a:chExt cx="4868405" cy="2379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68418" cy="237871"/>
            </a:xfrm>
            <a:custGeom>
              <a:avLst/>
              <a:gdLst/>
              <a:ahLst/>
              <a:cxnLst/>
              <a:rect r="r" b="b" t="t" l="l"/>
              <a:pathLst>
                <a:path h="237871" w="486841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4828794" y="0"/>
                  </a:lnTo>
                  <a:cubicBezTo>
                    <a:pt x="4850638" y="0"/>
                    <a:pt x="4868418" y="17780"/>
                    <a:pt x="4868418" y="39624"/>
                  </a:cubicBezTo>
                  <a:lnTo>
                    <a:pt x="4868418" y="198247"/>
                  </a:lnTo>
                  <a:cubicBezTo>
                    <a:pt x="4868418" y="220091"/>
                    <a:pt x="4850638" y="237871"/>
                    <a:pt x="482879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159196" y="7632059"/>
            <a:ext cx="317506" cy="178451"/>
            <a:chOff x="0" y="0"/>
            <a:chExt cx="423342" cy="2379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3291" cy="237871"/>
            </a:xfrm>
            <a:custGeom>
              <a:avLst/>
              <a:gdLst/>
              <a:ahLst/>
              <a:cxnLst/>
              <a:rect r="r" b="b" t="t" l="l"/>
              <a:pathLst>
                <a:path h="237871" w="42329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83667" y="0"/>
                  </a:lnTo>
                  <a:cubicBezTo>
                    <a:pt x="405511" y="0"/>
                    <a:pt x="423291" y="17780"/>
                    <a:pt x="423291" y="39624"/>
                  </a:cubicBezTo>
                  <a:lnTo>
                    <a:pt x="423291" y="198247"/>
                  </a:lnTo>
                  <a:cubicBezTo>
                    <a:pt x="423291" y="220091"/>
                    <a:pt x="405511" y="237871"/>
                    <a:pt x="383667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D83994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8020964" y="7572566"/>
            <a:ext cx="549154" cy="26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99543" y="3788197"/>
            <a:ext cx="3404311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Poca visibilidad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232559" y="3843480"/>
            <a:ext cx="2855157" cy="178451"/>
            <a:chOff x="0" y="0"/>
            <a:chExt cx="3806876" cy="23793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06825" cy="237871"/>
            </a:xfrm>
            <a:custGeom>
              <a:avLst/>
              <a:gdLst/>
              <a:ahLst/>
              <a:cxnLst/>
              <a:rect r="r" b="b" t="t" l="l"/>
              <a:pathLst>
                <a:path h="237871" w="380682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767201" y="0"/>
                  </a:lnTo>
                  <a:cubicBezTo>
                    <a:pt x="3789045" y="0"/>
                    <a:pt x="3806825" y="17780"/>
                    <a:pt x="3806825" y="39624"/>
                  </a:cubicBezTo>
                  <a:lnTo>
                    <a:pt x="3806825" y="198247"/>
                  </a:lnTo>
                  <a:cubicBezTo>
                    <a:pt x="3806825" y="220091"/>
                    <a:pt x="3789045" y="237871"/>
                    <a:pt x="3767201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232559" y="3843480"/>
            <a:ext cx="1241374" cy="178451"/>
            <a:chOff x="0" y="0"/>
            <a:chExt cx="1655166" cy="2379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55191" cy="237871"/>
            </a:xfrm>
            <a:custGeom>
              <a:avLst/>
              <a:gdLst/>
              <a:ahLst/>
              <a:cxnLst/>
              <a:rect r="r" b="b" t="t" l="l"/>
              <a:pathLst>
                <a:path h="237871" w="165519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615567" y="0"/>
                  </a:lnTo>
                  <a:cubicBezTo>
                    <a:pt x="1637411" y="0"/>
                    <a:pt x="1655191" y="17780"/>
                    <a:pt x="1655191" y="39624"/>
                  </a:cubicBezTo>
                  <a:lnTo>
                    <a:pt x="1655191" y="198247"/>
                  </a:lnTo>
                  <a:cubicBezTo>
                    <a:pt x="1655191" y="220091"/>
                    <a:pt x="1637411" y="237871"/>
                    <a:pt x="1615567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60309A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6353092" y="3783997"/>
            <a:ext cx="50797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20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99543" y="4515707"/>
            <a:ext cx="3404311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Conocimiento del territorio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232559" y="4571000"/>
            <a:ext cx="2855157" cy="178451"/>
            <a:chOff x="0" y="0"/>
            <a:chExt cx="3806876" cy="23793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06825" cy="237871"/>
            </a:xfrm>
            <a:custGeom>
              <a:avLst/>
              <a:gdLst/>
              <a:ahLst/>
              <a:cxnLst/>
              <a:rect r="r" b="b" t="t" l="l"/>
              <a:pathLst>
                <a:path h="237871" w="380682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767201" y="0"/>
                  </a:lnTo>
                  <a:cubicBezTo>
                    <a:pt x="3789045" y="0"/>
                    <a:pt x="3806825" y="17780"/>
                    <a:pt x="3806825" y="39624"/>
                  </a:cubicBezTo>
                  <a:lnTo>
                    <a:pt x="3806825" y="198247"/>
                  </a:lnTo>
                  <a:cubicBezTo>
                    <a:pt x="3806825" y="220091"/>
                    <a:pt x="3789045" y="237871"/>
                    <a:pt x="3767201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232559" y="4571000"/>
            <a:ext cx="931031" cy="178451"/>
            <a:chOff x="0" y="0"/>
            <a:chExt cx="1241374" cy="23793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41298" cy="237871"/>
            </a:xfrm>
            <a:custGeom>
              <a:avLst/>
              <a:gdLst/>
              <a:ahLst/>
              <a:cxnLst/>
              <a:rect r="r" b="b" t="t" l="l"/>
              <a:pathLst>
                <a:path h="237871" w="124129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201674" y="0"/>
                  </a:lnTo>
                  <a:cubicBezTo>
                    <a:pt x="1223518" y="0"/>
                    <a:pt x="1241298" y="17780"/>
                    <a:pt x="1241298" y="39624"/>
                  </a:cubicBezTo>
                  <a:lnTo>
                    <a:pt x="1241298" y="198247"/>
                  </a:lnTo>
                  <a:cubicBezTo>
                    <a:pt x="1241298" y="220091"/>
                    <a:pt x="1223518" y="237871"/>
                    <a:pt x="120167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60309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6353092" y="4511507"/>
            <a:ext cx="50797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99543" y="5243227"/>
            <a:ext cx="3404311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Falta de experiencia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3232559" y="5298519"/>
            <a:ext cx="2855157" cy="178451"/>
            <a:chOff x="0" y="0"/>
            <a:chExt cx="3806876" cy="2379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06825" cy="237871"/>
            </a:xfrm>
            <a:custGeom>
              <a:avLst/>
              <a:gdLst/>
              <a:ahLst/>
              <a:cxnLst/>
              <a:rect r="r" b="b" t="t" l="l"/>
              <a:pathLst>
                <a:path h="237871" w="380682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767201" y="0"/>
                  </a:lnTo>
                  <a:cubicBezTo>
                    <a:pt x="3789045" y="0"/>
                    <a:pt x="3806825" y="17780"/>
                    <a:pt x="3806825" y="39624"/>
                  </a:cubicBezTo>
                  <a:lnTo>
                    <a:pt x="3806825" y="198247"/>
                  </a:lnTo>
                  <a:cubicBezTo>
                    <a:pt x="3806825" y="220091"/>
                    <a:pt x="3789045" y="237871"/>
                    <a:pt x="3767201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232559" y="5298519"/>
            <a:ext cx="744826" cy="178451"/>
            <a:chOff x="0" y="0"/>
            <a:chExt cx="993102" cy="23793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3140" cy="237871"/>
            </a:xfrm>
            <a:custGeom>
              <a:avLst/>
              <a:gdLst/>
              <a:ahLst/>
              <a:cxnLst/>
              <a:rect r="r" b="b" t="t" l="l"/>
              <a:pathLst>
                <a:path h="237871" w="993140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53389" y="0"/>
                  </a:lnTo>
                  <a:cubicBezTo>
                    <a:pt x="975360" y="0"/>
                    <a:pt x="993140" y="17780"/>
                    <a:pt x="993140" y="39624"/>
                  </a:cubicBezTo>
                  <a:lnTo>
                    <a:pt x="993140" y="198247"/>
                  </a:lnTo>
                  <a:cubicBezTo>
                    <a:pt x="993140" y="220091"/>
                    <a:pt x="975360" y="237871"/>
                    <a:pt x="953516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60309A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6353092" y="5239026"/>
            <a:ext cx="50797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99543" y="5970746"/>
            <a:ext cx="3404311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Falta de cercanía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3232559" y="6026029"/>
            <a:ext cx="2855157" cy="178451"/>
            <a:chOff x="0" y="0"/>
            <a:chExt cx="3806876" cy="2379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06825" cy="237871"/>
            </a:xfrm>
            <a:custGeom>
              <a:avLst/>
              <a:gdLst/>
              <a:ahLst/>
              <a:cxnLst/>
              <a:rect r="r" b="b" t="t" l="l"/>
              <a:pathLst>
                <a:path h="237871" w="380682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767201" y="0"/>
                  </a:lnTo>
                  <a:cubicBezTo>
                    <a:pt x="3789045" y="0"/>
                    <a:pt x="3806825" y="17780"/>
                    <a:pt x="3806825" y="39624"/>
                  </a:cubicBezTo>
                  <a:lnTo>
                    <a:pt x="3806825" y="198247"/>
                  </a:lnTo>
                  <a:cubicBezTo>
                    <a:pt x="3806825" y="220091"/>
                    <a:pt x="3789045" y="237871"/>
                    <a:pt x="3767201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232559" y="6026029"/>
            <a:ext cx="682752" cy="178451"/>
            <a:chOff x="0" y="0"/>
            <a:chExt cx="910336" cy="23793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0336" cy="237871"/>
            </a:xfrm>
            <a:custGeom>
              <a:avLst/>
              <a:gdLst/>
              <a:ahLst/>
              <a:cxnLst/>
              <a:rect r="r" b="b" t="t" l="l"/>
              <a:pathLst>
                <a:path h="237871" w="910336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870712" y="0"/>
                  </a:lnTo>
                  <a:cubicBezTo>
                    <a:pt x="892556" y="0"/>
                    <a:pt x="910336" y="17780"/>
                    <a:pt x="910336" y="39624"/>
                  </a:cubicBezTo>
                  <a:lnTo>
                    <a:pt x="910336" y="198247"/>
                  </a:lnTo>
                  <a:cubicBezTo>
                    <a:pt x="910336" y="220091"/>
                    <a:pt x="892556" y="237871"/>
                    <a:pt x="870712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60309A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6353092" y="5966546"/>
            <a:ext cx="50797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599543" y="6698256"/>
            <a:ext cx="3404311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6">
                <a:solidFill>
                  <a:srgbClr val="291F3C"/>
                </a:solidFill>
                <a:latin typeface="Aptos"/>
                <a:ea typeface="Aptos"/>
                <a:cs typeface="Aptos"/>
                <a:sym typeface="Aptos"/>
              </a:rPr>
              <a:t>Imagen política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3232559" y="6753549"/>
            <a:ext cx="2855157" cy="178451"/>
            <a:chOff x="0" y="0"/>
            <a:chExt cx="3806876" cy="23793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06825" cy="237871"/>
            </a:xfrm>
            <a:custGeom>
              <a:avLst/>
              <a:gdLst/>
              <a:ahLst/>
              <a:cxnLst/>
              <a:rect r="r" b="b" t="t" l="l"/>
              <a:pathLst>
                <a:path h="237871" w="380682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767201" y="0"/>
                  </a:lnTo>
                  <a:cubicBezTo>
                    <a:pt x="3789045" y="0"/>
                    <a:pt x="3806825" y="17780"/>
                    <a:pt x="3806825" y="39624"/>
                  </a:cubicBezTo>
                  <a:lnTo>
                    <a:pt x="3806825" y="198247"/>
                  </a:lnTo>
                  <a:cubicBezTo>
                    <a:pt x="3806825" y="220091"/>
                    <a:pt x="3789045" y="237871"/>
                    <a:pt x="3767201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232559" y="6753549"/>
            <a:ext cx="558622" cy="178451"/>
            <a:chOff x="0" y="0"/>
            <a:chExt cx="744830" cy="23793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44728" cy="237871"/>
            </a:xfrm>
            <a:custGeom>
              <a:avLst/>
              <a:gdLst/>
              <a:ahLst/>
              <a:cxnLst/>
              <a:rect r="r" b="b" t="t" l="l"/>
              <a:pathLst>
                <a:path h="237871" w="744728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705104" y="0"/>
                  </a:lnTo>
                  <a:cubicBezTo>
                    <a:pt x="726948" y="0"/>
                    <a:pt x="744728" y="17780"/>
                    <a:pt x="744728" y="39624"/>
                  </a:cubicBezTo>
                  <a:lnTo>
                    <a:pt x="744728" y="198247"/>
                  </a:lnTo>
                  <a:cubicBezTo>
                    <a:pt x="744728" y="220091"/>
                    <a:pt x="726948" y="237871"/>
                    <a:pt x="705104" y="237871"/>
                  </a:cubicBezTo>
                  <a:lnTo>
                    <a:pt x="39624" y="237871"/>
                  </a:lnTo>
                  <a:cubicBezTo>
                    <a:pt x="17780" y="237871"/>
                    <a:pt x="0" y="220218"/>
                    <a:pt x="0" y="198247"/>
                  </a:cubicBezTo>
                  <a:close/>
                </a:path>
              </a:pathLst>
            </a:custGeom>
            <a:solidFill>
              <a:srgbClr val="60309A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6353092" y="6694056"/>
            <a:ext cx="50797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9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636157" y="7769323"/>
            <a:ext cx="7453608" cy="809873"/>
            <a:chOff x="0" y="0"/>
            <a:chExt cx="9938144" cy="107983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938131" cy="1079881"/>
            </a:xfrm>
            <a:custGeom>
              <a:avLst/>
              <a:gdLst/>
              <a:ahLst/>
              <a:cxnLst/>
              <a:rect r="r" b="b" t="t" l="l"/>
              <a:pathLst>
                <a:path h="1079881" w="9938131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9758172" y="0"/>
                  </a:lnTo>
                  <a:cubicBezTo>
                    <a:pt x="9857613" y="0"/>
                    <a:pt x="9938131" y="80518"/>
                    <a:pt x="9938131" y="179959"/>
                  </a:cubicBezTo>
                  <a:lnTo>
                    <a:pt x="9938131" y="899922"/>
                  </a:lnTo>
                  <a:cubicBezTo>
                    <a:pt x="9938131" y="999363"/>
                    <a:pt x="9857613" y="1079881"/>
                    <a:pt x="9758172" y="1079881"/>
                  </a:cubicBezTo>
                  <a:lnTo>
                    <a:pt x="179959" y="1079881"/>
                  </a:lnTo>
                  <a:cubicBezTo>
                    <a:pt x="80518" y="1079881"/>
                    <a:pt x="0" y="999236"/>
                    <a:pt x="0" y="899922"/>
                  </a:cubicBezTo>
                  <a:close/>
                </a:path>
              </a:pathLst>
            </a:custGeom>
            <a:solidFill>
              <a:srgbClr val="EBE0F3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9942709" y="8025555"/>
            <a:ext cx="6808537" cy="24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0309A"/>
                </a:solidFill>
                <a:latin typeface="Aptos Bold"/>
                <a:ea typeface="Aptos Bold"/>
                <a:cs typeface="Aptos Bold"/>
                <a:sym typeface="Aptos Bold"/>
              </a:rPr>
              <a:t>43 personas no señalaron debilidades</a:t>
            </a:r>
          </a:p>
        </p:txBody>
      </p:sp>
      <p:sp>
        <p:nvSpPr>
          <p:cNvPr name="Freeform 86" id="86"/>
          <p:cNvSpPr/>
          <p:nvPr/>
        </p:nvSpPr>
        <p:spPr>
          <a:xfrm flipH="true" flipV="true" rot="5093262">
            <a:off x="13624917" y="-2151973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7" id="87"/>
          <p:cNvSpPr txBox="true"/>
          <p:nvPr/>
        </p:nvSpPr>
        <p:spPr>
          <a:xfrm rot="0">
            <a:off x="773259" y="704850"/>
            <a:ext cx="217181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MAPA DE MARCA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73259" y="1019175"/>
            <a:ext cx="1152798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Mapa de marca de Johanna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7423"/>
            <a:ext cx="18301840" cy="9602361"/>
            <a:chOff x="0" y="0"/>
            <a:chExt cx="24402453" cy="12803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03100"/>
            </a:xfrm>
            <a:custGeom>
              <a:avLst/>
              <a:gdLst/>
              <a:ahLst/>
              <a:cxnLst/>
              <a:rect r="r" b="b" t="t" l="l"/>
              <a:pathLst>
                <a:path h="128031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03100"/>
                  </a:lnTo>
                  <a:lnTo>
                    <a:pt x="0" y="12803100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605098" y="2248052"/>
            <a:ext cx="11142708" cy="7428472"/>
          </a:xfrm>
          <a:custGeom>
            <a:avLst/>
            <a:gdLst/>
            <a:ahLst/>
            <a:cxnLst/>
            <a:rect r="r" b="b" t="t" l="l"/>
            <a:pathLst>
              <a:path h="7428472" w="11142708">
                <a:moveTo>
                  <a:pt x="0" y="0"/>
                </a:moveTo>
                <a:lnTo>
                  <a:pt x="11142707" y="0"/>
                </a:lnTo>
                <a:lnTo>
                  <a:pt x="11142707" y="7428472"/>
                </a:lnTo>
                <a:lnTo>
                  <a:pt x="0" y="742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3259" y="704850"/>
            <a:ext cx="217181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MAPA DE MARCA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259" y="1019175"/>
            <a:ext cx="1152798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Mapa de marca de Johanna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7423"/>
            <a:ext cx="18301840" cy="9602361"/>
            <a:chOff x="0" y="0"/>
            <a:chExt cx="24402453" cy="12803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03100"/>
            </a:xfrm>
            <a:custGeom>
              <a:avLst/>
              <a:gdLst/>
              <a:ahLst/>
              <a:cxnLst/>
              <a:rect r="r" b="b" t="t" l="l"/>
              <a:pathLst>
                <a:path h="128031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03100"/>
                  </a:lnTo>
                  <a:lnTo>
                    <a:pt x="0" y="12803100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45508" y="1215795"/>
            <a:ext cx="1535215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sz="7003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Hallazgos para comprender a Ortega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958500"/>
            <a:ext cx="7755598" cy="2017833"/>
            <a:chOff x="0" y="0"/>
            <a:chExt cx="10340797" cy="2690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40848" cy="2690495"/>
            </a:xfrm>
            <a:custGeom>
              <a:avLst/>
              <a:gdLst/>
              <a:ahLst/>
              <a:cxnLst/>
              <a:rect r="r" b="b" t="t" l="l"/>
              <a:pathLst>
                <a:path h="2690495" w="10340848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9892411" y="0"/>
                  </a:lnTo>
                  <a:cubicBezTo>
                    <a:pt x="10140061" y="0"/>
                    <a:pt x="10340848" y="200787"/>
                    <a:pt x="10340848" y="448437"/>
                  </a:cubicBezTo>
                  <a:lnTo>
                    <a:pt x="10340848" y="2242058"/>
                  </a:lnTo>
                  <a:cubicBezTo>
                    <a:pt x="10340848" y="2489708"/>
                    <a:pt x="10140061" y="2690495"/>
                    <a:pt x="9892411" y="2690495"/>
                  </a:cubicBezTo>
                  <a:lnTo>
                    <a:pt x="448437" y="2690495"/>
                  </a:lnTo>
                  <a:cubicBezTo>
                    <a:pt x="200787" y="2690495"/>
                    <a:pt x="0" y="2489708"/>
                    <a:pt x="0" y="22420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958500"/>
            <a:ext cx="123539" cy="2017833"/>
            <a:chOff x="0" y="0"/>
            <a:chExt cx="164719" cy="26904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19" cy="2690495"/>
            </a:xfrm>
            <a:custGeom>
              <a:avLst/>
              <a:gdLst/>
              <a:ahLst/>
              <a:cxnLst/>
              <a:rect r="r" b="b" t="t" l="l"/>
              <a:pathLst>
                <a:path h="2690495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58249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04531" y="3356560"/>
            <a:ext cx="6323543" cy="29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582491"/>
                </a:solidFill>
                <a:latin typeface="Aptos Bold"/>
                <a:ea typeface="Aptos Bold"/>
                <a:cs typeface="Aptos Bold"/>
                <a:sym typeface="Aptos Bold"/>
              </a:rPr>
              <a:t>Zona urbana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4531" y="4056628"/>
            <a:ext cx="6735347" cy="28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1B3D"/>
                </a:solidFill>
                <a:latin typeface="Aptos"/>
                <a:ea typeface="Aptos"/>
                <a:cs typeface="Aptos"/>
                <a:sym typeface="Aptos"/>
              </a:rPr>
              <a:t>Seguridad y alumbrado público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37278" y="2958500"/>
            <a:ext cx="7755598" cy="2017833"/>
            <a:chOff x="0" y="0"/>
            <a:chExt cx="10340797" cy="2690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40848" cy="2690495"/>
            </a:xfrm>
            <a:custGeom>
              <a:avLst/>
              <a:gdLst/>
              <a:ahLst/>
              <a:cxnLst/>
              <a:rect r="r" b="b" t="t" l="l"/>
              <a:pathLst>
                <a:path h="2690495" w="10340848">
                  <a:moveTo>
                    <a:pt x="0" y="448437"/>
                  </a:moveTo>
                  <a:cubicBezTo>
                    <a:pt x="0" y="200787"/>
                    <a:pt x="200787" y="0"/>
                    <a:pt x="448437" y="0"/>
                  </a:cubicBezTo>
                  <a:lnTo>
                    <a:pt x="9892411" y="0"/>
                  </a:lnTo>
                  <a:cubicBezTo>
                    <a:pt x="10140061" y="0"/>
                    <a:pt x="10340848" y="200787"/>
                    <a:pt x="10340848" y="448437"/>
                  </a:cubicBezTo>
                  <a:lnTo>
                    <a:pt x="10340848" y="2242058"/>
                  </a:lnTo>
                  <a:cubicBezTo>
                    <a:pt x="10340848" y="2489708"/>
                    <a:pt x="10140061" y="2690495"/>
                    <a:pt x="9892411" y="2690495"/>
                  </a:cubicBezTo>
                  <a:lnTo>
                    <a:pt x="448437" y="2690495"/>
                  </a:lnTo>
                  <a:cubicBezTo>
                    <a:pt x="200787" y="2690495"/>
                    <a:pt x="0" y="2489708"/>
                    <a:pt x="0" y="22420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237278" y="2958500"/>
            <a:ext cx="123539" cy="2017833"/>
            <a:chOff x="0" y="0"/>
            <a:chExt cx="164719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19" cy="2690495"/>
            </a:xfrm>
            <a:custGeom>
              <a:avLst/>
              <a:gdLst/>
              <a:ahLst/>
              <a:cxnLst/>
              <a:rect r="r" b="b" t="t" l="l"/>
              <a:pathLst>
                <a:path h="2690495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2690495"/>
                  </a:lnTo>
                  <a:lnTo>
                    <a:pt x="0" y="2690495"/>
                  </a:lnTo>
                  <a:close/>
                </a:path>
              </a:pathLst>
            </a:custGeom>
            <a:solidFill>
              <a:srgbClr val="DE3A9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13109" y="3356560"/>
            <a:ext cx="6323543" cy="29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E3A9A"/>
                </a:solidFill>
                <a:latin typeface="Aptos Bold"/>
                <a:ea typeface="Aptos Bold"/>
                <a:cs typeface="Aptos Bold"/>
                <a:sym typeface="Aptos Bold"/>
              </a:rPr>
              <a:t>Zona rural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3109" y="4056628"/>
            <a:ext cx="6735347" cy="28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81B3D"/>
                </a:solidFill>
                <a:latin typeface="Aptos"/>
                <a:ea typeface="Aptos"/>
                <a:cs typeface="Aptos"/>
                <a:sym typeface="Aptos"/>
              </a:rPr>
              <a:t>Agua, vías y actividad campesina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2426" y="5388128"/>
            <a:ext cx="15936725" cy="2196274"/>
            <a:chOff x="0" y="0"/>
            <a:chExt cx="21248967" cy="2928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49005" cy="2928366"/>
            </a:xfrm>
            <a:custGeom>
              <a:avLst/>
              <a:gdLst/>
              <a:ahLst/>
              <a:cxnLst/>
              <a:rect r="r" b="b" t="t" l="l"/>
              <a:pathLst>
                <a:path h="2928366" w="21249005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0760944" y="0"/>
                  </a:lnTo>
                  <a:cubicBezTo>
                    <a:pt x="21030437" y="0"/>
                    <a:pt x="21249005" y="218567"/>
                    <a:pt x="21249005" y="488061"/>
                  </a:cubicBezTo>
                  <a:lnTo>
                    <a:pt x="21249005" y="2440305"/>
                  </a:lnTo>
                  <a:cubicBezTo>
                    <a:pt x="21249005" y="2709799"/>
                    <a:pt x="21030437" y="2928366"/>
                    <a:pt x="20760944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04531" y="5772471"/>
            <a:ext cx="14834111" cy="29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582491"/>
                </a:solidFill>
                <a:latin typeface="Aptos Bold"/>
                <a:ea typeface="Aptos Bold"/>
                <a:cs typeface="Aptos Bold"/>
                <a:sym typeface="Aptos Bold"/>
              </a:rPr>
              <a:t>Temas urgentes destacados por el documento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63811" y="6499981"/>
            <a:ext cx="631555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281B3D"/>
                </a:solidFill>
                <a:latin typeface="Aptos Bold"/>
                <a:ea typeface="Aptos Bold"/>
                <a:cs typeface="Aptos Bold"/>
                <a:sym typeface="Aptos Bold"/>
              </a:rPr>
              <a:t>Agua y saneamiento   ·   Campo   ·   Vías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2426" y="7831490"/>
            <a:ext cx="15936725" cy="768696"/>
            <a:chOff x="0" y="0"/>
            <a:chExt cx="21248967" cy="10249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49004" cy="1024890"/>
            </a:xfrm>
            <a:custGeom>
              <a:avLst/>
              <a:gdLst/>
              <a:ahLst/>
              <a:cxnLst/>
              <a:rect r="r" b="b" t="t" l="l"/>
              <a:pathLst>
                <a:path h="1024890" w="21249004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21078189" y="0"/>
                  </a:lnTo>
                  <a:cubicBezTo>
                    <a:pt x="21172551" y="0"/>
                    <a:pt x="21249004" y="76454"/>
                    <a:pt x="21249004" y="170815"/>
                  </a:cubicBezTo>
                  <a:lnTo>
                    <a:pt x="21249004" y="854075"/>
                  </a:lnTo>
                  <a:cubicBezTo>
                    <a:pt x="21249004" y="948436"/>
                    <a:pt x="21172551" y="1024890"/>
                    <a:pt x="21078189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EBE1F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22168" y="8037373"/>
            <a:ext cx="14971376" cy="27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582491"/>
                </a:solidFill>
                <a:latin typeface="Aptos Bold"/>
                <a:ea typeface="Aptos Bold"/>
                <a:cs typeface="Aptos Bold"/>
                <a:sym typeface="Aptos Bold"/>
              </a:rPr>
              <a:t>Tema emergente: alumbrado público · 14 menciones consignadas</a:t>
            </a:r>
          </a:p>
        </p:txBody>
      </p:sp>
      <p:sp>
        <p:nvSpPr>
          <p:cNvPr name="Freeform 24" id="2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58486" y="361492"/>
            <a:ext cx="18707963" cy="9564017"/>
            <a:chOff x="0" y="0"/>
            <a:chExt cx="24943951" cy="12752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3912" cy="12751974"/>
            </a:xfrm>
            <a:custGeom>
              <a:avLst/>
              <a:gdLst/>
              <a:ahLst/>
              <a:cxnLst/>
              <a:rect r="r" b="b" t="t" l="l"/>
              <a:pathLst>
                <a:path h="12751974" w="24943912">
                  <a:moveTo>
                    <a:pt x="0" y="0"/>
                  </a:moveTo>
                  <a:lnTo>
                    <a:pt x="24943912" y="0"/>
                  </a:lnTo>
                  <a:lnTo>
                    <a:pt x="24943912" y="12751974"/>
                  </a:lnTo>
                  <a:lnTo>
                    <a:pt x="0" y="12751974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222184" y="3406670"/>
            <a:ext cx="7168311" cy="5065926"/>
            <a:chOff x="0" y="0"/>
            <a:chExt cx="9557748" cy="67545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57714" cy="6754371"/>
            </a:xfrm>
            <a:custGeom>
              <a:avLst/>
              <a:gdLst/>
              <a:ahLst/>
              <a:cxnLst/>
              <a:rect r="r" b="b" t="t" l="l"/>
              <a:pathLst>
                <a:path h="6754371" w="9557714">
                  <a:moveTo>
                    <a:pt x="0" y="1125728"/>
                  </a:moveTo>
                  <a:cubicBezTo>
                    <a:pt x="0" y="503994"/>
                    <a:pt x="197966" y="0"/>
                    <a:pt x="442180" y="0"/>
                  </a:cubicBezTo>
                  <a:lnTo>
                    <a:pt x="9115534" y="0"/>
                  </a:lnTo>
                  <a:cubicBezTo>
                    <a:pt x="9359748" y="0"/>
                    <a:pt x="9557714" y="503994"/>
                    <a:pt x="9557714" y="1125728"/>
                  </a:cubicBezTo>
                  <a:lnTo>
                    <a:pt x="9557714" y="5628642"/>
                  </a:lnTo>
                  <a:cubicBezTo>
                    <a:pt x="9557714" y="6250377"/>
                    <a:pt x="9359748" y="6754371"/>
                    <a:pt x="9115534" y="6754371"/>
                  </a:cubicBezTo>
                  <a:lnTo>
                    <a:pt x="442180" y="6754371"/>
                  </a:lnTo>
                  <a:cubicBezTo>
                    <a:pt x="197966" y="6754606"/>
                    <a:pt x="0" y="6250659"/>
                    <a:pt x="0" y="56286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00893" y="1518318"/>
            <a:ext cx="1405092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C</a:t>
            </a: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onclusiones y siete movimientos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79433" y="3406670"/>
            <a:ext cx="7168311" cy="5065926"/>
            <a:chOff x="0" y="0"/>
            <a:chExt cx="9557748" cy="6754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57714" cy="6754371"/>
            </a:xfrm>
            <a:custGeom>
              <a:avLst/>
              <a:gdLst/>
              <a:ahLst/>
              <a:cxnLst/>
              <a:rect r="r" b="b" t="t" l="l"/>
              <a:pathLst>
                <a:path h="6754371" w="9557714">
                  <a:moveTo>
                    <a:pt x="0" y="1125728"/>
                  </a:moveTo>
                  <a:cubicBezTo>
                    <a:pt x="0" y="503994"/>
                    <a:pt x="197966" y="0"/>
                    <a:pt x="442180" y="0"/>
                  </a:cubicBezTo>
                  <a:lnTo>
                    <a:pt x="9115534" y="0"/>
                  </a:lnTo>
                  <a:cubicBezTo>
                    <a:pt x="9359748" y="0"/>
                    <a:pt x="9557714" y="503994"/>
                    <a:pt x="9557714" y="1125728"/>
                  </a:cubicBezTo>
                  <a:lnTo>
                    <a:pt x="9557714" y="5628642"/>
                  </a:lnTo>
                  <a:cubicBezTo>
                    <a:pt x="9557714" y="6250377"/>
                    <a:pt x="9359748" y="6754371"/>
                    <a:pt x="9115534" y="6754371"/>
                  </a:cubicBezTo>
                  <a:lnTo>
                    <a:pt x="442180" y="6754371"/>
                  </a:lnTo>
                  <a:cubicBezTo>
                    <a:pt x="197966" y="6754606"/>
                    <a:pt x="0" y="6250659"/>
                    <a:pt x="0" y="56286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00893" y="3951850"/>
            <a:ext cx="5702699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</a:pPr>
            <a:r>
              <a:rPr lang="en-US" b="true" sz="3000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El di</a:t>
            </a:r>
            <a:r>
              <a:rPr lang="en-US" b="true" sz="3000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agnóstico en cuatro frases</a:t>
            </a:r>
          </a:p>
          <a:p>
            <a:pPr algn="l" marL="0" indent="0" lvl="0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Ortega tiene una agenda de seis temas y dos urgencias.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Hay dos Ortegas con la misma afinidad y distinta necesidad.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La marca es de carácter, y le falta cercanía. Liderazgo y honestidad están reconocidos; presencia en el territorio y conocimiento del terreno no.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La duda que existe es desconocimiento, no rechazo.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4412" y="4094725"/>
            <a:ext cx="6030191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0"/>
              </a:lnSpc>
            </a:pPr>
            <a:r>
              <a:rPr lang="en-US" b="true" sz="2200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Siete movimie</a:t>
            </a:r>
            <a:r>
              <a:rPr lang="en-US" b="true" sz="2200">
                <a:solidFill>
                  <a:srgbClr val="2C1E3D"/>
                </a:solidFill>
                <a:latin typeface="Arimo Bold"/>
                <a:ea typeface="Arimo Bold"/>
                <a:cs typeface="Arimo Bold"/>
                <a:sym typeface="Arimo Bold"/>
              </a:rPr>
              <a:t>ntos que salen de los datos</a:t>
            </a:r>
          </a:p>
          <a:p>
            <a:pPr algn="l" marL="0" indent="0" lvl="0">
              <a:lnSpc>
                <a:spcPts val="2251"/>
              </a:lnSpc>
            </a:pP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Un calendario de territorio con nombres.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Dos propuestas con nombre propio además de la Casa de la Mujer.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Un compromiso público con Olaya Herrera.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Poner el alumbrado en el discurso urbano.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Hablar del campo y del empleo como una sola cosa.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Una regla de campaña sin confrontación y una regla de alianzas explicable. </a:t>
            </a:r>
          </a:p>
          <a:p>
            <a:pPr algn="l" marL="431801" indent="-215900" lvl="1">
              <a:lnSpc>
                <a:spcPts val="2400"/>
              </a:lnSpc>
              <a:buAutoNum type="arabicPeriod" startAt="1"/>
            </a:pPr>
            <a:r>
              <a:rPr lang="en-US" sz="2000">
                <a:solidFill>
                  <a:srgbClr val="2C1E3D"/>
                </a:solidFill>
                <a:latin typeface="Arimo"/>
                <a:ea typeface="Arimo"/>
                <a:cs typeface="Arimo"/>
                <a:sym typeface="Arimo"/>
              </a:rPr>
              <a:t>Prometer poco y en formato verificable.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1828"/>
            <a:ext cx="9302702" cy="10308828"/>
            <a:chOff x="0" y="0"/>
            <a:chExt cx="2450094" cy="2715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0094" cy="2715082"/>
            </a:xfrm>
            <a:custGeom>
              <a:avLst/>
              <a:gdLst/>
              <a:ahLst/>
              <a:cxnLst/>
              <a:rect r="r" b="b" t="t" l="l"/>
              <a:pathLst>
                <a:path h="2715082" w="2450094">
                  <a:moveTo>
                    <a:pt x="0" y="0"/>
                  </a:moveTo>
                  <a:lnTo>
                    <a:pt x="2450094" y="0"/>
                  </a:lnTo>
                  <a:lnTo>
                    <a:pt x="2450094" y="2715082"/>
                  </a:lnTo>
                  <a:lnTo>
                    <a:pt x="0" y="2715082"/>
                  </a:lnTo>
                  <a:close/>
                </a:path>
              </a:pathLst>
            </a:custGeom>
            <a:solidFill>
              <a:srgbClr val="832A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50094" cy="2762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85825"/>
            <a:ext cx="14389372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 spc="265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ORT</a:t>
            </a:r>
            <a:r>
              <a:rPr lang="en-US" sz="6999" spc="265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EGA RURAL </a:t>
            </a:r>
            <a:r>
              <a:rPr lang="en-US" sz="6999" spc="265">
                <a:solidFill>
                  <a:srgbClr val="832A99"/>
                </a:solidFill>
                <a:latin typeface="Ancorli"/>
                <a:ea typeface="Ancorli"/>
                <a:cs typeface="Ancorli"/>
                <a:sym typeface="Ancorli"/>
              </a:rPr>
              <a:t>Y URBANA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409" y="3060112"/>
            <a:ext cx="6858499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ORTEGA DIGNA:  Malo sufrimiento, lo que los ortegunos sufren. 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AGUA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VIAS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ALUMBRADO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RECUPERACIÓN ESPACIO PÚBLICO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DIGNIDAD PARA EL CAMPESINO Y EL CIUDADANO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7739" y="4725218"/>
            <a:ext cx="6858499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32A99"/>
                </a:solidFill>
                <a:latin typeface="Arimo Bold"/>
                <a:ea typeface="Arimo Bold"/>
                <a:cs typeface="Arimo Bold"/>
                <a:sym typeface="Arimo Bold"/>
              </a:rPr>
              <a:t>ORTEGA PRODUCE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EMPLEO Y EMPRENDIMIENT</a:t>
            </a: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O: RURAL Y URBANO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SEGURIDAD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ALUD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EDUCACIÓN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TURISMO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32A99"/>
                </a:solidFill>
                <a:latin typeface="Arimo"/>
                <a:ea typeface="Arimo"/>
                <a:cs typeface="Arimo"/>
                <a:sym typeface="Arimo"/>
              </a:rPr>
              <a:t>CONECTIVIDAD 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75902" y="2773215"/>
            <a:ext cx="7589521" cy="265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832A99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  <a:r>
              <a:rPr lang="en-US" sz="5000" b="true">
                <a:solidFill>
                  <a:srgbClr val="832A99"/>
                </a:solidFill>
                <a:latin typeface="Arimo Bold"/>
                <a:ea typeface="Arimo Bold"/>
                <a:cs typeface="Arimo Bold"/>
                <a:sym typeface="Arimo Bold"/>
              </a:rPr>
              <a:t>O QUE LOS </a:t>
            </a:r>
            <a:r>
              <a:rPr lang="en-US" sz="5000" b="true">
                <a:solidFill>
                  <a:srgbClr val="832A99"/>
                </a:solidFill>
                <a:latin typeface="Arimo Bold"/>
                <a:ea typeface="Arimo Bold"/>
                <a:cs typeface="Arimo Bold"/>
                <a:sym typeface="Arimo Bold"/>
              </a:rPr>
              <a:t>ORTEGUNOS QUIEREN </a:t>
            </a: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7423"/>
            <a:ext cx="18301840" cy="9602361"/>
            <a:chOff x="0" y="0"/>
            <a:chExt cx="24402453" cy="12803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2803100"/>
            </a:xfrm>
            <a:custGeom>
              <a:avLst/>
              <a:gdLst/>
              <a:ahLst/>
              <a:cxnLst/>
              <a:rect r="r" b="b" t="t" l="l"/>
              <a:pathLst>
                <a:path h="128031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2803100"/>
                  </a:lnTo>
                  <a:lnTo>
                    <a:pt x="0" y="12803100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584082" y="1133643"/>
            <a:ext cx="9061645" cy="8019714"/>
          </a:xfrm>
          <a:custGeom>
            <a:avLst/>
            <a:gdLst/>
            <a:ahLst/>
            <a:cxnLst/>
            <a:rect r="r" b="b" t="t" l="l"/>
            <a:pathLst>
              <a:path h="8019714" w="9061645">
                <a:moveTo>
                  <a:pt x="0" y="0"/>
                </a:moveTo>
                <a:lnTo>
                  <a:pt x="9061645" y="0"/>
                </a:lnTo>
                <a:lnTo>
                  <a:pt x="9061645" y="8019714"/>
                </a:lnTo>
                <a:lnTo>
                  <a:pt x="0" y="8019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4730" y="4131803"/>
            <a:ext cx="486179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Posible </a:t>
            </a:r>
          </a:p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Candidatos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58486" y="0"/>
            <a:ext cx="18707963" cy="10632738"/>
            <a:chOff x="0" y="0"/>
            <a:chExt cx="24943951" cy="14176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3912" cy="14176932"/>
            </a:xfrm>
            <a:custGeom>
              <a:avLst/>
              <a:gdLst/>
              <a:ahLst/>
              <a:cxnLst/>
              <a:rect r="r" b="b" t="t" l="l"/>
              <a:pathLst>
                <a:path h="14176932" w="24943912">
                  <a:moveTo>
                    <a:pt x="0" y="0"/>
                  </a:moveTo>
                  <a:lnTo>
                    <a:pt x="24943912" y="0"/>
                  </a:lnTo>
                  <a:lnTo>
                    <a:pt x="24943912" y="14176932"/>
                  </a:lnTo>
                  <a:lnTo>
                    <a:pt x="0" y="14176932"/>
                  </a:lnTo>
                  <a:close/>
                </a:path>
              </a:pathLst>
            </a:custGeom>
            <a:solidFill>
              <a:srgbClr val="832B99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true" rot="5093262">
            <a:off x="14308793" y="-2135171"/>
            <a:ext cx="5052320" cy="4473600"/>
          </a:xfrm>
          <a:custGeom>
            <a:avLst/>
            <a:gdLst/>
            <a:ahLst/>
            <a:cxnLst/>
            <a:rect r="r" b="b" t="t" l="l"/>
            <a:pathLst>
              <a:path h="4473600" w="5052320">
                <a:moveTo>
                  <a:pt x="5052320" y="4473600"/>
                </a:moveTo>
                <a:lnTo>
                  <a:pt x="0" y="4473600"/>
                </a:lnTo>
                <a:lnTo>
                  <a:pt x="0" y="0"/>
                </a:lnTo>
                <a:lnTo>
                  <a:pt x="5052320" y="0"/>
                </a:lnTo>
                <a:lnTo>
                  <a:pt x="5052320" y="4473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960186" y="-1183773"/>
            <a:ext cx="7874767" cy="11816511"/>
          </a:xfrm>
          <a:custGeom>
            <a:avLst/>
            <a:gdLst/>
            <a:ahLst/>
            <a:cxnLst/>
            <a:rect r="r" b="b" t="t" l="l"/>
            <a:pathLst>
              <a:path h="11816511" w="7874767">
                <a:moveTo>
                  <a:pt x="0" y="0"/>
                </a:moveTo>
                <a:lnTo>
                  <a:pt x="7874767" y="0"/>
                </a:lnTo>
                <a:lnTo>
                  <a:pt x="7874767" y="11816511"/>
                </a:lnTo>
                <a:lnTo>
                  <a:pt x="0" y="1181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7283" y="4076700"/>
            <a:ext cx="526530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ncorli"/>
                <a:ea typeface="Ancorli"/>
                <a:cs typeface="Ancorli"/>
                <a:sym typeface="Ancorli"/>
              </a:rPr>
              <a:t>Organigrama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32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2687" y="0"/>
            <a:ext cx="11068629" cy="10695430"/>
            <a:chOff x="0" y="0"/>
            <a:chExt cx="2915195" cy="2816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15195" cy="2816903"/>
            </a:xfrm>
            <a:custGeom>
              <a:avLst/>
              <a:gdLst/>
              <a:ahLst/>
              <a:cxnLst/>
              <a:rect r="r" b="b" t="t" l="l"/>
              <a:pathLst>
                <a:path h="2816903" w="2915195">
                  <a:moveTo>
                    <a:pt x="0" y="0"/>
                  </a:moveTo>
                  <a:lnTo>
                    <a:pt x="2915195" y="0"/>
                  </a:lnTo>
                  <a:lnTo>
                    <a:pt x="2915195" y="2816903"/>
                  </a:lnTo>
                  <a:lnTo>
                    <a:pt x="0" y="2816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15195" cy="2864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1878155">
            <a:off x="6442034" y="-598609"/>
            <a:ext cx="12969856" cy="11484218"/>
          </a:xfrm>
          <a:custGeom>
            <a:avLst/>
            <a:gdLst/>
            <a:ahLst/>
            <a:cxnLst/>
            <a:rect r="r" b="b" t="t" l="l"/>
            <a:pathLst>
              <a:path h="11484218" w="12969856">
                <a:moveTo>
                  <a:pt x="12969856" y="11484218"/>
                </a:moveTo>
                <a:lnTo>
                  <a:pt x="0" y="11484218"/>
                </a:lnTo>
                <a:lnTo>
                  <a:pt x="0" y="0"/>
                </a:lnTo>
                <a:lnTo>
                  <a:pt x="12969856" y="0"/>
                </a:lnTo>
                <a:lnTo>
                  <a:pt x="12969856" y="11484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8711713">
            <a:off x="15289424" y="-703699"/>
            <a:ext cx="3939751" cy="3860956"/>
          </a:xfrm>
          <a:custGeom>
            <a:avLst/>
            <a:gdLst/>
            <a:ahLst/>
            <a:cxnLst/>
            <a:rect r="r" b="b" t="t" l="l"/>
            <a:pathLst>
              <a:path h="3860956" w="3939751">
                <a:moveTo>
                  <a:pt x="0" y="0"/>
                </a:moveTo>
                <a:lnTo>
                  <a:pt x="3939752" y="0"/>
                </a:lnTo>
                <a:lnTo>
                  <a:pt x="3939752" y="3860956"/>
                </a:lnTo>
                <a:lnTo>
                  <a:pt x="0" y="38609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842652">
            <a:off x="14273276" y="6364131"/>
            <a:ext cx="4263156" cy="5790365"/>
          </a:xfrm>
          <a:custGeom>
            <a:avLst/>
            <a:gdLst/>
            <a:ahLst/>
            <a:cxnLst/>
            <a:rect r="r" b="b" t="t" l="l"/>
            <a:pathLst>
              <a:path h="5790365" w="4263156">
                <a:moveTo>
                  <a:pt x="0" y="0"/>
                </a:moveTo>
                <a:lnTo>
                  <a:pt x="4263156" y="0"/>
                </a:lnTo>
                <a:lnTo>
                  <a:pt x="4263156" y="5790365"/>
                </a:lnTo>
                <a:lnTo>
                  <a:pt x="0" y="5790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702999" y="2308060"/>
            <a:ext cx="8078997" cy="121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 spc="266">
                <a:solidFill>
                  <a:srgbClr val="832A99"/>
                </a:solidFill>
                <a:latin typeface="Ancorli"/>
                <a:ea typeface="Ancorli"/>
                <a:cs typeface="Ancorli"/>
                <a:sym typeface="Ancorli"/>
              </a:rPr>
              <a:t>Estrategias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4685" y="4056379"/>
            <a:ext cx="11798385" cy="257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58" indent="-464179" lvl="1">
              <a:lnSpc>
                <a:spcPts val="5073"/>
              </a:lnSpc>
              <a:buFont typeface="Arial"/>
              <a:buChar char="•"/>
            </a:pPr>
            <a:r>
              <a:rPr lang="en-US" b="true" sz="4299">
                <a:solidFill>
                  <a:srgbClr val="4C3374"/>
                </a:solidFill>
                <a:latin typeface="Arimo Bold"/>
                <a:ea typeface="Arimo Bold"/>
                <a:cs typeface="Arimo Bold"/>
                <a:sym typeface="Arimo Bold"/>
              </a:rPr>
              <a:t>CON EL CORAZÓN EN EL TERRITORIO</a:t>
            </a:r>
          </a:p>
          <a:p>
            <a:pPr algn="l" marL="928358" indent="-464179" lvl="1">
              <a:lnSpc>
                <a:spcPts val="5073"/>
              </a:lnSpc>
              <a:buFont typeface="Arial"/>
              <a:buChar char="•"/>
            </a:pPr>
            <a:r>
              <a:rPr lang="en-US" b="true" sz="4299">
                <a:solidFill>
                  <a:srgbClr val="4C3374"/>
                </a:solidFill>
                <a:latin typeface="Arimo Bold"/>
                <a:ea typeface="Arimo Bold"/>
                <a:cs typeface="Arimo Bold"/>
                <a:sym typeface="Arimo Bold"/>
              </a:rPr>
              <a:t>ABRIENDO CORAZONES </a:t>
            </a:r>
          </a:p>
          <a:p>
            <a:pPr algn="l" marL="928358" indent="-464179" lvl="1">
              <a:lnSpc>
                <a:spcPts val="5073"/>
              </a:lnSpc>
              <a:buFont typeface="Arial"/>
              <a:buChar char="•"/>
            </a:pPr>
            <a:r>
              <a:rPr lang="en-US" b="true" sz="4299">
                <a:solidFill>
                  <a:srgbClr val="4C3374"/>
                </a:solidFill>
                <a:latin typeface="Arimo Bold"/>
                <a:ea typeface="Arimo Bold"/>
                <a:cs typeface="Arimo Bold"/>
                <a:sym typeface="Arimo Bold"/>
              </a:rPr>
              <a:t>CORAZÓN SOLIDARIO</a:t>
            </a:r>
          </a:p>
          <a:p>
            <a:pPr algn="l" marL="928358" indent="-464179" lvl="1">
              <a:lnSpc>
                <a:spcPts val="5073"/>
              </a:lnSpc>
              <a:buFont typeface="Arial"/>
              <a:buChar char="•"/>
            </a:pPr>
            <a:r>
              <a:rPr lang="en-US" b="true" sz="4299">
                <a:solidFill>
                  <a:srgbClr val="4C3374"/>
                </a:solidFill>
                <a:latin typeface="Arimo Bold"/>
                <a:ea typeface="Arimo Bold"/>
                <a:cs typeface="Arimo Bold"/>
                <a:sym typeface="Arimo Bold"/>
              </a:rPr>
              <a:t>UN SOLO CORAZÓN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2054" y="3369923"/>
            <a:ext cx="10883892" cy="246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86"/>
              </a:lnSpc>
              <a:spcBef>
                <a:spcPct val="0"/>
              </a:spcBef>
            </a:pPr>
            <a:r>
              <a:rPr lang="en-US" sz="14418" spc="547" strike="noStrike" u="none">
                <a:solidFill>
                  <a:srgbClr val="832A99"/>
                </a:solidFill>
                <a:latin typeface="Ancorli"/>
                <a:ea typeface="Ancorli"/>
                <a:cs typeface="Ancorli"/>
                <a:sym typeface="Ancorli"/>
              </a:rPr>
              <a:t>GRACIAS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572412">
            <a:off x="13257724" y="-3684856"/>
            <a:ext cx="7074578" cy="9069972"/>
          </a:xfrm>
          <a:custGeom>
            <a:avLst/>
            <a:gdLst/>
            <a:ahLst/>
            <a:cxnLst/>
            <a:rect r="r" b="b" t="t" l="l"/>
            <a:pathLst>
              <a:path h="9069972" w="7074578">
                <a:moveTo>
                  <a:pt x="0" y="0"/>
                </a:moveTo>
                <a:lnTo>
                  <a:pt x="7074579" y="0"/>
                </a:lnTo>
                <a:lnTo>
                  <a:pt x="7074579" y="9069972"/>
                </a:lnTo>
                <a:lnTo>
                  <a:pt x="0" y="906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346925">
            <a:off x="-1393981" y="5752014"/>
            <a:ext cx="7074578" cy="9069972"/>
          </a:xfrm>
          <a:custGeom>
            <a:avLst/>
            <a:gdLst/>
            <a:ahLst/>
            <a:cxnLst/>
            <a:rect r="r" b="b" t="t" l="l"/>
            <a:pathLst>
              <a:path h="9069972" w="7074578">
                <a:moveTo>
                  <a:pt x="0" y="0"/>
                </a:moveTo>
                <a:lnTo>
                  <a:pt x="7074578" y="0"/>
                </a:lnTo>
                <a:lnTo>
                  <a:pt x="7074578" y="9069972"/>
                </a:lnTo>
                <a:lnTo>
                  <a:pt x="0" y="906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348343" y="7097877"/>
            <a:ext cx="4381559" cy="5951184"/>
          </a:xfrm>
          <a:custGeom>
            <a:avLst/>
            <a:gdLst/>
            <a:ahLst/>
            <a:cxnLst/>
            <a:rect r="r" b="b" t="t" l="l"/>
            <a:pathLst>
              <a:path h="5951184" w="4381559">
                <a:moveTo>
                  <a:pt x="0" y="0"/>
                </a:moveTo>
                <a:lnTo>
                  <a:pt x="4381559" y="0"/>
                </a:lnTo>
                <a:lnTo>
                  <a:pt x="4381559" y="5951184"/>
                </a:lnTo>
                <a:lnTo>
                  <a:pt x="0" y="5951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0328333">
            <a:off x="14394217" y="-2024495"/>
            <a:ext cx="4381559" cy="5951184"/>
          </a:xfrm>
          <a:custGeom>
            <a:avLst/>
            <a:gdLst/>
            <a:ahLst/>
            <a:cxnLst/>
            <a:rect r="r" b="b" t="t" l="l"/>
            <a:pathLst>
              <a:path h="5951184" w="4381559">
                <a:moveTo>
                  <a:pt x="0" y="0"/>
                </a:moveTo>
                <a:lnTo>
                  <a:pt x="4381559" y="0"/>
                </a:lnTo>
                <a:lnTo>
                  <a:pt x="4381559" y="5951184"/>
                </a:lnTo>
                <a:lnTo>
                  <a:pt x="0" y="5951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4212668">
            <a:off x="-890247" y="-1880568"/>
            <a:ext cx="3837894" cy="3761137"/>
          </a:xfrm>
          <a:custGeom>
            <a:avLst/>
            <a:gdLst/>
            <a:ahLst/>
            <a:cxnLst/>
            <a:rect r="r" b="b" t="t" l="l"/>
            <a:pathLst>
              <a:path h="3761137" w="3837894">
                <a:moveTo>
                  <a:pt x="0" y="0"/>
                </a:moveTo>
                <a:lnTo>
                  <a:pt x="3837894" y="0"/>
                </a:lnTo>
                <a:lnTo>
                  <a:pt x="3837894" y="3761136"/>
                </a:lnTo>
                <a:lnTo>
                  <a:pt x="0" y="376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623730">
            <a:off x="15055222" y="8192900"/>
            <a:ext cx="3837894" cy="3761137"/>
          </a:xfrm>
          <a:custGeom>
            <a:avLst/>
            <a:gdLst/>
            <a:ahLst/>
            <a:cxnLst/>
            <a:rect r="r" b="b" t="t" l="l"/>
            <a:pathLst>
              <a:path h="3761137" w="3837894">
                <a:moveTo>
                  <a:pt x="0" y="0"/>
                </a:moveTo>
                <a:lnTo>
                  <a:pt x="3837894" y="0"/>
                </a:lnTo>
                <a:lnTo>
                  <a:pt x="3837894" y="3761137"/>
                </a:lnTo>
                <a:lnTo>
                  <a:pt x="0" y="3761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DAHYYWEoGcg</dc:identifier>
  <dcterms:modified xsi:type="dcterms:W3CDTF">2011-08-01T06:04:30Z</dcterms:modified>
  <cp:revision>1</cp:revision>
  <dc:title>Propuesta: CCAO</dc:title>
</cp:coreProperties>
</file>